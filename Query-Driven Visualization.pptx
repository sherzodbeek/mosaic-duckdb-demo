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talk is about a group of new tools that keep interactive charts fast even when the data has millions of rows. I'll start with the basic ideas, so you don't need any background: what a dashboard is, what "brushing" means, and what it means to summarize data. Then I'll show why big data makes charts slow, how these new tools fix that, and two demos on the Olist e-commerce dataset from my course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First the basic vocabulary, because the rest builds on it. Then the problem: what goes wrong when data gets big, and why that's a visualization problem, not just a speed problem. Then the idea behind the new tools, in three steps. Then two demos. And at the end there's a glossary slide with every term from today, which you can use as a cheat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dashboard is simply several charts of the same data on one screen, each answering a different question. This one shows 110 thousand order items from Olist, a Brazilian online marketplace. Chart 1 is a timeline: how many items were ordered each week; the tall spike is Black Friday 2017. Chart 2 is a histogram: it groups deliveries by how many days early or late they arrived compared to the promised date. Blue bars are early or on time, red bars are late. Chart 3 counts items per review score. Chart 4 counts items per state. Chart 5 is a density plot: every item is a point at its price and shipping cost, and where many points pile up, the color gets darker.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useful thing about a dashboard is that the charts are connected. On the left, every chart counts all orders. On the right, I dragged across November 2017 to March 2018 on the timeline; that grey area is called a brush. The moment I did that, the histogram and the score chart re-counted using only orders from those months. You can see it in the y-axes: the score chart went from about 60 thousand to 15 thousand. Two terms for this: brushing is the selecting, linking is the other charts following along. Together they let you ask "what was different about this period?" just by dragging.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basic idea, and it's the key to the whole talk. A chart almost never draws your raw rows. On the left is the raw data: one row per item ordered, 110 thousand of them. To draw the review-score chart, we first count how many items have each star rating. That gives just five numbers, in the middle. The chart then draws one bar per number. This step, turning many rows into a few numbers, is called aggregation. Notice the chart only needs those five numbers, never the 110 thousand rows. Remember that, because it's exactly what the new tools take advantage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problem. The usual way to make a web dashboard is: download the whole data file into the browser, keep every row in memory, and every time you move the brush, recount every chart from all the rows. That's how most web chart libraries you may have heard of work: Plotly, Vega-Lite, D3. With a few thousand rows that's instant. But the full Olist-style data I generated has 1.1 million rows, which is 18 megabytes even compressed. Downloading that is slow, and recounting a million rows on every mouse movement makes dragging feel laggy. It's like carrying the whole library home just to count how many books are novels.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might think speed is just a convenience. Research says it changes what people find. Liu and Heer ran an experiment in 2014: adding just half a second of delay to a visualization tool made people interact less, look at less of the data, and make fewer observations. Second, when a tool can't handle all the rows, people often chart a random sample instead, and small groups, like one state in one week, can shrink to a handful of rows. Third, drawing a million dots doesn't work either: they overlap into one blob, which is called overplotting. Counting dots per pixel, like the density plot we saw, fixes that. So the goal is charts that stay fast and still use all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tools. Mosaic comes from the Interactive Data Lab at the University of Washington, the same group behind Vega-Lite; its paper was published in 2024. Mosaic is the coordinator: it connects charts to a database. DuckDB is the database: a free, open-source engine designed for counting and summarizing large tables quickly, and it's small enough to run on a server, in Python, or even inside a web page. Embedding Atlas is a tool Apple released in 2025 for exploring large collections of text; it's built on top of Mosaic, and it's our second demo. Two terms: a database stores tables and answers questions about them, and SQL is the language for those questions. One question is called a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core idea in one picture. Each chart on the left doesn't hold any rows. Instead it has a question: the timeline asks "how many items per week?", the score chart asks "how many items per star rating?", and so on. Mosaic, in the middle, collects these questions, adds whatever you've selected as a filter, and sends them to the database in SQL. DuckDB, on the right, holds all the rows, does the counting, and sends back only the counts. The database can sit on a server, so nothing big is downloaded, or inside the browser tab, where the file is loaded once into a database built for counting. It's like asking the librarian how many novels they have, instead of carrying the whole library home to count them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Every chart is turned into one question for the database. For the score chart, the question in plain words is: how many items got each star rating? In SQL it looks like the middle box: select the star rating and a count, from the orders table, grouped by star rating. You don't write this yourself; Mosaic writes it from the chart description. The database sends back five numbers, and that's all the chart needs to draw five bars. The important point: the answer is five numbers whether the table has a hundred thousand rows or a hundred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what happens when you brush. You drag on the timeline from November 2017 to March 2018. Mosaic turns that into a filter, the WHERE part of a SQL question: only rows whose week is between those dates. Then every other chart asks its own question again with that filter added, and redraws with the new answer. One detail with a name: crossfilter. Each chart is filtered by the other charts' selections, but not by its own. Otherwise the timeline would shrink down to just the months you selected, and you couldn't see or move your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is the clever part. While you drag, the selection moves one pixel at a time, so there are only a limited number of positions it can be in. When you start dragging, Mosaic quietly builds small summary tables: for each chart, the counts for every possible position of your selection. Then each mouse movement just reads from those small tables instead of recounting every row. In my test, recounting all rows took 120 to 200 milliseconds per update; reading the summary took 2 to 37 milliseconds. This trick is called pre-aggregation. It's like a shop that keeps daily sales totals, so it never has to re-add every receipt to answer "how much did we sell in March?"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three steps together and here's the result from my test. 110 thousand rows sit in the database. To draw the whole first screen of five charts, Mosaic asked about 20 questions, and all the answers together were about 87 kilobytes. The star chart got five numbers, and would get five numbers at any data size. The general rule: a chart never needs more numbers than it has pixels on screen. So the work depends on how big the chart is, not on how big the data is. That's why these tools can go to millions of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first demo; I'll run it live if the network allows, otherwise this screenshot. The question: do late deliveries get bad reviews? I dragged across November 2017 to March 2018, clicked the one-star bar and clicked Rio de Janeiro. Look at the histogram: remember, red bars are late deliveries. With these selections, about half of the 580 matching items arrived late, compared with 7 percent of all items. So late delivery and one-star reviews go together. One honest caveat: this is synthetic data in the exact Olist format, and my generator builds that link in on purpose, so the real test is running the same dashboard on the real Kaggle data. The point today is how quickly the dashboard lets you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demo uses review text, so one new idea first. How do you put text on a chart? Step 1: take a review, like "Entrega atrasada, ninguém responde", which is Portuguese for "late delivery, nobody answers". Step 2: turn it into a list of numbers, called an embedding, built so that similar texts get similar numbers. In my demo it's 64 numbers per review, based on which letter combinations appear; modern AI models do the same thing and capture meaning even better. Step 3: a method called UMAP squeezes those 64 numbers down to two, an x and a y, while keeping similar reviews close together. Now every review is a dot on a map, and "late delivery" ends up next to "product didn't arrive", far away from "excellent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result: 30 thousand reviews, each one a dot. Dots close together are reviews with similar wording. I colored them by star rating, and for the one- and two-star reviews, by whether the order arrived late. The happy reviews sit in one big region on the right. The interesting part is the bad reviews: they don't form one group. The red group is delivery complaints, and those orders were mostly late. The orange group is product complaints, like broken or wrong items, and those orders mostly arrived on time. Same star rating, two completely different problems for the business to fix. This picture is a static copy; in the live Embedding Atlas tool you can select a group of dots and the other charts filter, exactly like the dashboard, because it's built on Mosaic.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this compare to tools you may already know? Excel can't hold more than about a million rows in a sheet, and it has slicers but no real brushing. Power BI and Tableau are the big business tools: you build by clicking, they handle large data, and linked charts are built in. But they're closed products and you pay to share. Power BI also thins out big charts: a scatter plot shows at most 3,500 dots by default. Plotly and Altair are free Python libraries, but by default they put every row into the browser; Altair even stops at 5,000 rows unless you change a setting. Mosaic is the only one here that is free, open source, code-based, and has the database do the counting.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questions people ask most. Why not Power BI? Honestly, for a normal company dashboard, Power BI is often the right choice, and its DirectQuery mode already uses the same "ask the database" idea. But it's closed, so you can't see or change how it works, which matters in a course about how visualization works. The authoring app is Windows-only, sharing costs 14 dollars per user per month, and big scatter plots are sampled to 3,500 dots by default. Why not Altair? Altair is great for learning, and it's built on Vega-Lite, which comes from the same University of Washington lab as Mosaic. But it copies every row into the chart and stops at 5,000 rows by default. An add-on called VegaFusion raises that to 100,000, or millions inside Jupyter. Mosaic combines the two: Power BI's ask-the-database idea, in Altair's free, code-first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when should you use this? It's a good fit when you have hundreds of thousands of rows or more, several linked charts you want to explore by brushing, and you want to use all the data rather than a sample. Think twice in these cases. If your data is small, under about fifty thousand rows, a simpler library like Plotly or Altair is easier and fast enough. The web version downloads its libraries from the internet, so test before a presentation. These tools are young, still version zero-point-something, so features can change. And everything a chart shows must be something a database can calculate; for example, the review map had to be computed beforehand in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sentence from today: send the question, not the data. Instead of moving millions of rows to the chart, each chart asks the database a question and gets back only the few numbers it needs to draw. Selections become filters on those questions, and summaries prepared in advance keep every update fast. That's how a browser tab can explore millions of rows without slowing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every term from today on one slide, in the order they came up, so you can use it as a cheat sheet. I'll leave it up while I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want to read further, the Mosaic paper is the place to start; it's readable. The Liu and Heer paper is the latency study I quoted. All the code from today is in the package on the right, and it runs on the real Olist data from Kaggle too.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is short. This excerpt is the density raster: point it at the Parquet file, give it x, y and a density fill, and attach a 2-D interval brush to the shared selection. The full dashboard is about seventy lines including comments. To run it: generate or point at the Olist CSVs, run the DuckDB prep script, export the spec, and serve the web folder. In Jupyter the same view object renders directly, with DuckDB running in the Python kernel instead of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anyone who wants the details. These are the actual filters Mosaic generated from my three selections: a date range on the purchase week, the one-star score, and the state RJ. On the right is the live SQL log from the demo page. Blue pre-agg tags are summary tables being built on the first drag; green cube tags are the fast reads from them; arrow tags are normal questions over all rows. Each line shows how long the question took and how big the answer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4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14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4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14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idl.uw.edu/mosaic" TargetMode="External"/><Relationship Id="rId2" Type="http://schemas.openxmlformats.org/officeDocument/2006/relationships/hyperlink" Target="https://github.com/apple/embedding-atlas" TargetMode="External"/><Relationship Id="rId3" Type="http://schemas.openxmlformats.org/officeDocument/2006/relationships/hyperlink" Target="https://idl.uw.edu/papers/latency" TargetMode="External"/><Relationship Id="rId4" Type="http://schemas.openxmlformats.org/officeDocument/2006/relationships/hyperlink" Target="https://pypi.org/project/vgplot/" TargetMode="External"/><Relationship Id="rId5" Type="http://schemas.openxmlformats.org/officeDocument/2006/relationships/hyperlink" Target="https://idl.uw.edu/mosaic/jupyter" TargetMode="External"/><Relationship Id="rId6" Type="http://schemas.openxmlformats.org/officeDocument/2006/relationships/hyperlink" Target="https://www.kaggle.com/datasets/olistbr/brazilian-ecommerce" TargetMode="External"/><Relationship Id="rId7" Type="http://schemas.openxmlformats.org/officeDocument/2006/relationships/slideLayout" Target="../slideLayouts/slideLayout2.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rcRect l="0" r="0" t="0" b="0"/>
          <a:stretch/>
        </p:blipFill>
        <p:spPr>
          <a:xfrm>
            <a:off x="7823200" y="4140200"/>
            <a:ext cx="3556000" cy="1905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FB2E3"/>
                </a:solidFill>
                <a:latin typeface="IBM Plex Sans" pitchFamily="34" charset="0"/>
                <a:ea typeface="IBM Plex Sans" pitchFamily="34" charset="-122"/>
                <a:cs typeface="IBM Plex Sans" pitchFamily="34" charset="-120"/>
              </a:rPr>
              <a:t>CSE 578 · DATA VISUALIZATION · NEW TOOLS</a:t>
            </a:r>
            <a:endParaRPr lang="en-US" sz="1200" dirty="0"/>
          </a:p>
        </p:txBody>
      </p:sp>
      <p:sp>
        <p:nvSpPr>
          <p:cNvPr id="4" name="Text 1"/>
          <p:cNvSpPr/>
          <p:nvPr>
            <p:ph type="title"/>
          </p:nvPr>
        </p:nvSpPr>
        <p:spPr>
          <a:xfrm>
            <a:off x="812800" y="2209850"/>
            <a:ext cx="10883392" cy="1412180"/>
          </a:xfrm>
          <a:prstGeom prst="rect">
            <a:avLst/>
          </a:prstGeom>
          <a:noFill/>
          <a:ln/>
        </p:spPr>
        <p:txBody>
          <a:bodyPr wrap="square" lIns="0" tIns="0" rIns="0" bIns="0" rtlCol="0" anchor="t">
            <a:normAutofit/>
          </a:bodyPr>
          <a:lstStyle/>
          <a:p>
            <a:pPr algn="l" indent="0" marL="0">
              <a:lnSpc>
                <a:spcPts val="5460"/>
              </a:lnSpc>
              <a:buNone/>
            </a:pPr>
            <a:r>
              <a:rPr lang="en-US" sz="5200" b="1" i="0" spc="-100" kern="0" dirty="0">
                <a:solidFill>
                  <a:srgbClr val="F6F4EE"/>
                </a:solidFill>
                <a:latin typeface="IBM Plex Sans" pitchFamily="34" charset="0"/>
                <a:ea typeface="IBM Plex Sans" pitchFamily="34" charset="-122"/>
                <a:cs typeface="IBM Plex Sans" pitchFamily="34" charset="-120"/>
              </a:rPr>
              <a:t>Fast interactive charts</a:t>
            </a:r>
            <a:endParaRPr lang="en-US" sz="5200" dirty="0"/>
          </a:p>
          <a:p>
            <a:pPr algn="l" indent="0" marL="0">
              <a:lnSpc>
                <a:spcPts val="5460"/>
              </a:lnSpc>
              <a:buNone/>
            </a:pPr>
            <a:r>
              <a:rPr lang="en-US" sz="5200" b="1" i="0" spc="-100" kern="0" dirty="0">
                <a:solidFill>
                  <a:srgbClr val="F6F4EE"/>
                </a:solidFill>
                <a:latin typeface="IBM Plex Sans" pitchFamily="34" charset="0"/>
                <a:ea typeface="IBM Plex Sans" pitchFamily="34" charset="-122"/>
                <a:cs typeface="IBM Plex Sans" pitchFamily="34" charset="-120"/>
              </a:rPr>
              <a:t>for big data</a:t>
            </a:r>
            <a:endParaRPr lang="en-US" sz="5200" dirty="0"/>
          </a:p>
        </p:txBody>
      </p:sp>
      <p:sp>
        <p:nvSpPr>
          <p:cNvPr id="5" name="Text 2"/>
          <p:cNvSpPr/>
          <p:nvPr/>
        </p:nvSpPr>
        <p:spPr>
          <a:xfrm>
            <a:off x="812800" y="3850630"/>
            <a:ext cx="719455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3E0"/>
                </a:solidFill>
                <a:latin typeface="IBM Plex Sans" pitchFamily="34" charset="0"/>
                <a:ea typeface="IBM Plex Sans" pitchFamily="34" charset="-122"/>
                <a:cs typeface="IBM Plex Sans" pitchFamily="34" charset="-120"/>
              </a:rPr>
              <a:t>How Mosaic, DuckDB and Embedding Atlas work, shown on real-shaped e-commerce data</a:t>
            </a:r>
            <a:endParaRPr lang="en-US" sz="2200" dirty="0"/>
          </a:p>
        </p:txBody>
      </p:sp>
      <p:sp>
        <p:nvSpPr>
          <p:cNvPr id="6" name="Text 3"/>
          <p:cNvSpPr/>
          <p:nvPr/>
        </p:nvSpPr>
        <p:spPr>
          <a:xfrm>
            <a:off x="812800" y="57607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0"/>
                </a:solidFill>
                <a:latin typeface="IBM Plex Sans" pitchFamily="34" charset="0"/>
                <a:ea typeface="IBM Plex Sans" pitchFamily="34" charset="-122"/>
                <a:cs typeface="IBM Plex Sans" pitchFamily="34" charset="-120"/>
              </a:rPr>
              <a:t>Sherzod ·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6FB6"/>
                </a:solidFill>
                <a:latin typeface="IBM Plex Sans" pitchFamily="34" charset="0"/>
                <a:ea typeface="IBM Plex Sans" pitchFamily="34" charset="-122"/>
                <a:cs typeface="IBM Plex Sans" pitchFamily="34" charset="-120"/>
              </a:rPr>
              <a:t>PLAN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202E"/>
                </a:solidFill>
                <a:latin typeface="IBM Plex Sans" pitchFamily="34" charset="0"/>
                <a:ea typeface="IBM Plex Sans" pitchFamily="34" charset="-122"/>
                <a:cs typeface="IBM Plex Sans" pitchFamily="34" charset="-120"/>
              </a:rPr>
              <a:t>What we'll cover</a:t>
            </a:r>
            <a:endParaRPr lang="en-US" sz="3600" dirty="0"/>
          </a:p>
        </p:txBody>
      </p:sp>
      <p:sp>
        <p:nvSpPr>
          <p:cNvPr id="4" name="Text 2"/>
          <p:cNvSpPr/>
          <p:nvPr/>
        </p:nvSpPr>
        <p:spPr>
          <a:xfrm>
            <a:off x="812800" y="1935411"/>
            <a:ext cx="5080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B6FB6"/>
                </a:solidFill>
                <a:latin typeface="IBM Plex Sans" pitchFamily="34" charset="0"/>
                <a:ea typeface="IBM Plex Sans" pitchFamily="34" charset="-122"/>
                <a:cs typeface="IBM Plex Sans" pitchFamily="34" charset="-120"/>
              </a:rPr>
              <a:t>1</a:t>
            </a:r>
            <a:endParaRPr lang="en-US" sz="2200" dirty="0"/>
          </a:p>
        </p:txBody>
      </p:sp>
      <p:sp>
        <p:nvSpPr>
          <p:cNvPr id="5" name="Text 3"/>
          <p:cNvSpPr/>
          <p:nvPr/>
        </p:nvSpPr>
        <p:spPr>
          <a:xfrm>
            <a:off x="1473200" y="2017961"/>
            <a:ext cx="27470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02E"/>
                </a:solidFill>
                <a:latin typeface="IBM Plex Sans" pitchFamily="34" charset="0"/>
                <a:ea typeface="IBM Plex Sans" pitchFamily="34" charset="-122"/>
                <a:cs typeface="IBM Plex Sans" pitchFamily="34" charset="-120"/>
              </a:rPr>
              <a:t>The basics</a:t>
            </a:r>
            <a:endParaRPr lang="en-US" sz="1600" dirty="0"/>
          </a:p>
        </p:txBody>
      </p:sp>
      <p:sp>
        <p:nvSpPr>
          <p:cNvPr id="6" name="Text 4"/>
          <p:cNvSpPr/>
          <p:nvPr/>
        </p:nvSpPr>
        <p:spPr>
          <a:xfrm>
            <a:off x="4343400" y="2043361"/>
            <a:ext cx="724687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Dashboards, brushing and summarizing data. No background needed.</a:t>
            </a:r>
            <a:endParaRPr lang="en-US" sz="1400" dirty="0"/>
          </a:p>
        </p:txBody>
      </p:sp>
      <p:sp>
        <p:nvSpPr>
          <p:cNvPr id="7" name="Text 5"/>
          <p:cNvSpPr/>
          <p:nvPr/>
        </p:nvSpPr>
        <p:spPr>
          <a:xfrm>
            <a:off x="812800" y="2478931"/>
            <a:ext cx="5080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B6FB6"/>
                </a:solidFill>
                <a:latin typeface="IBM Plex Sans" pitchFamily="34" charset="0"/>
                <a:ea typeface="IBM Plex Sans" pitchFamily="34" charset="-122"/>
                <a:cs typeface="IBM Plex Sans" pitchFamily="34" charset="-120"/>
              </a:rPr>
              <a:t>2</a:t>
            </a:r>
            <a:endParaRPr lang="en-US" sz="2200" dirty="0"/>
          </a:p>
        </p:txBody>
      </p:sp>
      <p:sp>
        <p:nvSpPr>
          <p:cNvPr id="8" name="Text 6"/>
          <p:cNvSpPr/>
          <p:nvPr/>
        </p:nvSpPr>
        <p:spPr>
          <a:xfrm>
            <a:off x="1473200" y="2561481"/>
            <a:ext cx="27470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02E"/>
                </a:solidFill>
                <a:latin typeface="IBM Plex Sans" pitchFamily="34" charset="0"/>
                <a:ea typeface="IBM Plex Sans" pitchFamily="34" charset="-122"/>
                <a:cs typeface="IBM Plex Sans" pitchFamily="34" charset="-120"/>
              </a:rPr>
              <a:t>The problem</a:t>
            </a:r>
            <a:endParaRPr lang="en-US" sz="1600" dirty="0"/>
          </a:p>
        </p:txBody>
      </p:sp>
      <p:sp>
        <p:nvSpPr>
          <p:cNvPr id="9" name="Text 7"/>
          <p:cNvSpPr/>
          <p:nvPr/>
        </p:nvSpPr>
        <p:spPr>
          <a:xfrm>
            <a:off x="4343400" y="2586881"/>
            <a:ext cx="724687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Why big data makes interactive charts slow, and why slow charts matter.</a:t>
            </a:r>
            <a:endParaRPr lang="en-US" sz="1400" dirty="0"/>
          </a:p>
        </p:txBody>
      </p:sp>
      <p:sp>
        <p:nvSpPr>
          <p:cNvPr id="10" name="Text 8"/>
          <p:cNvSpPr/>
          <p:nvPr/>
        </p:nvSpPr>
        <p:spPr>
          <a:xfrm>
            <a:off x="812800" y="3022451"/>
            <a:ext cx="5080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B6FB6"/>
                </a:solidFill>
                <a:latin typeface="IBM Plex Sans" pitchFamily="34" charset="0"/>
                <a:ea typeface="IBM Plex Sans" pitchFamily="34" charset="-122"/>
                <a:cs typeface="IBM Plex Sans" pitchFamily="34" charset="-120"/>
              </a:rPr>
              <a:t>3</a:t>
            </a:r>
            <a:endParaRPr lang="en-US" sz="2200" dirty="0"/>
          </a:p>
        </p:txBody>
      </p:sp>
      <p:sp>
        <p:nvSpPr>
          <p:cNvPr id="11" name="Text 9"/>
          <p:cNvSpPr/>
          <p:nvPr/>
        </p:nvSpPr>
        <p:spPr>
          <a:xfrm>
            <a:off x="1473200" y="3105001"/>
            <a:ext cx="27470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02E"/>
                </a:solidFill>
                <a:latin typeface="IBM Plex Sans" pitchFamily="34" charset="0"/>
                <a:ea typeface="IBM Plex Sans" pitchFamily="34" charset="-122"/>
                <a:cs typeface="IBM Plex Sans" pitchFamily="34" charset="-120"/>
              </a:rPr>
              <a:t>The idea</a:t>
            </a:r>
            <a:endParaRPr lang="en-US" sz="1600" dirty="0"/>
          </a:p>
        </p:txBody>
      </p:sp>
      <p:sp>
        <p:nvSpPr>
          <p:cNvPr id="12" name="Text 10"/>
          <p:cNvSpPr/>
          <p:nvPr/>
        </p:nvSpPr>
        <p:spPr>
          <a:xfrm>
            <a:off x="4343400" y="3130401"/>
            <a:ext cx="724687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How Mosaic and DuckDB keep charts fast, in three steps.</a:t>
            </a:r>
            <a:endParaRPr lang="en-US" sz="1400" dirty="0"/>
          </a:p>
        </p:txBody>
      </p:sp>
      <p:sp>
        <p:nvSpPr>
          <p:cNvPr id="13" name="Text 11"/>
          <p:cNvSpPr/>
          <p:nvPr/>
        </p:nvSpPr>
        <p:spPr>
          <a:xfrm>
            <a:off x="812800" y="3565971"/>
            <a:ext cx="5080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B6FB6"/>
                </a:solidFill>
                <a:latin typeface="IBM Plex Sans" pitchFamily="34" charset="0"/>
                <a:ea typeface="IBM Plex Sans" pitchFamily="34" charset="-122"/>
                <a:cs typeface="IBM Plex Sans" pitchFamily="34" charset="-120"/>
              </a:rPr>
              <a:t>4</a:t>
            </a:r>
            <a:endParaRPr lang="en-US" sz="2200" dirty="0"/>
          </a:p>
        </p:txBody>
      </p:sp>
      <p:sp>
        <p:nvSpPr>
          <p:cNvPr id="14" name="Text 12"/>
          <p:cNvSpPr/>
          <p:nvPr/>
        </p:nvSpPr>
        <p:spPr>
          <a:xfrm>
            <a:off x="1473200" y="3648521"/>
            <a:ext cx="27470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02E"/>
                </a:solidFill>
                <a:latin typeface="IBM Plex Sans" pitchFamily="34" charset="0"/>
                <a:ea typeface="IBM Plex Sans" pitchFamily="34" charset="-122"/>
                <a:cs typeface="IBM Plex Sans" pitchFamily="34" charset="-120"/>
              </a:rPr>
              <a:t>Two demos</a:t>
            </a:r>
            <a:endParaRPr lang="en-US" sz="1600" dirty="0"/>
          </a:p>
        </p:txBody>
      </p:sp>
      <p:sp>
        <p:nvSpPr>
          <p:cNvPr id="15" name="Text 13"/>
          <p:cNvSpPr/>
          <p:nvPr/>
        </p:nvSpPr>
        <p:spPr>
          <a:xfrm>
            <a:off x="4343400" y="3673921"/>
            <a:ext cx="724687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An order dashboard, and a map of what customers wrote in reviews.</a:t>
            </a:r>
            <a:endParaRPr lang="en-US" sz="1400" dirty="0"/>
          </a:p>
        </p:txBody>
      </p:sp>
      <p:sp>
        <p:nvSpPr>
          <p:cNvPr id="16" name="Text 14"/>
          <p:cNvSpPr/>
          <p:nvPr/>
        </p:nvSpPr>
        <p:spPr>
          <a:xfrm>
            <a:off x="812800" y="4109492"/>
            <a:ext cx="5080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B6FB6"/>
                </a:solidFill>
                <a:latin typeface="IBM Plex Sans" pitchFamily="34" charset="0"/>
                <a:ea typeface="IBM Plex Sans" pitchFamily="34" charset="-122"/>
                <a:cs typeface="IBM Plex Sans" pitchFamily="34" charset="-120"/>
              </a:rPr>
              <a:t>5</a:t>
            </a:r>
            <a:endParaRPr lang="en-US" sz="2200" dirty="0"/>
          </a:p>
        </p:txBody>
      </p:sp>
      <p:sp>
        <p:nvSpPr>
          <p:cNvPr id="17" name="Text 15"/>
          <p:cNvSpPr/>
          <p:nvPr/>
        </p:nvSpPr>
        <p:spPr>
          <a:xfrm>
            <a:off x="1473200" y="4192042"/>
            <a:ext cx="27470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02E"/>
                </a:solidFill>
                <a:latin typeface="IBM Plex Sans" pitchFamily="34" charset="0"/>
                <a:ea typeface="IBM Plex Sans" pitchFamily="34" charset="-122"/>
                <a:cs typeface="IBM Plex Sans" pitchFamily="34" charset="-120"/>
              </a:rPr>
              <a:t>Wrap-up</a:t>
            </a:r>
            <a:endParaRPr lang="en-US" sz="1600" dirty="0"/>
          </a:p>
        </p:txBody>
      </p:sp>
      <p:sp>
        <p:nvSpPr>
          <p:cNvPr id="18" name="Text 16"/>
          <p:cNvSpPr/>
          <p:nvPr/>
        </p:nvSpPr>
        <p:spPr>
          <a:xfrm>
            <a:off x="4343400" y="4217442"/>
            <a:ext cx="724687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Power BI, Altair and others compared; when to use what; a glossary.</a:t>
            </a:r>
            <a:endParaRPr lang="en-US" sz="1400" dirty="0"/>
          </a:p>
        </p:txBody>
      </p:sp>
      <p:sp>
        <p:nvSpPr>
          <p:cNvPr id="19" name="Text 17"/>
          <p:cNvSpPr/>
          <p:nvPr/>
        </p:nvSpPr>
        <p:spPr>
          <a:xfrm>
            <a:off x="812800" y="6238280"/>
            <a:ext cx="36300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Fast interactive charts for big data · CSE 578</a:t>
            </a:r>
            <a:endParaRPr lang="en-US" sz="1200" dirty="0"/>
          </a:p>
        </p:txBody>
      </p:sp>
      <p:sp>
        <p:nvSpPr>
          <p:cNvPr id="20" name="Text 18"/>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6FB6"/>
                </a:solidFill>
                <a:latin typeface="IBM Plex Sans" pitchFamily="34" charset="0"/>
                <a:ea typeface="IBM Plex Sans" pitchFamily="34" charset="-122"/>
                <a:cs typeface="IBM Plex Sans" pitchFamily="34" charset="-120"/>
              </a:rPr>
              <a:t>THE BASICS · 1 OF 3</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202E"/>
                </a:solidFill>
                <a:latin typeface="IBM Plex Sans" pitchFamily="34" charset="0"/>
                <a:ea typeface="IBM Plex Sans" pitchFamily="34" charset="-122"/>
                <a:cs typeface="IBM Plex Sans" pitchFamily="34" charset="-120"/>
              </a:rPr>
              <a:t>A dashboard: five views of one dataset</a:t>
            </a:r>
            <a:endParaRPr lang="en-US" sz="3600" dirty="0"/>
          </a:p>
        </p:txBody>
      </p:sp>
      <p:sp>
        <p:nvSpPr>
          <p:cNvPr id="4" name="Shape 2"/>
          <p:cNvSpPr/>
          <p:nvPr/>
        </p:nvSpPr>
        <p:spPr>
          <a:xfrm>
            <a:off x="812800" y="1884611"/>
            <a:ext cx="5067300" cy="3905250"/>
          </a:xfrm>
          <a:prstGeom prst="roundRect">
            <a:avLst>
              <a:gd name="adj" fmla="val 1951"/>
            </a:avLst>
          </a:prstGeom>
          <a:solidFill>
            <a:srgbClr val="FCFBF8"/>
          </a:solidFill>
          <a:ln/>
        </p:spPr>
      </p:sp>
      <p:pic>
        <p:nvPicPr>
          <p:cNvPr id="5" name="Image 0" descr="Dashboard of 110,464 Olist order items with five numbered charts: weekly timeline, delivery-delay histogram, review-score bars, state bars and a price-versus-freight density plot">    </p:cNvPr>
          <p:cNvPicPr>
            <a:picLocks noChangeAspect="1"/>
          </p:cNvPicPr>
          <p:nvPr/>
        </p:nvPicPr>
        <p:blipFill>
          <a:blip r:embed="rId1"/>
          <a:srcRect l="-66" r="-66" t="0" b="0"/>
          <a:stretch/>
        </p:blipFill>
        <p:spPr>
          <a:xfrm>
            <a:off x="819150" y="1890961"/>
            <a:ext cx="5054600" cy="3892550"/>
          </a:xfrm>
          <a:prstGeom prst="roundRect">
            <a:avLst>
              <a:gd name="adj" fmla="val 1794"/>
            </a:avLst>
          </a:prstGeom>
        </p:spPr>
      </p:pic>
      <p:sp>
        <p:nvSpPr>
          <p:cNvPr id="6" name="Shape 3"/>
          <p:cNvSpPr/>
          <p:nvPr/>
        </p:nvSpPr>
        <p:spPr>
          <a:xfrm>
            <a:off x="815975" y="1887786"/>
            <a:ext cx="5060950" cy="3898900"/>
          </a:xfrm>
          <a:prstGeom prst="roundRect">
            <a:avLst>
              <a:gd name="adj" fmla="val 1873"/>
            </a:avLst>
          </a:prstGeom>
          <a:noFill/>
          <a:ln w="6350">
            <a:solidFill>
              <a:srgbClr val="E2DED3"/>
            </a:solidFill>
            <a:prstDash val="solid"/>
          </a:ln>
        </p:spPr>
      </p:sp>
      <p:sp>
        <p:nvSpPr>
          <p:cNvPr id="7" name="Text 4"/>
          <p:cNvSpPr/>
          <p:nvPr/>
        </p:nvSpPr>
        <p:spPr>
          <a:xfrm>
            <a:off x="6184900" y="1884611"/>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4202E"/>
          </a:solidFill>
          <a:ln/>
        </p:spPr>
        <p:txBody>
          <a:bodyPr wrap="square" lIns="0" tIns="0" rIns="0" bIns="0" rtlCol="0" anchor="t">
            <a:normAutofit/>
          </a:bodyPr>
          <a:lstStyle/>
          <a:p>
            <a:pPr algn="ctr" indent="0" marL="0">
              <a:lnSpc>
                <a:spcPts val="2405"/>
              </a:lnSpc>
              <a:buNone/>
            </a:pPr>
            <a:r>
              <a:rPr lang="en-US" sz="1300" b="1" dirty="0">
                <a:solidFill>
                  <a:srgbClr val="F6F4EE"/>
                </a:solidFill>
                <a:latin typeface="IBM Plex Sans" pitchFamily="34" charset="0"/>
                <a:ea typeface="IBM Plex Sans" pitchFamily="34" charset="-122"/>
                <a:cs typeface="IBM Plex Sans" pitchFamily="34" charset="-120"/>
              </a:rPr>
              <a:t>1</a:t>
            </a:r>
            <a:endParaRPr lang="en-US" sz="1300" dirty="0"/>
          </a:p>
        </p:txBody>
      </p:sp>
      <p:sp>
        <p:nvSpPr>
          <p:cNvPr id="8" name="Text 5"/>
          <p:cNvSpPr/>
          <p:nvPr/>
        </p:nvSpPr>
        <p:spPr>
          <a:xfrm>
            <a:off x="6616700" y="1884611"/>
            <a:ext cx="4905375"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E"/>
                </a:solidFill>
                <a:latin typeface="IBM Plex Sans" pitchFamily="34" charset="0"/>
                <a:ea typeface="IBM Plex Sans" pitchFamily="34" charset="-122"/>
                <a:cs typeface="IBM Plex Sans" pitchFamily="34" charset="-120"/>
              </a:rPr>
              <a:t>Timeline</a:t>
            </a:r>
            <a:endParaRPr lang="en-US" sz="1400" dirty="0"/>
          </a:p>
        </p:txBody>
      </p:sp>
      <p:sp>
        <p:nvSpPr>
          <p:cNvPr id="9" name="Text 6"/>
          <p:cNvSpPr/>
          <p:nvPr/>
        </p:nvSpPr>
        <p:spPr>
          <a:xfrm>
            <a:off x="6616700" y="2141141"/>
            <a:ext cx="5575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Items ordered per week, 2016–2018. The spike is Black Friday 2017.</a:t>
            </a:r>
            <a:endParaRPr lang="en-US" sz="1200" dirty="0"/>
          </a:p>
        </p:txBody>
      </p:sp>
      <p:sp>
        <p:nvSpPr>
          <p:cNvPr id="10" name="Text 7"/>
          <p:cNvSpPr/>
          <p:nvPr/>
        </p:nvSpPr>
        <p:spPr>
          <a:xfrm>
            <a:off x="6184900" y="2481461"/>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4202E"/>
          </a:solidFill>
          <a:ln/>
        </p:spPr>
        <p:txBody>
          <a:bodyPr wrap="square" lIns="0" tIns="0" rIns="0" bIns="0" rtlCol="0" anchor="t">
            <a:normAutofit/>
          </a:bodyPr>
          <a:lstStyle/>
          <a:p>
            <a:pPr algn="ctr" indent="0" marL="0">
              <a:lnSpc>
                <a:spcPts val="2405"/>
              </a:lnSpc>
              <a:buNone/>
            </a:pPr>
            <a:r>
              <a:rPr lang="en-US" sz="1300" b="1" dirty="0">
                <a:solidFill>
                  <a:srgbClr val="F6F4EE"/>
                </a:solidFill>
                <a:latin typeface="IBM Plex Sans" pitchFamily="34" charset="0"/>
                <a:ea typeface="IBM Plex Sans" pitchFamily="34" charset="-122"/>
                <a:cs typeface="IBM Plex Sans" pitchFamily="34" charset="-120"/>
              </a:rPr>
              <a:t>2</a:t>
            </a:r>
            <a:endParaRPr lang="en-US" sz="1300" dirty="0"/>
          </a:p>
        </p:txBody>
      </p:sp>
      <p:sp>
        <p:nvSpPr>
          <p:cNvPr id="11" name="Text 8"/>
          <p:cNvSpPr/>
          <p:nvPr/>
        </p:nvSpPr>
        <p:spPr>
          <a:xfrm>
            <a:off x="6616700" y="2481461"/>
            <a:ext cx="4905375"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E"/>
                </a:solidFill>
                <a:latin typeface="IBM Plex Sans" pitchFamily="34" charset="0"/>
                <a:ea typeface="IBM Plex Sans" pitchFamily="34" charset="-122"/>
                <a:cs typeface="IBM Plex Sans" pitchFamily="34" charset="-120"/>
              </a:rPr>
              <a:t>Histogram</a:t>
            </a:r>
            <a:endParaRPr lang="en-US" sz="1400" dirty="0"/>
          </a:p>
        </p:txBody>
      </p:sp>
      <p:sp>
        <p:nvSpPr>
          <p:cNvPr id="12" name="Text 9"/>
          <p:cNvSpPr/>
          <p:nvPr/>
        </p:nvSpPr>
        <p:spPr>
          <a:xfrm>
            <a:off x="6616700" y="2737991"/>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How many days early (blue) or late (red) each delivery arrived.</a:t>
            </a:r>
            <a:endParaRPr lang="en-US" sz="1200" dirty="0"/>
          </a:p>
        </p:txBody>
      </p:sp>
      <p:sp>
        <p:nvSpPr>
          <p:cNvPr id="13" name="Text 10"/>
          <p:cNvSpPr/>
          <p:nvPr/>
        </p:nvSpPr>
        <p:spPr>
          <a:xfrm>
            <a:off x="6184900" y="3078311"/>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4202E"/>
          </a:solidFill>
          <a:ln/>
        </p:spPr>
        <p:txBody>
          <a:bodyPr wrap="square" lIns="0" tIns="0" rIns="0" bIns="0" rtlCol="0" anchor="t">
            <a:normAutofit/>
          </a:bodyPr>
          <a:lstStyle/>
          <a:p>
            <a:pPr algn="ctr" indent="0" marL="0">
              <a:lnSpc>
                <a:spcPts val="2405"/>
              </a:lnSpc>
              <a:buNone/>
            </a:pPr>
            <a:r>
              <a:rPr lang="en-US" sz="1300" b="1" dirty="0">
                <a:solidFill>
                  <a:srgbClr val="F6F4EE"/>
                </a:solidFill>
                <a:latin typeface="IBM Plex Sans" pitchFamily="34" charset="0"/>
                <a:ea typeface="IBM Plex Sans" pitchFamily="34" charset="-122"/>
                <a:cs typeface="IBM Plex Sans" pitchFamily="34" charset="-120"/>
              </a:rPr>
              <a:t>3</a:t>
            </a:r>
            <a:endParaRPr lang="en-US" sz="1300" dirty="0"/>
          </a:p>
        </p:txBody>
      </p:sp>
      <p:sp>
        <p:nvSpPr>
          <p:cNvPr id="14" name="Text 11"/>
          <p:cNvSpPr/>
          <p:nvPr/>
        </p:nvSpPr>
        <p:spPr>
          <a:xfrm>
            <a:off x="6616700" y="3078311"/>
            <a:ext cx="4905375"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E"/>
                </a:solidFill>
                <a:latin typeface="IBM Plex Sans" pitchFamily="34" charset="0"/>
                <a:ea typeface="IBM Plex Sans" pitchFamily="34" charset="-122"/>
                <a:cs typeface="IBM Plex Sans" pitchFamily="34" charset="-120"/>
              </a:rPr>
              <a:t>Bar chart</a:t>
            </a:r>
            <a:endParaRPr lang="en-US" sz="1400" dirty="0"/>
          </a:p>
        </p:txBody>
      </p:sp>
      <p:sp>
        <p:nvSpPr>
          <p:cNvPr id="15" name="Text 12"/>
          <p:cNvSpPr/>
          <p:nvPr/>
        </p:nvSpPr>
        <p:spPr>
          <a:xfrm>
            <a:off x="6616700" y="3334841"/>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Items per customer review score, 1 to 5 stars.</a:t>
            </a:r>
            <a:endParaRPr lang="en-US" sz="1200" dirty="0"/>
          </a:p>
        </p:txBody>
      </p:sp>
      <p:sp>
        <p:nvSpPr>
          <p:cNvPr id="16" name="Text 13"/>
          <p:cNvSpPr/>
          <p:nvPr/>
        </p:nvSpPr>
        <p:spPr>
          <a:xfrm>
            <a:off x="6184900" y="3675162"/>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4202E"/>
          </a:solidFill>
          <a:ln/>
        </p:spPr>
        <p:txBody>
          <a:bodyPr wrap="square" lIns="0" tIns="0" rIns="0" bIns="0" rtlCol="0" anchor="t">
            <a:normAutofit/>
          </a:bodyPr>
          <a:lstStyle/>
          <a:p>
            <a:pPr algn="ctr" indent="0" marL="0">
              <a:lnSpc>
                <a:spcPts val="2405"/>
              </a:lnSpc>
              <a:buNone/>
            </a:pPr>
            <a:r>
              <a:rPr lang="en-US" sz="1300" b="1" dirty="0">
                <a:solidFill>
                  <a:srgbClr val="F6F4EE"/>
                </a:solidFill>
                <a:latin typeface="IBM Plex Sans" pitchFamily="34" charset="0"/>
                <a:ea typeface="IBM Plex Sans" pitchFamily="34" charset="-122"/>
                <a:cs typeface="IBM Plex Sans" pitchFamily="34" charset="-120"/>
              </a:rPr>
              <a:t>4</a:t>
            </a:r>
            <a:endParaRPr lang="en-US" sz="1300" dirty="0"/>
          </a:p>
        </p:txBody>
      </p:sp>
      <p:sp>
        <p:nvSpPr>
          <p:cNvPr id="17" name="Text 14"/>
          <p:cNvSpPr/>
          <p:nvPr/>
        </p:nvSpPr>
        <p:spPr>
          <a:xfrm>
            <a:off x="6616700" y="3675162"/>
            <a:ext cx="4905375"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E"/>
                </a:solidFill>
                <a:latin typeface="IBM Plex Sans" pitchFamily="34" charset="0"/>
                <a:ea typeface="IBM Plex Sans" pitchFamily="34" charset="-122"/>
                <a:cs typeface="IBM Plex Sans" pitchFamily="34" charset="-120"/>
              </a:rPr>
              <a:t>Bar chart</a:t>
            </a:r>
            <a:endParaRPr lang="en-US" sz="1400" dirty="0"/>
          </a:p>
        </p:txBody>
      </p:sp>
      <p:sp>
        <p:nvSpPr>
          <p:cNvPr id="18" name="Text 15"/>
          <p:cNvSpPr/>
          <p:nvPr/>
        </p:nvSpPr>
        <p:spPr>
          <a:xfrm>
            <a:off x="6616700" y="3931692"/>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Items per Brazilian state. SP is São Paulo.</a:t>
            </a:r>
            <a:endParaRPr lang="en-US" sz="1200" dirty="0"/>
          </a:p>
        </p:txBody>
      </p:sp>
      <p:sp>
        <p:nvSpPr>
          <p:cNvPr id="19" name="Text 16"/>
          <p:cNvSpPr/>
          <p:nvPr/>
        </p:nvSpPr>
        <p:spPr>
          <a:xfrm>
            <a:off x="6184900" y="4272012"/>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4202E"/>
          </a:solidFill>
          <a:ln/>
        </p:spPr>
        <p:txBody>
          <a:bodyPr wrap="square" lIns="0" tIns="0" rIns="0" bIns="0" rtlCol="0" anchor="t">
            <a:normAutofit/>
          </a:bodyPr>
          <a:lstStyle/>
          <a:p>
            <a:pPr algn="ctr" indent="0" marL="0">
              <a:lnSpc>
                <a:spcPts val="2405"/>
              </a:lnSpc>
              <a:buNone/>
            </a:pPr>
            <a:r>
              <a:rPr lang="en-US" sz="1300" b="1" dirty="0">
                <a:solidFill>
                  <a:srgbClr val="F6F4EE"/>
                </a:solidFill>
                <a:latin typeface="IBM Plex Sans" pitchFamily="34" charset="0"/>
                <a:ea typeface="IBM Plex Sans" pitchFamily="34" charset="-122"/>
                <a:cs typeface="IBM Plex Sans" pitchFamily="34" charset="-120"/>
              </a:rPr>
              <a:t>5</a:t>
            </a:r>
            <a:endParaRPr lang="en-US" sz="1300" dirty="0"/>
          </a:p>
        </p:txBody>
      </p:sp>
      <p:sp>
        <p:nvSpPr>
          <p:cNvPr id="20" name="Text 17"/>
          <p:cNvSpPr/>
          <p:nvPr/>
        </p:nvSpPr>
        <p:spPr>
          <a:xfrm>
            <a:off x="6616700" y="4272012"/>
            <a:ext cx="4905375"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E"/>
                </a:solidFill>
                <a:latin typeface="IBM Plex Sans" pitchFamily="34" charset="0"/>
                <a:ea typeface="IBM Plex Sans" pitchFamily="34" charset="-122"/>
                <a:cs typeface="IBM Plex Sans" pitchFamily="34" charset="-120"/>
              </a:rPr>
              <a:t>Density plot</a:t>
            </a:r>
            <a:endParaRPr lang="en-US" sz="1400" dirty="0"/>
          </a:p>
        </p:txBody>
      </p:sp>
      <p:sp>
        <p:nvSpPr>
          <p:cNvPr id="21" name="Text 18"/>
          <p:cNvSpPr/>
          <p:nvPr/>
        </p:nvSpPr>
        <p:spPr>
          <a:xfrm>
            <a:off x="6616700" y="4528542"/>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Item price against shipping cost. Darker blue means more items.</a:t>
            </a:r>
            <a:endParaRPr lang="en-US" sz="1200" dirty="0"/>
          </a:p>
        </p:txBody>
      </p:sp>
      <p:sp>
        <p:nvSpPr>
          <p:cNvPr id="22" name="Text 19"/>
          <p:cNvSpPr/>
          <p:nvPr/>
        </p:nvSpPr>
        <p:spPr>
          <a:xfrm>
            <a:off x="812800" y="6238280"/>
            <a:ext cx="36300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Fast interactive charts for big data · CSE 578</a:t>
            </a:r>
            <a:endParaRPr lang="en-US" sz="1200" dirty="0"/>
          </a:p>
        </p:txBody>
      </p:sp>
      <p:sp>
        <p:nvSpPr>
          <p:cNvPr id="23" name="Text 20"/>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6FB6"/>
                </a:solidFill>
                <a:latin typeface="IBM Plex Sans" pitchFamily="34" charset="0"/>
                <a:ea typeface="IBM Plex Sans" pitchFamily="34" charset="-122"/>
                <a:cs typeface="IBM Plex Sans" pitchFamily="34" charset="-120"/>
              </a:rPr>
              <a:t>THE BASICS · 2 OF 3</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202E"/>
                </a:solidFill>
                <a:latin typeface="IBM Plex Sans" pitchFamily="34" charset="0"/>
                <a:ea typeface="IBM Plex Sans" pitchFamily="34" charset="-122"/>
                <a:cs typeface="IBM Plex Sans" pitchFamily="34" charset="-120"/>
              </a:rPr>
              <a:t>Select in one chart, the others follow</a:t>
            </a:r>
            <a:endParaRPr lang="en-US" sz="3600" dirty="0"/>
          </a:p>
        </p:txBody>
      </p:sp>
      <p:sp>
        <p:nvSpPr>
          <p:cNvPr id="4" name="Text 2"/>
          <p:cNvSpPr/>
          <p:nvPr/>
        </p:nvSpPr>
        <p:spPr>
          <a:xfrm>
            <a:off x="812800" y="1833811"/>
            <a:ext cx="5284724"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02E"/>
                </a:solidFill>
                <a:latin typeface="IBM Plex Sans" pitchFamily="34" charset="0"/>
                <a:ea typeface="IBM Plex Sans" pitchFamily="34" charset="-122"/>
                <a:cs typeface="IBM Plex Sans" pitchFamily="34" charset="-120"/>
              </a:rPr>
              <a:t>Before: all orders</a:t>
            </a:r>
            <a:endParaRPr lang="en-US" sz="1600" dirty="0"/>
          </a:p>
        </p:txBody>
      </p:sp>
      <p:sp>
        <p:nvSpPr>
          <p:cNvPr id="5" name="Shape 3"/>
          <p:cNvSpPr/>
          <p:nvPr/>
        </p:nvSpPr>
        <p:spPr>
          <a:xfrm>
            <a:off x="812800" y="2174131"/>
            <a:ext cx="5130800" cy="2178050"/>
          </a:xfrm>
          <a:prstGeom prst="roundRect">
            <a:avLst>
              <a:gd name="adj" fmla="val 3499"/>
            </a:avLst>
          </a:prstGeom>
          <a:solidFill>
            <a:srgbClr val="FCFBF8"/>
          </a:solidFill>
          <a:ln/>
        </p:spPr>
      </p:sp>
      <p:pic>
        <p:nvPicPr>
          <p:cNvPr id="6" name="Image 0" descr="Timeline, delay histogram and review-score chart counting all 110,464 order items; the score chart's axis goes to 60,000">    </p:cNvPr>
          <p:cNvPicPr>
            <a:picLocks noChangeAspect="1"/>
          </p:cNvPicPr>
          <p:nvPr/>
        </p:nvPicPr>
        <p:blipFill>
          <a:blip r:embed="rId1"/>
          <a:srcRect l="-162" r="-162" t="0" b="0"/>
          <a:stretch/>
        </p:blipFill>
        <p:spPr>
          <a:xfrm>
            <a:off x="819150" y="2180481"/>
            <a:ext cx="5118100" cy="2165350"/>
          </a:xfrm>
          <a:prstGeom prst="roundRect">
            <a:avLst>
              <a:gd name="adj" fmla="val 3226"/>
            </a:avLst>
          </a:prstGeom>
        </p:spPr>
      </p:pic>
      <p:sp>
        <p:nvSpPr>
          <p:cNvPr id="7" name="Shape 4"/>
          <p:cNvSpPr/>
          <p:nvPr/>
        </p:nvSpPr>
        <p:spPr>
          <a:xfrm>
            <a:off x="815975" y="2177306"/>
            <a:ext cx="5124450" cy="2171700"/>
          </a:xfrm>
          <a:prstGeom prst="roundRect">
            <a:avLst>
              <a:gd name="adj" fmla="val 3363"/>
            </a:avLst>
          </a:prstGeom>
          <a:noFill/>
          <a:ln w="6350">
            <a:solidFill>
              <a:srgbClr val="E2DED3"/>
            </a:solidFill>
            <a:prstDash val="solid"/>
          </a:ln>
        </p:spPr>
      </p:sp>
      <p:sp>
        <p:nvSpPr>
          <p:cNvPr id="8" name="Text 5"/>
          <p:cNvSpPr/>
          <p:nvPr/>
        </p:nvSpPr>
        <p:spPr>
          <a:xfrm>
            <a:off x="812800" y="4428381"/>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Every chart counts all 110,464 items.</a:t>
            </a:r>
            <a:endParaRPr lang="en-US" sz="1200" dirty="0"/>
          </a:p>
        </p:txBody>
      </p:sp>
      <p:sp>
        <p:nvSpPr>
          <p:cNvPr id="9" name="Text 6"/>
          <p:cNvSpPr/>
          <p:nvPr/>
        </p:nvSpPr>
        <p:spPr>
          <a:xfrm>
            <a:off x="6248400" y="1833811"/>
            <a:ext cx="5284724"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02E"/>
                </a:solidFill>
                <a:latin typeface="IBM Plex Sans" pitchFamily="34" charset="0"/>
                <a:ea typeface="IBM Plex Sans" pitchFamily="34" charset="-122"/>
                <a:cs typeface="IBM Plex Sans" pitchFamily="34" charset="-120"/>
              </a:rPr>
              <a:t>After: drag across Nov 2017 – Mar 2018</a:t>
            </a:r>
            <a:endParaRPr lang="en-US" sz="1600" dirty="0"/>
          </a:p>
        </p:txBody>
      </p:sp>
      <p:sp>
        <p:nvSpPr>
          <p:cNvPr id="10" name="Shape 7"/>
          <p:cNvSpPr/>
          <p:nvPr/>
        </p:nvSpPr>
        <p:spPr>
          <a:xfrm>
            <a:off x="6248400" y="2174131"/>
            <a:ext cx="5130800" cy="2178050"/>
          </a:xfrm>
          <a:prstGeom prst="roundRect">
            <a:avLst>
              <a:gd name="adj" fmla="val 3499"/>
            </a:avLst>
          </a:prstGeom>
          <a:solidFill>
            <a:srgbClr val="FCFBF8"/>
          </a:solidFill>
          <a:ln/>
        </p:spPr>
      </p:sp>
      <p:pic>
        <p:nvPicPr>
          <p:cNvPr id="11" name="Image 1" descr="Same charts after dragging a grey selection over Nov 2017 to Mar 2018 on the timeline; the score chart's axis now goes to 15,000">    </p:cNvPr>
          <p:cNvPicPr>
            <a:picLocks noChangeAspect="1"/>
          </p:cNvPicPr>
          <p:nvPr/>
        </p:nvPicPr>
        <p:blipFill>
          <a:blip r:embed="rId2"/>
          <a:srcRect l="-162" r="-162" t="0" b="0"/>
          <a:stretch/>
        </p:blipFill>
        <p:spPr>
          <a:xfrm>
            <a:off x="6254750" y="2180481"/>
            <a:ext cx="5118100" cy="2165350"/>
          </a:xfrm>
          <a:prstGeom prst="roundRect">
            <a:avLst>
              <a:gd name="adj" fmla="val 3226"/>
            </a:avLst>
          </a:prstGeom>
        </p:spPr>
      </p:pic>
      <p:sp>
        <p:nvSpPr>
          <p:cNvPr id="12" name="Shape 8"/>
          <p:cNvSpPr/>
          <p:nvPr/>
        </p:nvSpPr>
        <p:spPr>
          <a:xfrm>
            <a:off x="6251575" y="2177306"/>
            <a:ext cx="5124450" cy="2171700"/>
          </a:xfrm>
          <a:prstGeom prst="roundRect">
            <a:avLst>
              <a:gd name="adj" fmla="val 3363"/>
            </a:avLst>
          </a:prstGeom>
          <a:noFill/>
          <a:ln w="6350">
            <a:solidFill>
              <a:srgbClr val="E2DED3"/>
            </a:solidFill>
            <a:prstDash val="solid"/>
          </a:ln>
        </p:spPr>
      </p:sp>
      <p:sp>
        <p:nvSpPr>
          <p:cNvPr id="13" name="Text 9"/>
          <p:cNvSpPr/>
          <p:nvPr/>
        </p:nvSpPr>
        <p:spPr>
          <a:xfrm>
            <a:off x="6248400" y="4428381"/>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The other charts count only those months: see the smaller y-axes.</a:t>
            </a:r>
            <a:endParaRPr lang="en-US" sz="1200" dirty="0"/>
          </a:p>
        </p:txBody>
      </p:sp>
      <p:sp>
        <p:nvSpPr>
          <p:cNvPr id="14" name="Shape 10"/>
          <p:cNvSpPr/>
          <p:nvPr/>
        </p:nvSpPr>
        <p:spPr>
          <a:xfrm>
            <a:off x="812800" y="4844901"/>
            <a:ext cx="10566400" cy="929580"/>
          </a:xfrm>
          <a:prstGeom prst="roundRect">
            <a:avLst>
              <a:gd name="adj" fmla="val 8197"/>
            </a:avLst>
          </a:prstGeom>
          <a:solidFill>
            <a:srgbClr val="E8EEF7"/>
          </a:solidFill>
          <a:ln/>
        </p:spPr>
      </p:sp>
      <p:sp>
        <p:nvSpPr>
          <p:cNvPr id="15" name="Shape 11"/>
          <p:cNvSpPr/>
          <p:nvPr/>
        </p:nvSpPr>
        <p:spPr>
          <a:xfrm>
            <a:off x="812800" y="4844901"/>
            <a:ext cx="10566400" cy="929580"/>
          </a:xfrm>
          <a:custGeom>
            <a:avLst/>
            <a:gdLst/>
            <a:ahLst/>
            <a:cxnLst/>
            <a:rect l="l" t="t" r="r" b="b"/>
            <a:pathLst>
              <a:path w="10566400" h="929580">
                <a:moveTo>
                  <a:pt x="76200" y="929580"/>
                </a:moveTo>
                <a:lnTo>
                  <a:pt x="76200" y="929580"/>
                </a:lnTo>
                <a:arcTo hR="76200" wR="76200" stAng="5400000" swAng="5400000"/>
                <a:lnTo>
                  <a:pt x="0" y="76200"/>
                </a:lnTo>
                <a:arcTo hR="76200" wR="76200" stAng="10800000" swAng="5400000"/>
                <a:lnTo>
                  <a:pt x="76200" y="0"/>
                </a:lnTo>
                <a:arcTo hR="76200" wR="38100" stAng="16200000" swAng="-5400000"/>
                <a:lnTo>
                  <a:pt x="38100" y="853380"/>
                </a:lnTo>
                <a:arcTo hR="76200" wR="38100" stAng="10800000" swAng="-5400000"/>
                <a:close/>
              </a:path>
            </a:pathLst>
          </a:custGeom>
          <a:solidFill>
            <a:srgbClr val="3B6FB6"/>
          </a:solidFill>
          <a:ln/>
        </p:spPr>
      </p:sp>
      <p:sp>
        <p:nvSpPr>
          <p:cNvPr id="16" name="Text 12"/>
          <p:cNvSpPr/>
          <p:nvPr/>
        </p:nvSpPr>
        <p:spPr>
          <a:xfrm>
            <a:off x="1079500" y="5022701"/>
            <a:ext cx="1037323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Brushing</a:t>
            </a:r>
            <a:r>
              <a:rPr lang="en-US" sz="1400" dirty="0">
                <a:solidFill>
                  <a:srgbClr val="14202E"/>
                </a:solidFill>
                <a:latin typeface="IBM Plex Sans" pitchFamily="34" charset="0"/>
                <a:ea typeface="IBM Plex Sans" pitchFamily="34" charset="-122"/>
                <a:cs typeface="IBM Plex Sans" pitchFamily="34" charset="-120"/>
              </a:rPr>
              <a:t>: selecting part of a chart by dragging the mouse across it.</a:t>
            </a:r>
            <a:endParaRPr lang="en-US" sz="1400" dirty="0"/>
          </a:p>
        </p:txBody>
      </p:sp>
      <p:sp>
        <p:nvSpPr>
          <p:cNvPr id="17" name="Text 13"/>
          <p:cNvSpPr/>
          <p:nvPr/>
        </p:nvSpPr>
        <p:spPr>
          <a:xfrm>
            <a:off x="1079500" y="5347791"/>
            <a:ext cx="1037323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Linking</a:t>
            </a:r>
            <a:r>
              <a:rPr lang="en-US" sz="1400" dirty="0">
                <a:solidFill>
                  <a:srgbClr val="14202E"/>
                </a:solidFill>
                <a:latin typeface="IBM Plex Sans" pitchFamily="34" charset="0"/>
                <a:ea typeface="IBM Plex Sans" pitchFamily="34" charset="-122"/>
                <a:cs typeface="IBM Plex Sans" pitchFamily="34" charset="-120"/>
              </a:rPr>
              <a:t>: every other chart updates to show only the selected data.</a:t>
            </a:r>
            <a:endParaRPr lang="en-US" sz="1400" dirty="0"/>
          </a:p>
        </p:txBody>
      </p:sp>
      <p:sp>
        <p:nvSpPr>
          <p:cNvPr id="18" name="Text 14"/>
          <p:cNvSpPr/>
          <p:nvPr/>
        </p:nvSpPr>
        <p:spPr>
          <a:xfrm>
            <a:off x="812800" y="6238280"/>
            <a:ext cx="36300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Fast interactive charts for big data · CSE 578</a:t>
            </a:r>
            <a:endParaRPr lang="en-US" sz="1200" dirty="0"/>
          </a:p>
        </p:txBody>
      </p:sp>
      <p:sp>
        <p:nvSpPr>
          <p:cNvPr id="19" name="Text 15"/>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6FB6"/>
                </a:solidFill>
                <a:latin typeface="IBM Plex Sans" pitchFamily="34" charset="0"/>
                <a:ea typeface="IBM Plex Sans" pitchFamily="34" charset="-122"/>
                <a:cs typeface="IBM Plex Sans" pitchFamily="34" charset="-120"/>
              </a:rPr>
              <a:t>THE BASICS · 3 OF 3</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202E"/>
                </a:solidFill>
                <a:latin typeface="IBM Plex Sans" pitchFamily="34" charset="0"/>
                <a:ea typeface="IBM Plex Sans" pitchFamily="34" charset="-122"/>
                <a:cs typeface="IBM Plex Sans" pitchFamily="34" charset="-120"/>
              </a:rPr>
              <a:t>A chart is a summary of many rows</a:t>
            </a:r>
            <a:endParaRPr lang="en-US" sz="3600" dirty="0"/>
          </a:p>
        </p:txBody>
      </p:sp>
      <p:sp>
        <p:nvSpPr>
          <p:cNvPr id="4" name="Text 2"/>
          <p:cNvSpPr/>
          <p:nvPr/>
        </p:nvSpPr>
        <p:spPr>
          <a:xfrm>
            <a:off x="812800" y="1833811"/>
            <a:ext cx="340106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E"/>
                </a:solidFill>
                <a:latin typeface="IBM Plex Sans" pitchFamily="34" charset="0"/>
                <a:ea typeface="IBM Plex Sans" pitchFamily="34" charset="-122"/>
                <a:cs typeface="IBM Plex Sans" pitchFamily="34" charset="-120"/>
              </a:rPr>
              <a:t>Raw data: one row per item</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153841"/>
          <a:ext cx="3289300" cy="2515245"/>
        </p:xfrm>
        <a:graphic>
          <a:graphicData uri="http://schemas.openxmlformats.org/drawingml/2006/table">
            <a:tbl>
              <a:tblPr/>
              <a:tblGrid>
                <a:gridCol w="1118362"/>
                <a:gridCol w="1085469"/>
                <a:gridCol w="1085469"/>
              </a:tblGrid>
              <a:tr h="359321">
                <a:tc>
                  <a:txBody>
                    <a:bodyPr/>
                    <a:lstStyle/>
                    <a:p>
                      <a:pPr indent="0" marL="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Order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State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Stars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r>
              <a:tr h="359321">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o0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SP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59321">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o1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PR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59321">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o2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PR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59321">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o3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RJ</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59321">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o4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SP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59321">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o5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MG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bl>
          </a:graphicData>
        </a:graphic>
      </p:graphicFrame>
      <p:sp>
        <p:nvSpPr>
          <p:cNvPr id="6" name="Text 3"/>
          <p:cNvSpPr/>
          <p:nvPr/>
        </p:nvSpPr>
        <p:spPr>
          <a:xfrm>
            <a:off x="812800" y="4745286"/>
            <a:ext cx="3401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 and 110,458 more rows</a:t>
            </a:r>
            <a:endParaRPr lang="en-US" sz="1200" dirty="0"/>
          </a:p>
        </p:txBody>
      </p:sp>
      <p:pic>
        <p:nvPicPr>
          <p:cNvPr id="7" name="Image 0" descr="arrow-right">    </p:cNvPr>
          <p:cNvPicPr>
            <a:picLocks noChangeAspect="1"/>
          </p:cNvPicPr>
          <p:nvPr/>
        </p:nvPicPr>
        <p:blipFill>
          <a:blip r:embed="rId1"/>
          <a:srcRect l="0" r="0" t="0" b="0"/>
          <a:stretch/>
        </p:blipFill>
        <p:spPr>
          <a:xfrm>
            <a:off x="4267200" y="3281908"/>
            <a:ext cx="406400" cy="228600"/>
          </a:xfrm>
          <a:prstGeom prst="rect">
            <a:avLst/>
          </a:prstGeom>
        </p:spPr>
      </p:pic>
      <p:sp>
        <p:nvSpPr>
          <p:cNvPr id="8" name="Text 4"/>
          <p:cNvSpPr/>
          <p:nvPr/>
        </p:nvSpPr>
        <p:spPr>
          <a:xfrm>
            <a:off x="4826000" y="1833811"/>
            <a:ext cx="248539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E"/>
                </a:solidFill>
                <a:latin typeface="IBM Plex Sans" pitchFamily="34" charset="0"/>
                <a:ea typeface="IBM Plex Sans" pitchFamily="34" charset="-122"/>
                <a:cs typeface="IBM Plex Sans" pitchFamily="34" charset="-120"/>
              </a:rPr>
              <a:t>Count per star rating</a:t>
            </a:r>
            <a:endParaRPr lang="en-US" sz="14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838700" y="2153841"/>
          <a:ext cx="2400300" cy="2155924"/>
        </p:xfrm>
        <a:graphic>
          <a:graphicData uri="http://schemas.openxmlformats.org/drawingml/2006/table">
            <a:tbl>
              <a:tblPr/>
              <a:tblGrid>
                <a:gridCol w="960120"/>
                <a:gridCol w="1440180"/>
              </a:tblGrid>
              <a:tr h="359321">
                <a:tc>
                  <a:txBody>
                    <a:bodyPr/>
                    <a:lstStyle/>
                    <a:p>
                      <a:pPr indent="0" marL="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Stars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c>
                  <a:txBody>
                    <a:bodyPr/>
                    <a:lstStyle/>
                    <a:p>
                      <a:pPr algn="r" indent="0" marL="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Items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r>
              <a:tr h="359321">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11,783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59321">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algn="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3,396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59321">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8,676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59321">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algn="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21,521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59321">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65,088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bl>
          </a:graphicData>
        </a:graphic>
      </p:graphicFrame>
      <p:pic>
        <p:nvPicPr>
          <p:cNvPr id="10" name="Image 1" descr="arrow-right">    </p:cNvPr>
          <p:cNvPicPr>
            <a:picLocks noChangeAspect="1"/>
          </p:cNvPicPr>
          <p:nvPr/>
        </p:nvPicPr>
        <p:blipFill>
          <a:blip r:embed="rId2"/>
          <a:srcRect l="0" r="0" t="0" b="0"/>
          <a:stretch/>
        </p:blipFill>
        <p:spPr>
          <a:xfrm>
            <a:off x="7391400" y="3281908"/>
            <a:ext cx="406400" cy="228600"/>
          </a:xfrm>
          <a:prstGeom prst="rect">
            <a:avLst/>
          </a:prstGeom>
        </p:spPr>
      </p:pic>
      <p:sp>
        <p:nvSpPr>
          <p:cNvPr id="11" name="Text 5"/>
          <p:cNvSpPr/>
          <p:nvPr/>
        </p:nvSpPr>
        <p:spPr>
          <a:xfrm>
            <a:off x="7950200" y="1833811"/>
            <a:ext cx="353187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E"/>
                </a:solidFill>
                <a:latin typeface="IBM Plex Sans" pitchFamily="34" charset="0"/>
                <a:ea typeface="IBM Plex Sans" pitchFamily="34" charset="-122"/>
                <a:cs typeface="IBM Plex Sans" pitchFamily="34" charset="-120"/>
              </a:rPr>
              <a:t>One bar per number</a:t>
            </a:r>
            <a:endParaRPr lang="en-US" sz="1400" dirty="0"/>
          </a:p>
        </p:txBody>
      </p:sp>
      <p:sp>
        <p:nvSpPr>
          <p:cNvPr id="12" name="Text 6"/>
          <p:cNvSpPr/>
          <p:nvPr/>
        </p:nvSpPr>
        <p:spPr>
          <a:xfrm>
            <a:off x="7991897" y="3524250"/>
            <a:ext cx="47535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11.8k</a:t>
            </a:r>
            <a:endParaRPr lang="en-US" sz="1200" dirty="0"/>
          </a:p>
        </p:txBody>
      </p:sp>
      <p:sp>
        <p:nvSpPr>
          <p:cNvPr id="13" name="Shape 7"/>
          <p:cNvSpPr/>
          <p:nvPr/>
        </p:nvSpPr>
        <p:spPr>
          <a:xfrm>
            <a:off x="8001000" y="3775670"/>
            <a:ext cx="457200" cy="273050"/>
          </a:xfrm>
          <a:prstGeom prst="rect">
            <a:avLst/>
          </a:prstGeom>
          <a:solidFill>
            <a:srgbClr val="3B6FB6"/>
          </a:solidFill>
          <a:ln/>
        </p:spPr>
      </p:sp>
      <p:sp>
        <p:nvSpPr>
          <p:cNvPr id="14" name="Text 8"/>
          <p:cNvSpPr/>
          <p:nvPr/>
        </p:nvSpPr>
        <p:spPr>
          <a:xfrm>
            <a:off x="8080821" y="4086820"/>
            <a:ext cx="29750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1★</a:t>
            </a:r>
            <a:endParaRPr lang="en-US" sz="1200" dirty="0"/>
          </a:p>
        </p:txBody>
      </p:sp>
      <p:sp>
        <p:nvSpPr>
          <p:cNvPr id="15" name="Text 9"/>
          <p:cNvSpPr/>
          <p:nvPr/>
        </p:nvSpPr>
        <p:spPr>
          <a:xfrm>
            <a:off x="8694484" y="3714750"/>
            <a:ext cx="36558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3.4k</a:t>
            </a:r>
            <a:endParaRPr lang="en-US" sz="1200" dirty="0"/>
          </a:p>
        </p:txBody>
      </p:sp>
      <p:sp>
        <p:nvSpPr>
          <p:cNvPr id="16" name="Shape 10"/>
          <p:cNvSpPr/>
          <p:nvPr/>
        </p:nvSpPr>
        <p:spPr>
          <a:xfrm>
            <a:off x="8648700" y="3966170"/>
            <a:ext cx="457200" cy="82550"/>
          </a:xfrm>
          <a:prstGeom prst="rect">
            <a:avLst/>
          </a:prstGeom>
          <a:solidFill>
            <a:srgbClr val="3B6FB6"/>
          </a:solidFill>
          <a:ln/>
        </p:spPr>
      </p:sp>
      <p:sp>
        <p:nvSpPr>
          <p:cNvPr id="17" name="Text 11"/>
          <p:cNvSpPr/>
          <p:nvPr/>
        </p:nvSpPr>
        <p:spPr>
          <a:xfrm>
            <a:off x="8728521" y="4086820"/>
            <a:ext cx="29750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2★</a:t>
            </a:r>
            <a:endParaRPr lang="en-US" sz="1200" dirty="0"/>
          </a:p>
        </p:txBody>
      </p:sp>
      <p:sp>
        <p:nvSpPr>
          <p:cNvPr id="18" name="Text 12"/>
          <p:cNvSpPr/>
          <p:nvPr/>
        </p:nvSpPr>
        <p:spPr>
          <a:xfrm>
            <a:off x="9342184" y="3594100"/>
            <a:ext cx="36558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8.7k</a:t>
            </a:r>
            <a:endParaRPr lang="en-US" sz="1200" dirty="0"/>
          </a:p>
        </p:txBody>
      </p:sp>
      <p:sp>
        <p:nvSpPr>
          <p:cNvPr id="19" name="Shape 13"/>
          <p:cNvSpPr/>
          <p:nvPr/>
        </p:nvSpPr>
        <p:spPr>
          <a:xfrm>
            <a:off x="9296400" y="3845520"/>
            <a:ext cx="457200" cy="203200"/>
          </a:xfrm>
          <a:prstGeom prst="rect">
            <a:avLst/>
          </a:prstGeom>
          <a:solidFill>
            <a:srgbClr val="3B6FB6"/>
          </a:solidFill>
          <a:ln/>
        </p:spPr>
      </p:sp>
      <p:sp>
        <p:nvSpPr>
          <p:cNvPr id="20" name="Text 14"/>
          <p:cNvSpPr/>
          <p:nvPr/>
        </p:nvSpPr>
        <p:spPr>
          <a:xfrm>
            <a:off x="9376221" y="4086820"/>
            <a:ext cx="29750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3★</a:t>
            </a:r>
            <a:endParaRPr lang="en-US" sz="1200" dirty="0"/>
          </a:p>
        </p:txBody>
      </p:sp>
      <p:sp>
        <p:nvSpPr>
          <p:cNvPr id="21" name="Text 15"/>
          <p:cNvSpPr/>
          <p:nvPr/>
        </p:nvSpPr>
        <p:spPr>
          <a:xfrm>
            <a:off x="9934997" y="3295650"/>
            <a:ext cx="47535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21.5k</a:t>
            </a:r>
            <a:endParaRPr lang="en-US" sz="1200" dirty="0"/>
          </a:p>
        </p:txBody>
      </p:sp>
      <p:sp>
        <p:nvSpPr>
          <p:cNvPr id="22" name="Shape 16"/>
          <p:cNvSpPr/>
          <p:nvPr/>
        </p:nvSpPr>
        <p:spPr>
          <a:xfrm>
            <a:off x="9944100" y="3547070"/>
            <a:ext cx="457200" cy="501650"/>
          </a:xfrm>
          <a:prstGeom prst="rect">
            <a:avLst/>
          </a:prstGeom>
          <a:solidFill>
            <a:srgbClr val="3B6FB6"/>
          </a:solidFill>
          <a:ln/>
        </p:spPr>
      </p:sp>
      <p:sp>
        <p:nvSpPr>
          <p:cNvPr id="23" name="Text 17"/>
          <p:cNvSpPr/>
          <p:nvPr/>
        </p:nvSpPr>
        <p:spPr>
          <a:xfrm>
            <a:off x="10023921" y="4086820"/>
            <a:ext cx="29750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4★</a:t>
            </a:r>
            <a:endParaRPr lang="en-US" sz="1200" dirty="0"/>
          </a:p>
        </p:txBody>
      </p:sp>
      <p:sp>
        <p:nvSpPr>
          <p:cNvPr id="24" name="Text 18"/>
          <p:cNvSpPr/>
          <p:nvPr/>
        </p:nvSpPr>
        <p:spPr>
          <a:xfrm>
            <a:off x="10582697" y="2273300"/>
            <a:ext cx="47535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65.1k</a:t>
            </a:r>
            <a:endParaRPr lang="en-US" sz="1200" dirty="0"/>
          </a:p>
        </p:txBody>
      </p:sp>
      <p:sp>
        <p:nvSpPr>
          <p:cNvPr id="25" name="Shape 19"/>
          <p:cNvSpPr/>
          <p:nvPr/>
        </p:nvSpPr>
        <p:spPr>
          <a:xfrm>
            <a:off x="10591800" y="2524720"/>
            <a:ext cx="457200" cy="1524000"/>
          </a:xfrm>
          <a:prstGeom prst="rect">
            <a:avLst/>
          </a:prstGeom>
          <a:solidFill>
            <a:srgbClr val="3B6FB6"/>
          </a:solidFill>
          <a:ln/>
        </p:spPr>
      </p:sp>
      <p:sp>
        <p:nvSpPr>
          <p:cNvPr id="26" name="Text 20"/>
          <p:cNvSpPr/>
          <p:nvPr/>
        </p:nvSpPr>
        <p:spPr>
          <a:xfrm>
            <a:off x="10671621" y="4086820"/>
            <a:ext cx="29750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5★</a:t>
            </a:r>
            <a:endParaRPr lang="en-US" sz="1200" dirty="0"/>
          </a:p>
        </p:txBody>
      </p:sp>
      <p:sp>
        <p:nvSpPr>
          <p:cNvPr id="27" name="Text 21"/>
          <p:cNvSpPr/>
          <p:nvPr/>
        </p:nvSpPr>
        <p:spPr>
          <a:xfrm>
            <a:off x="812800" y="5161806"/>
            <a:ext cx="10566400" cy="604490"/>
          </a:xfrm>
          <a:prstGeom prst="roundRect">
            <a:avLst>
              <a:gd name="adj" fmla="val 12606"/>
            </a:avLst>
          </a:prstGeom>
          <a:solidFill>
            <a:srgbClr val="E8EEF7"/>
          </a:solidFill>
          <a:ln/>
        </p:spPr>
        <p:txBody>
          <a:bodyPr wrap="square" lIns="244382" tIns="155482" rIns="0" bIns="130082"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Aggregation</a:t>
            </a:r>
            <a:r>
              <a:rPr lang="en-US" sz="1400" dirty="0">
                <a:solidFill>
                  <a:srgbClr val="14202E"/>
                </a:solidFill>
                <a:latin typeface="IBM Plex Sans" pitchFamily="34" charset="0"/>
                <a:ea typeface="IBM Plex Sans" pitchFamily="34" charset="-122"/>
                <a:cs typeface="IBM Plex Sans" pitchFamily="34" charset="-120"/>
              </a:rPr>
              <a:t>: summarizing many rows into a few numbers, such as a count per group.</a:t>
            </a:r>
            <a:endParaRPr lang="en-US" sz="1400" dirty="0"/>
          </a:p>
        </p:txBody>
      </p:sp>
      <p:sp>
        <p:nvSpPr>
          <p:cNvPr id="28" name="Shape 22"/>
          <p:cNvSpPr/>
          <p:nvPr/>
        </p:nvSpPr>
        <p:spPr>
          <a:xfrm>
            <a:off x="812800" y="5161806"/>
            <a:ext cx="10566400" cy="604490"/>
          </a:xfrm>
          <a:custGeom>
            <a:avLst/>
            <a:gdLst/>
            <a:ahLst/>
            <a:cxnLst/>
            <a:rect l="l" t="t" r="r" b="b"/>
            <a:pathLst>
              <a:path w="10566400" h="604490">
                <a:moveTo>
                  <a:pt x="76200" y="604490"/>
                </a:moveTo>
                <a:lnTo>
                  <a:pt x="76200" y="604490"/>
                </a:lnTo>
                <a:arcTo hR="76200" wR="76200" stAng="5400000" swAng="5400000"/>
                <a:lnTo>
                  <a:pt x="0" y="76200"/>
                </a:lnTo>
                <a:arcTo hR="76200" wR="76200" stAng="10800000" swAng="5400000"/>
                <a:lnTo>
                  <a:pt x="76200" y="0"/>
                </a:lnTo>
                <a:arcTo hR="76200" wR="38100" stAng="16200000" swAng="-5400000"/>
                <a:lnTo>
                  <a:pt x="38100" y="528290"/>
                </a:lnTo>
                <a:arcTo hR="76200" wR="38100" stAng="10800000" swAng="-5400000"/>
                <a:close/>
              </a:path>
            </a:pathLst>
          </a:custGeom>
          <a:solidFill>
            <a:srgbClr val="3B6FB6"/>
          </a:solidFill>
          <a:ln/>
        </p:spPr>
      </p:sp>
      <p:sp>
        <p:nvSpPr>
          <p:cNvPr id="29" name="Text 23"/>
          <p:cNvSpPr/>
          <p:nvPr/>
        </p:nvSpPr>
        <p:spPr>
          <a:xfrm>
            <a:off x="812800" y="6238280"/>
            <a:ext cx="36300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Fast interactive charts for big data · CSE 578</a:t>
            </a:r>
            <a:endParaRPr lang="en-US" sz="1200" dirty="0"/>
          </a:p>
        </p:txBody>
      </p:sp>
      <p:sp>
        <p:nvSpPr>
          <p:cNvPr id="30" name="Text 24"/>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6FB6"/>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202E"/>
                </a:solidFill>
                <a:latin typeface="IBM Plex Sans" pitchFamily="34" charset="0"/>
                <a:ea typeface="IBM Plex Sans" pitchFamily="34" charset="-122"/>
                <a:cs typeface="IBM Plex Sans" pitchFamily="34" charset="-120"/>
              </a:rPr>
              <a:t>The usual way breaks with big data</a:t>
            </a:r>
            <a:endParaRPr lang="en-US" sz="3600" dirty="0"/>
          </a:p>
        </p:txBody>
      </p:sp>
      <p:sp>
        <p:nvSpPr>
          <p:cNvPr id="4" name="Shape 2"/>
          <p:cNvSpPr/>
          <p:nvPr/>
        </p:nvSpPr>
        <p:spPr>
          <a:xfrm>
            <a:off x="815975" y="1938586"/>
            <a:ext cx="4121150" cy="1713111"/>
          </a:xfrm>
          <a:prstGeom prst="roundRect">
            <a:avLst>
              <a:gd name="adj" fmla="val 5745"/>
            </a:avLst>
          </a:prstGeom>
          <a:solidFill>
            <a:srgbClr val="FCFBF8"/>
          </a:solidFill>
          <a:ln w="6350">
            <a:solidFill>
              <a:srgbClr val="E2DED3"/>
            </a:solidFill>
            <a:prstDash val="solid"/>
          </a:ln>
        </p:spPr>
      </p:sp>
      <p:sp>
        <p:nvSpPr>
          <p:cNvPr id="5" name="Text 3"/>
          <p:cNvSpPr/>
          <p:nvPr/>
        </p:nvSpPr>
        <p:spPr>
          <a:xfrm>
            <a:off x="1073150" y="2195761"/>
            <a:ext cx="37150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673"/>
                </a:solidFill>
                <a:latin typeface="IBM Plex Sans" pitchFamily="34" charset="0"/>
                <a:ea typeface="IBM Plex Sans" pitchFamily="34" charset="-122"/>
                <a:cs typeface="IBM Plex Sans" pitchFamily="34" charset="-120"/>
              </a:rPr>
              <a:t>WHERE THE DATA LIVES</a:t>
            </a:r>
            <a:endParaRPr lang="en-US" sz="1200" dirty="0"/>
          </a:p>
        </p:txBody>
      </p:sp>
      <p:sp>
        <p:nvSpPr>
          <p:cNvPr id="6" name="Text 4"/>
          <p:cNvSpPr/>
          <p:nvPr/>
        </p:nvSpPr>
        <p:spPr>
          <a:xfrm>
            <a:off x="1073150" y="2485281"/>
            <a:ext cx="371500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02E"/>
                </a:solidFill>
                <a:latin typeface="IBM Plex Sans" pitchFamily="34" charset="0"/>
                <a:ea typeface="IBM Plex Sans" pitchFamily="34" charset="-122"/>
                <a:cs typeface="IBM Plex Sans" pitchFamily="34" charset="-120"/>
              </a:rPr>
              <a:t>A file on a server</a:t>
            </a:r>
            <a:endParaRPr lang="en-US" sz="2200" dirty="0"/>
          </a:p>
        </p:txBody>
      </p:sp>
      <p:sp>
        <p:nvSpPr>
          <p:cNvPr id="7" name="Text 5"/>
          <p:cNvSpPr/>
          <p:nvPr/>
        </p:nvSpPr>
        <p:spPr>
          <a:xfrm>
            <a:off x="1073150" y="2896741"/>
            <a:ext cx="371500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1.1 million order rows: 18 MB, even compressed.</a:t>
            </a:r>
            <a:endParaRPr lang="en-US" sz="1400" dirty="0"/>
          </a:p>
        </p:txBody>
      </p:sp>
      <p:sp>
        <p:nvSpPr>
          <p:cNvPr id="8" name="Text 6"/>
          <p:cNvSpPr/>
          <p:nvPr/>
        </p:nvSpPr>
        <p:spPr>
          <a:xfrm>
            <a:off x="5114925" y="2310011"/>
            <a:ext cx="1962150" cy="487660"/>
          </a:xfrm>
          <a:prstGeom prst="rect">
            <a:avLst/>
          </a:prstGeom>
          <a:noFill/>
          <a:ln/>
        </p:spPr>
        <p:txBody>
          <a:bodyPr wrap="square" lIns="0" tIns="0" rIns="0" bIns="0" rtlCol="0" anchor="t">
            <a:normAutofit/>
          </a:bodyPr>
          <a:lstStyle/>
          <a:p>
            <a:pPr algn="ctr" indent="0" marL="0">
              <a:lnSpc>
                <a:spcPts val="1820"/>
              </a:lnSpc>
              <a:buNone/>
            </a:pPr>
            <a:r>
              <a:rPr lang="en-US" sz="1400" b="1" dirty="0">
                <a:solidFill>
                  <a:srgbClr val="C4423B"/>
                </a:solidFill>
                <a:latin typeface="IBM Plex Sans" pitchFamily="34" charset="0"/>
                <a:ea typeface="IBM Plex Sans" pitchFamily="34" charset="-122"/>
                <a:cs typeface="IBM Plex Sans" pitchFamily="34" charset="-120"/>
              </a:rPr>
              <a:t>Step 1: download every row</a:t>
            </a:r>
            <a:endParaRPr lang="en-US" sz="1400" dirty="0"/>
          </a:p>
        </p:txBody>
      </p:sp>
      <p:pic>
        <p:nvPicPr>
          <p:cNvPr id="9" name="Image 0" descr="arrow-right">    </p:cNvPr>
          <p:cNvPicPr>
            <a:picLocks noChangeAspect="1"/>
          </p:cNvPicPr>
          <p:nvPr/>
        </p:nvPicPr>
        <p:blipFill>
          <a:blip r:embed="rId1"/>
          <a:srcRect l="0" r="0" t="0" b="0"/>
          <a:stretch/>
        </p:blipFill>
        <p:spPr>
          <a:xfrm>
            <a:off x="5461000" y="2873871"/>
            <a:ext cx="1270000" cy="406400"/>
          </a:xfrm>
          <a:prstGeom prst="rect">
            <a:avLst/>
          </a:prstGeom>
        </p:spPr>
      </p:pic>
      <p:sp>
        <p:nvSpPr>
          <p:cNvPr id="10" name="Shape 7"/>
          <p:cNvSpPr/>
          <p:nvPr/>
        </p:nvSpPr>
        <p:spPr>
          <a:xfrm>
            <a:off x="7254875" y="1938586"/>
            <a:ext cx="4121150" cy="1713111"/>
          </a:xfrm>
          <a:prstGeom prst="roundRect">
            <a:avLst>
              <a:gd name="adj" fmla="val 5745"/>
            </a:avLst>
          </a:prstGeom>
          <a:solidFill>
            <a:srgbClr val="FCFBF8"/>
          </a:solidFill>
          <a:ln w="6350">
            <a:solidFill>
              <a:srgbClr val="E2DED3"/>
            </a:solidFill>
            <a:prstDash val="solid"/>
          </a:ln>
        </p:spPr>
      </p:sp>
      <p:sp>
        <p:nvSpPr>
          <p:cNvPr id="11" name="Text 8"/>
          <p:cNvSpPr/>
          <p:nvPr/>
        </p:nvSpPr>
        <p:spPr>
          <a:xfrm>
            <a:off x="7512050" y="2195761"/>
            <a:ext cx="37150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673"/>
                </a:solidFill>
                <a:latin typeface="IBM Plex Sans" pitchFamily="34" charset="0"/>
                <a:ea typeface="IBM Plex Sans" pitchFamily="34" charset="-122"/>
                <a:cs typeface="IBM Plex Sans" pitchFamily="34" charset="-120"/>
              </a:rPr>
              <a:t>YOUR BROWSER</a:t>
            </a:r>
            <a:endParaRPr lang="en-US" sz="1200" dirty="0"/>
          </a:p>
        </p:txBody>
      </p:sp>
      <p:sp>
        <p:nvSpPr>
          <p:cNvPr id="12" name="Text 9"/>
          <p:cNvSpPr/>
          <p:nvPr/>
        </p:nvSpPr>
        <p:spPr>
          <a:xfrm>
            <a:off x="7512050" y="2485281"/>
            <a:ext cx="371500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02E"/>
                </a:solidFill>
                <a:latin typeface="IBM Plex Sans" pitchFamily="34" charset="0"/>
                <a:ea typeface="IBM Plex Sans" pitchFamily="34" charset="-122"/>
                <a:cs typeface="IBM Plex Sans" pitchFamily="34" charset="-120"/>
              </a:rPr>
              <a:t>Holds every row</a:t>
            </a:r>
            <a:endParaRPr lang="en-US" sz="2200" dirty="0"/>
          </a:p>
        </p:txBody>
      </p:sp>
      <p:sp>
        <p:nvSpPr>
          <p:cNvPr id="13" name="Text 10"/>
          <p:cNvSpPr/>
          <p:nvPr/>
        </p:nvSpPr>
        <p:spPr>
          <a:xfrm>
            <a:off x="7512050" y="2896741"/>
            <a:ext cx="371500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4423B"/>
                </a:solidFill>
                <a:latin typeface="IBM Plex Sans" pitchFamily="34" charset="0"/>
                <a:ea typeface="IBM Plex Sans" pitchFamily="34" charset="-122"/>
                <a:cs typeface="IBM Plex Sans" pitchFamily="34" charset="-120"/>
              </a:rPr>
              <a:t>Step 2:</a:t>
            </a:r>
            <a:r>
              <a:rPr lang="en-US" sz="1400" dirty="0">
                <a:solidFill>
                  <a:srgbClr val="3D4654"/>
                </a:solidFill>
                <a:latin typeface="IBM Plex Sans" pitchFamily="34" charset="0"/>
                <a:ea typeface="IBM Plex Sans" pitchFamily="34" charset="-122"/>
                <a:cs typeface="IBM Plex Sans" pitchFamily="34" charset="-120"/>
              </a:rPr>
              <a:t> recounts every chart from all rows on each mouse move.</a:t>
            </a:r>
            <a:endParaRPr lang="en-US" sz="1400" dirty="0"/>
          </a:p>
        </p:txBody>
      </p:sp>
      <p:sp>
        <p:nvSpPr>
          <p:cNvPr id="14" name="Shape 11"/>
          <p:cNvSpPr/>
          <p:nvPr/>
        </p:nvSpPr>
        <p:spPr>
          <a:xfrm>
            <a:off x="812800" y="3959671"/>
            <a:ext cx="10566400" cy="1214041"/>
          </a:xfrm>
          <a:prstGeom prst="roundRect">
            <a:avLst>
              <a:gd name="adj" fmla="val 6277"/>
            </a:avLst>
          </a:prstGeom>
          <a:solidFill>
            <a:srgbClr val="E8EEF7"/>
          </a:solidFill>
          <a:ln/>
        </p:spPr>
      </p:sp>
      <p:sp>
        <p:nvSpPr>
          <p:cNvPr id="15" name="Shape 12"/>
          <p:cNvSpPr/>
          <p:nvPr/>
        </p:nvSpPr>
        <p:spPr>
          <a:xfrm>
            <a:off x="812800" y="3959671"/>
            <a:ext cx="10566400" cy="1214041"/>
          </a:xfrm>
          <a:custGeom>
            <a:avLst/>
            <a:gdLst/>
            <a:ahLst/>
            <a:cxnLst/>
            <a:rect l="l" t="t" r="r" b="b"/>
            <a:pathLst>
              <a:path w="10566400" h="1214041">
                <a:moveTo>
                  <a:pt x="76200" y="1214041"/>
                </a:moveTo>
                <a:lnTo>
                  <a:pt x="76200" y="1214041"/>
                </a:lnTo>
                <a:arcTo hR="76200" wR="76200" stAng="5400000" swAng="5400000"/>
                <a:lnTo>
                  <a:pt x="0" y="76200"/>
                </a:lnTo>
                <a:arcTo hR="76200" wR="76200" stAng="10800000" swAng="5400000"/>
                <a:lnTo>
                  <a:pt x="76200" y="0"/>
                </a:lnTo>
                <a:arcTo hR="76200" wR="38100" stAng="16200000" swAng="-5400000"/>
                <a:lnTo>
                  <a:pt x="38100" y="1137841"/>
                </a:lnTo>
                <a:arcTo hR="76200" wR="38100" stAng="10800000" swAng="-5400000"/>
                <a:close/>
              </a:path>
            </a:pathLst>
          </a:custGeom>
          <a:solidFill>
            <a:srgbClr val="3B6FB6"/>
          </a:solidFill>
          <a:ln/>
        </p:spPr>
      </p:sp>
      <p:sp>
        <p:nvSpPr>
          <p:cNvPr id="16" name="Text 13"/>
          <p:cNvSpPr/>
          <p:nvPr/>
        </p:nvSpPr>
        <p:spPr>
          <a:xfrm>
            <a:off x="1079500" y="4137471"/>
            <a:ext cx="1037323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02E"/>
                </a:solidFill>
                <a:latin typeface="IBM Plex Sans" pitchFamily="34" charset="0"/>
                <a:ea typeface="IBM Plex Sans" pitchFamily="34" charset="-122"/>
                <a:cs typeface="IBM Plex Sans" pitchFamily="34" charset="-120"/>
              </a:rPr>
              <a:t>Like carrying the whole library home just to count how many books are novels.</a:t>
            </a:r>
            <a:endParaRPr lang="en-US" sz="1600" dirty="0"/>
          </a:p>
        </p:txBody>
      </p:sp>
      <p:sp>
        <p:nvSpPr>
          <p:cNvPr id="17" name="Text 14"/>
          <p:cNvSpPr/>
          <p:nvPr/>
        </p:nvSpPr>
        <p:spPr>
          <a:xfrm>
            <a:off x="1079500" y="4498132"/>
            <a:ext cx="1037323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This is how most web chart libraries work, such as Plotly, Vega-Lite and D3. Fine for thousands of rows; slow to open and laggy to drag at millions.</a:t>
            </a:r>
            <a:endParaRPr lang="en-US" sz="1400" dirty="0"/>
          </a:p>
        </p:txBody>
      </p:sp>
      <p:sp>
        <p:nvSpPr>
          <p:cNvPr id="18" name="Text 15"/>
          <p:cNvSpPr/>
          <p:nvPr/>
        </p:nvSpPr>
        <p:spPr>
          <a:xfrm>
            <a:off x="812800" y="6238280"/>
            <a:ext cx="36300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Fast interactive charts for big data · CSE 578</a:t>
            </a:r>
            <a:endParaRPr lang="en-US" sz="1200" dirty="0"/>
          </a:p>
        </p:txBody>
      </p:sp>
      <p:sp>
        <p:nvSpPr>
          <p:cNvPr id="19" name="Text 16"/>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6FB6"/>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202E"/>
                </a:solidFill>
                <a:latin typeface="IBM Plex Sans" pitchFamily="34" charset="0"/>
                <a:ea typeface="IBM Plex Sans" pitchFamily="34" charset="-122"/>
                <a:cs typeface="IBM Plex Sans" pitchFamily="34" charset="-120"/>
              </a:rPr>
              <a:t>Why speed is a visualization issue</a:t>
            </a:r>
            <a:endParaRPr lang="en-US" sz="3600" dirty="0"/>
          </a:p>
        </p:txBody>
      </p:sp>
      <p:sp>
        <p:nvSpPr>
          <p:cNvPr id="4" name="Shape 2"/>
          <p:cNvSpPr/>
          <p:nvPr/>
        </p:nvSpPr>
        <p:spPr>
          <a:xfrm>
            <a:off x="815975" y="1938586"/>
            <a:ext cx="3380284" cy="2596952"/>
          </a:xfrm>
          <a:prstGeom prst="roundRect">
            <a:avLst>
              <a:gd name="adj" fmla="val 3790"/>
            </a:avLst>
          </a:prstGeom>
          <a:solidFill>
            <a:srgbClr val="FCFBF8"/>
          </a:solidFill>
          <a:ln w="6350">
            <a:solidFill>
              <a:srgbClr val="E2DED3"/>
            </a:solidFill>
            <a:prstDash val="solid"/>
          </a:ln>
        </p:spPr>
      </p:sp>
      <p:pic>
        <p:nvPicPr>
          <p:cNvPr id="5" name="Image 0" descr="Clock">    </p:cNvPr>
          <p:cNvPicPr>
            <a:picLocks noChangeAspect="1"/>
          </p:cNvPicPr>
          <p:nvPr/>
        </p:nvPicPr>
        <p:blipFill>
          <a:blip r:embed="rId1"/>
          <a:srcRect l="0" r="0" t="0" b="0"/>
          <a:stretch/>
        </p:blipFill>
        <p:spPr>
          <a:xfrm>
            <a:off x="1073150" y="2195761"/>
            <a:ext cx="355600" cy="355600"/>
          </a:xfrm>
          <a:prstGeom prst="rect">
            <a:avLst/>
          </a:prstGeom>
        </p:spPr>
      </p:pic>
      <p:sp>
        <p:nvSpPr>
          <p:cNvPr id="6" name="Text 3"/>
          <p:cNvSpPr/>
          <p:nvPr/>
        </p:nvSpPr>
        <p:spPr>
          <a:xfrm>
            <a:off x="1073150" y="2652961"/>
            <a:ext cx="2951912"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02E"/>
                </a:solidFill>
                <a:latin typeface="IBM Plex Sans" pitchFamily="34" charset="0"/>
                <a:ea typeface="IBM Plex Sans" pitchFamily="34" charset="-122"/>
                <a:cs typeface="IBM Plex Sans" pitchFamily="34" charset="-120"/>
              </a:rPr>
              <a:t>Slow charts mean less exploring</a:t>
            </a:r>
            <a:endParaRPr lang="en-US" sz="1600" dirty="0"/>
          </a:p>
        </p:txBody>
      </p:sp>
      <p:sp>
        <p:nvSpPr>
          <p:cNvPr id="7" name="Text 4"/>
          <p:cNvSpPr/>
          <p:nvPr/>
        </p:nvSpPr>
        <p:spPr>
          <a:xfrm>
            <a:off x="1073150" y="3282801"/>
            <a:ext cx="2951912"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Adding half a second of delay made people interact less, cover less of the data and notice fewer things (Liu &amp; Heer, 2014).</a:t>
            </a:r>
            <a:endParaRPr lang="en-US" sz="1400" dirty="0"/>
          </a:p>
        </p:txBody>
      </p:sp>
      <p:sp>
        <p:nvSpPr>
          <p:cNvPr id="8" name="Shape 5"/>
          <p:cNvSpPr/>
          <p:nvPr/>
        </p:nvSpPr>
        <p:spPr>
          <a:xfrm>
            <a:off x="4405809" y="1938586"/>
            <a:ext cx="3380333" cy="2596952"/>
          </a:xfrm>
          <a:prstGeom prst="roundRect">
            <a:avLst>
              <a:gd name="adj" fmla="val 3790"/>
            </a:avLst>
          </a:prstGeom>
          <a:solidFill>
            <a:srgbClr val="FCFBF8"/>
          </a:solidFill>
          <a:ln w="6350">
            <a:solidFill>
              <a:srgbClr val="E2DED3"/>
            </a:solidFill>
            <a:prstDash val="solid"/>
          </a:ln>
        </p:spPr>
      </p:sp>
      <p:pic>
        <p:nvPicPr>
          <p:cNvPr id="9" name="Image 1" descr="Search">    </p:cNvPr>
          <p:cNvPicPr>
            <a:picLocks noChangeAspect="1"/>
          </p:cNvPicPr>
          <p:nvPr/>
        </p:nvPicPr>
        <p:blipFill>
          <a:blip r:embed="rId2"/>
          <a:srcRect l="0" r="0" t="0" b="0"/>
          <a:stretch/>
        </p:blipFill>
        <p:spPr>
          <a:xfrm>
            <a:off x="4662984" y="2195761"/>
            <a:ext cx="355600" cy="355600"/>
          </a:xfrm>
          <a:prstGeom prst="rect">
            <a:avLst/>
          </a:prstGeom>
        </p:spPr>
      </p:pic>
      <p:sp>
        <p:nvSpPr>
          <p:cNvPr id="10" name="Text 6"/>
          <p:cNvSpPr/>
          <p:nvPr/>
        </p:nvSpPr>
        <p:spPr>
          <a:xfrm>
            <a:off x="4662984" y="2652961"/>
            <a:ext cx="2951963"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02E"/>
                </a:solidFill>
                <a:latin typeface="IBM Plex Sans" pitchFamily="34" charset="0"/>
                <a:ea typeface="IBM Plex Sans" pitchFamily="34" charset="-122"/>
                <a:cs typeface="IBM Plex Sans" pitchFamily="34" charset="-120"/>
              </a:rPr>
              <a:t>Samples hide small groups</a:t>
            </a:r>
            <a:endParaRPr lang="en-US" sz="1600" dirty="0"/>
          </a:p>
        </p:txBody>
      </p:sp>
      <p:sp>
        <p:nvSpPr>
          <p:cNvPr id="11" name="Text 7"/>
          <p:cNvSpPr/>
          <p:nvPr/>
        </p:nvSpPr>
        <p:spPr>
          <a:xfrm>
            <a:off x="4662984" y="3018681"/>
            <a:ext cx="2951963"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Tools that can't hold all rows chart a random sample. A small group, like one state in one week, may shrink to a few rows.</a:t>
            </a:r>
            <a:endParaRPr lang="en-US" sz="1400" dirty="0"/>
          </a:p>
        </p:txBody>
      </p:sp>
      <p:sp>
        <p:nvSpPr>
          <p:cNvPr id="12" name="Shape 8"/>
          <p:cNvSpPr/>
          <p:nvPr/>
        </p:nvSpPr>
        <p:spPr>
          <a:xfrm>
            <a:off x="7995692" y="1938586"/>
            <a:ext cx="3380333" cy="2596952"/>
          </a:xfrm>
          <a:prstGeom prst="roundRect">
            <a:avLst>
              <a:gd name="adj" fmla="val 3790"/>
            </a:avLst>
          </a:prstGeom>
          <a:solidFill>
            <a:srgbClr val="FCFBF8"/>
          </a:solidFill>
          <a:ln w="6350">
            <a:solidFill>
              <a:srgbClr val="E2DED3"/>
            </a:solidFill>
            <a:prstDash val="solid"/>
          </a:ln>
        </p:spPr>
      </p:sp>
      <p:pic>
        <p:nvPicPr>
          <p:cNvPr id="13" name="Image 2" descr="Chart">    </p:cNvPr>
          <p:cNvPicPr>
            <a:picLocks noChangeAspect="1"/>
          </p:cNvPicPr>
          <p:nvPr/>
        </p:nvPicPr>
        <p:blipFill>
          <a:blip r:embed="rId3"/>
          <a:srcRect l="0" r="0" t="0" b="0"/>
          <a:stretch/>
        </p:blipFill>
        <p:spPr>
          <a:xfrm>
            <a:off x="8252867" y="2195761"/>
            <a:ext cx="355600" cy="355600"/>
          </a:xfrm>
          <a:prstGeom prst="rect">
            <a:avLst/>
          </a:prstGeom>
        </p:spPr>
      </p:pic>
      <p:sp>
        <p:nvSpPr>
          <p:cNvPr id="14" name="Text 9"/>
          <p:cNvSpPr/>
          <p:nvPr/>
        </p:nvSpPr>
        <p:spPr>
          <a:xfrm>
            <a:off x="8252867" y="2652961"/>
            <a:ext cx="2951963"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02E"/>
                </a:solidFill>
                <a:latin typeface="IBM Plex Sans" pitchFamily="34" charset="0"/>
                <a:ea typeface="IBM Plex Sans" pitchFamily="34" charset="-122"/>
                <a:cs typeface="IBM Plex Sans" pitchFamily="34" charset="-120"/>
              </a:rPr>
              <a:t>Too many dots hide patterns</a:t>
            </a:r>
            <a:endParaRPr lang="en-US" sz="1600" dirty="0"/>
          </a:p>
        </p:txBody>
      </p:sp>
      <p:sp>
        <p:nvSpPr>
          <p:cNvPr id="15" name="Text 10"/>
          <p:cNvSpPr/>
          <p:nvPr/>
        </p:nvSpPr>
        <p:spPr>
          <a:xfrm>
            <a:off x="8252867" y="3018681"/>
            <a:ext cx="2951963"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A million dots overlap into one blob, called overplotting. Counting dots per pixel shows where the data piles up.</a:t>
            </a:r>
            <a:endParaRPr lang="en-US" sz="1400" dirty="0"/>
          </a:p>
        </p:txBody>
      </p:sp>
      <p:sp>
        <p:nvSpPr>
          <p:cNvPr id="16" name="Text 11"/>
          <p:cNvSpPr/>
          <p:nvPr/>
        </p:nvSpPr>
        <p:spPr>
          <a:xfrm>
            <a:off x="812800" y="4843512"/>
            <a:ext cx="10883392" cy="37465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3B6FB6"/>
                </a:solidFill>
                <a:latin typeface="IBM Plex Sans" pitchFamily="34" charset="0"/>
                <a:ea typeface="IBM Plex Sans" pitchFamily="34" charset="-122"/>
                <a:cs typeface="IBM Plex Sans" pitchFamily="34" charset="-120"/>
              </a:rPr>
              <a:t>Goal: charts that stay fast and still use all of the data.</a:t>
            </a:r>
            <a:endParaRPr lang="en-US" sz="2200" dirty="0"/>
          </a:p>
        </p:txBody>
      </p:sp>
      <p:sp>
        <p:nvSpPr>
          <p:cNvPr id="17" name="Text 12"/>
          <p:cNvSpPr/>
          <p:nvPr/>
        </p:nvSpPr>
        <p:spPr>
          <a:xfrm>
            <a:off x="812800" y="6238280"/>
            <a:ext cx="36300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Fast interactive charts for big data · CSE 578</a:t>
            </a:r>
            <a:endParaRPr lang="en-US" sz="1200" dirty="0"/>
          </a:p>
        </p:txBody>
      </p:sp>
      <p:sp>
        <p:nvSpPr>
          <p:cNvPr id="18" name="Text 13"/>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6FB6"/>
                </a:solidFill>
                <a:latin typeface="IBM Plex Sans" pitchFamily="34" charset="0"/>
                <a:ea typeface="IBM Plex Sans" pitchFamily="34" charset="-122"/>
                <a:cs typeface="IBM Plex Sans" pitchFamily="34" charset="-120"/>
              </a:rPr>
              <a:t>THE IDEA</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202E"/>
                </a:solidFill>
                <a:latin typeface="IBM Plex Sans" pitchFamily="34" charset="0"/>
                <a:ea typeface="IBM Plex Sans" pitchFamily="34" charset="-122"/>
                <a:cs typeface="IBM Plex Sans" pitchFamily="34" charset="-120"/>
              </a:rPr>
              <a:t>Meet the three tools</a:t>
            </a:r>
            <a:endParaRPr lang="en-US" sz="3600" dirty="0"/>
          </a:p>
        </p:txBody>
      </p:sp>
      <p:sp>
        <p:nvSpPr>
          <p:cNvPr id="4" name="Shape 2"/>
          <p:cNvSpPr/>
          <p:nvPr/>
        </p:nvSpPr>
        <p:spPr>
          <a:xfrm>
            <a:off x="815975" y="1938586"/>
            <a:ext cx="3380284" cy="2251521"/>
          </a:xfrm>
          <a:prstGeom prst="roundRect">
            <a:avLst>
              <a:gd name="adj" fmla="val 4371"/>
            </a:avLst>
          </a:prstGeom>
          <a:solidFill>
            <a:srgbClr val="FCFBF8"/>
          </a:solidFill>
          <a:ln w="6350">
            <a:solidFill>
              <a:srgbClr val="E2DED3"/>
            </a:solidFill>
            <a:prstDash val="solid"/>
          </a:ln>
        </p:spPr>
      </p:sp>
      <p:sp>
        <p:nvSpPr>
          <p:cNvPr id="5" name="Text 3"/>
          <p:cNvSpPr/>
          <p:nvPr/>
        </p:nvSpPr>
        <p:spPr>
          <a:xfrm>
            <a:off x="1073150" y="2195761"/>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6FB6"/>
                </a:solidFill>
                <a:latin typeface="IBM Plex Sans" pitchFamily="34" charset="0"/>
                <a:ea typeface="IBM Plex Sans" pitchFamily="34" charset="-122"/>
                <a:cs typeface="IBM Plex Sans" pitchFamily="34" charset="-120"/>
              </a:rPr>
              <a:t>THE COORDINATOR</a:t>
            </a:r>
            <a:endParaRPr lang="en-US" sz="1200" dirty="0"/>
          </a:p>
        </p:txBody>
      </p:sp>
      <p:sp>
        <p:nvSpPr>
          <p:cNvPr id="6" name="Text 4"/>
          <p:cNvSpPr/>
          <p:nvPr/>
        </p:nvSpPr>
        <p:spPr>
          <a:xfrm>
            <a:off x="1073150" y="2485281"/>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02E"/>
                </a:solidFill>
                <a:latin typeface="IBM Plex Sans" pitchFamily="34" charset="0"/>
                <a:ea typeface="IBM Plex Sans" pitchFamily="34" charset="-122"/>
                <a:cs typeface="IBM Plex Sans" pitchFamily="34" charset="-120"/>
              </a:rPr>
              <a:t>Mosaic</a:t>
            </a:r>
            <a:endParaRPr lang="en-US" sz="2200" dirty="0"/>
          </a:p>
        </p:txBody>
      </p:sp>
      <p:sp>
        <p:nvSpPr>
          <p:cNvPr id="7" name="Text 5"/>
          <p:cNvSpPr/>
          <p:nvPr/>
        </p:nvSpPr>
        <p:spPr>
          <a:xfrm>
            <a:off x="1073150" y="2896741"/>
            <a:ext cx="29519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University of Washington · 2024</a:t>
            </a:r>
            <a:endParaRPr lang="en-US" sz="1200" dirty="0"/>
          </a:p>
        </p:txBody>
      </p:sp>
      <p:sp>
        <p:nvSpPr>
          <p:cNvPr id="8" name="Text 6"/>
          <p:cNvSpPr/>
          <p:nvPr/>
        </p:nvSpPr>
        <p:spPr>
          <a:xfrm>
            <a:off x="1073150" y="3186261"/>
            <a:ext cx="295191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Connects charts to a database. Turns every chart and every selection into a question for it.</a:t>
            </a:r>
            <a:endParaRPr lang="en-US" sz="1400" dirty="0"/>
          </a:p>
        </p:txBody>
      </p:sp>
      <p:sp>
        <p:nvSpPr>
          <p:cNvPr id="9" name="Shape 7"/>
          <p:cNvSpPr/>
          <p:nvPr/>
        </p:nvSpPr>
        <p:spPr>
          <a:xfrm>
            <a:off x="4405809" y="1938586"/>
            <a:ext cx="3380333" cy="2251521"/>
          </a:xfrm>
          <a:prstGeom prst="roundRect">
            <a:avLst>
              <a:gd name="adj" fmla="val 4371"/>
            </a:avLst>
          </a:prstGeom>
          <a:solidFill>
            <a:srgbClr val="FCFBF8"/>
          </a:solidFill>
          <a:ln w="6350">
            <a:solidFill>
              <a:srgbClr val="E2DED3"/>
            </a:solidFill>
            <a:prstDash val="solid"/>
          </a:ln>
        </p:spPr>
      </p:sp>
      <p:sp>
        <p:nvSpPr>
          <p:cNvPr id="10" name="Text 8"/>
          <p:cNvSpPr/>
          <p:nvPr/>
        </p:nvSpPr>
        <p:spPr>
          <a:xfrm>
            <a:off x="4662984" y="2195761"/>
            <a:ext cx="295196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6FB6"/>
                </a:solidFill>
                <a:latin typeface="IBM Plex Sans" pitchFamily="34" charset="0"/>
                <a:ea typeface="IBM Plex Sans" pitchFamily="34" charset="-122"/>
                <a:cs typeface="IBM Plex Sans" pitchFamily="34" charset="-120"/>
              </a:rPr>
              <a:t>THE DATABASE</a:t>
            </a:r>
            <a:endParaRPr lang="en-US" sz="1200" dirty="0"/>
          </a:p>
        </p:txBody>
      </p:sp>
      <p:sp>
        <p:nvSpPr>
          <p:cNvPr id="11" name="Text 9"/>
          <p:cNvSpPr/>
          <p:nvPr/>
        </p:nvSpPr>
        <p:spPr>
          <a:xfrm>
            <a:off x="4662984" y="2485281"/>
            <a:ext cx="295196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02E"/>
                </a:solidFill>
                <a:latin typeface="IBM Plex Sans" pitchFamily="34" charset="0"/>
                <a:ea typeface="IBM Plex Sans" pitchFamily="34" charset="-122"/>
                <a:cs typeface="IBM Plex Sans" pitchFamily="34" charset="-120"/>
              </a:rPr>
              <a:t>DuckDB</a:t>
            </a:r>
            <a:endParaRPr lang="en-US" sz="2200" dirty="0"/>
          </a:p>
        </p:txBody>
      </p:sp>
      <p:sp>
        <p:nvSpPr>
          <p:cNvPr id="12" name="Text 10"/>
          <p:cNvSpPr/>
          <p:nvPr/>
        </p:nvSpPr>
        <p:spPr>
          <a:xfrm>
            <a:off x="4662984" y="2896741"/>
            <a:ext cx="29519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DuckDB Labs · open source</a:t>
            </a:r>
            <a:endParaRPr lang="en-US" sz="1200" dirty="0"/>
          </a:p>
        </p:txBody>
      </p:sp>
      <p:sp>
        <p:nvSpPr>
          <p:cNvPr id="13" name="Text 11"/>
          <p:cNvSpPr/>
          <p:nvPr/>
        </p:nvSpPr>
        <p:spPr>
          <a:xfrm>
            <a:off x="4662984" y="3186261"/>
            <a:ext cx="2951963"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Built for fast counting and summarizing. Runs on a server, in Python, or inside a web page.</a:t>
            </a:r>
            <a:endParaRPr lang="en-US" sz="1400" dirty="0"/>
          </a:p>
        </p:txBody>
      </p:sp>
      <p:sp>
        <p:nvSpPr>
          <p:cNvPr id="14" name="Shape 12"/>
          <p:cNvSpPr/>
          <p:nvPr/>
        </p:nvSpPr>
        <p:spPr>
          <a:xfrm>
            <a:off x="7995692" y="1938586"/>
            <a:ext cx="3380333" cy="2251521"/>
          </a:xfrm>
          <a:prstGeom prst="roundRect">
            <a:avLst>
              <a:gd name="adj" fmla="val 4371"/>
            </a:avLst>
          </a:prstGeom>
          <a:solidFill>
            <a:srgbClr val="FCFBF8"/>
          </a:solidFill>
          <a:ln w="6350">
            <a:solidFill>
              <a:srgbClr val="E2DED3"/>
            </a:solidFill>
            <a:prstDash val="solid"/>
          </a:ln>
        </p:spPr>
      </p:sp>
      <p:sp>
        <p:nvSpPr>
          <p:cNvPr id="15" name="Text 13"/>
          <p:cNvSpPr/>
          <p:nvPr/>
        </p:nvSpPr>
        <p:spPr>
          <a:xfrm>
            <a:off x="8252867" y="2195761"/>
            <a:ext cx="295196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6FB6"/>
                </a:solidFill>
                <a:latin typeface="IBM Plex Sans" pitchFamily="34" charset="0"/>
                <a:ea typeface="IBM Plex Sans" pitchFamily="34" charset="-122"/>
                <a:cs typeface="IBM Plex Sans" pitchFamily="34" charset="-120"/>
              </a:rPr>
              <a:t>BUILT ON MOSAIC</a:t>
            </a:r>
            <a:endParaRPr lang="en-US" sz="1200" dirty="0"/>
          </a:p>
        </p:txBody>
      </p:sp>
      <p:sp>
        <p:nvSpPr>
          <p:cNvPr id="16" name="Text 14"/>
          <p:cNvSpPr/>
          <p:nvPr/>
        </p:nvSpPr>
        <p:spPr>
          <a:xfrm>
            <a:off x="8252867" y="2485281"/>
            <a:ext cx="295196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02E"/>
                </a:solidFill>
                <a:latin typeface="IBM Plex Sans" pitchFamily="34" charset="0"/>
                <a:ea typeface="IBM Plex Sans" pitchFamily="34" charset="-122"/>
                <a:cs typeface="IBM Plex Sans" pitchFamily="34" charset="-120"/>
              </a:rPr>
              <a:t>Embedding Atlas</a:t>
            </a:r>
            <a:endParaRPr lang="en-US" sz="2200" dirty="0"/>
          </a:p>
        </p:txBody>
      </p:sp>
      <p:sp>
        <p:nvSpPr>
          <p:cNvPr id="17" name="Text 15"/>
          <p:cNvSpPr/>
          <p:nvPr/>
        </p:nvSpPr>
        <p:spPr>
          <a:xfrm>
            <a:off x="8252867" y="2896741"/>
            <a:ext cx="29519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Apple · 2025</a:t>
            </a:r>
            <a:endParaRPr lang="en-US" sz="1200" dirty="0"/>
          </a:p>
        </p:txBody>
      </p:sp>
      <p:sp>
        <p:nvSpPr>
          <p:cNvPr id="18" name="Text 16"/>
          <p:cNvSpPr/>
          <p:nvPr/>
        </p:nvSpPr>
        <p:spPr>
          <a:xfrm>
            <a:off x="8252867" y="3186261"/>
            <a:ext cx="295196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Turns large collections of text into a map you can explore. Demo 2.</a:t>
            </a:r>
            <a:endParaRPr lang="en-US" sz="1400" dirty="0"/>
          </a:p>
        </p:txBody>
      </p:sp>
      <p:sp>
        <p:nvSpPr>
          <p:cNvPr id="19" name="Shape 17"/>
          <p:cNvSpPr/>
          <p:nvPr/>
        </p:nvSpPr>
        <p:spPr>
          <a:xfrm>
            <a:off x="812800" y="4498082"/>
            <a:ext cx="10566400" cy="929580"/>
          </a:xfrm>
          <a:prstGeom prst="roundRect">
            <a:avLst>
              <a:gd name="adj" fmla="val 8197"/>
            </a:avLst>
          </a:prstGeom>
          <a:solidFill>
            <a:srgbClr val="E8EEF7"/>
          </a:solidFill>
          <a:ln/>
        </p:spPr>
      </p:sp>
      <p:sp>
        <p:nvSpPr>
          <p:cNvPr id="20" name="Shape 18"/>
          <p:cNvSpPr/>
          <p:nvPr/>
        </p:nvSpPr>
        <p:spPr>
          <a:xfrm>
            <a:off x="812800" y="4498082"/>
            <a:ext cx="10566400" cy="929580"/>
          </a:xfrm>
          <a:custGeom>
            <a:avLst/>
            <a:gdLst/>
            <a:ahLst/>
            <a:cxnLst/>
            <a:rect l="l" t="t" r="r" b="b"/>
            <a:pathLst>
              <a:path w="10566400" h="929580">
                <a:moveTo>
                  <a:pt x="76200" y="929580"/>
                </a:moveTo>
                <a:lnTo>
                  <a:pt x="76200" y="929580"/>
                </a:lnTo>
                <a:arcTo hR="76200" wR="76200" stAng="5400000" swAng="5400000"/>
                <a:lnTo>
                  <a:pt x="0" y="76200"/>
                </a:lnTo>
                <a:arcTo hR="76200" wR="76200" stAng="10800000" swAng="5400000"/>
                <a:lnTo>
                  <a:pt x="76200" y="0"/>
                </a:lnTo>
                <a:arcTo hR="76200" wR="38100" stAng="16200000" swAng="-5400000"/>
                <a:lnTo>
                  <a:pt x="38100" y="853380"/>
                </a:lnTo>
                <a:arcTo hR="76200" wR="38100" stAng="10800000" swAng="-5400000"/>
                <a:close/>
              </a:path>
            </a:pathLst>
          </a:custGeom>
          <a:solidFill>
            <a:srgbClr val="3B6FB6"/>
          </a:solidFill>
          <a:ln/>
        </p:spPr>
      </p:sp>
      <p:sp>
        <p:nvSpPr>
          <p:cNvPr id="21" name="Text 19"/>
          <p:cNvSpPr/>
          <p:nvPr/>
        </p:nvSpPr>
        <p:spPr>
          <a:xfrm>
            <a:off x="1079500" y="4675882"/>
            <a:ext cx="1037323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Database</a:t>
            </a:r>
            <a:r>
              <a:rPr lang="en-US" sz="1400" dirty="0">
                <a:solidFill>
                  <a:srgbClr val="14202E"/>
                </a:solidFill>
                <a:latin typeface="IBM Plex Sans" pitchFamily="34" charset="0"/>
                <a:ea typeface="IBM Plex Sans" pitchFamily="34" charset="-122"/>
                <a:cs typeface="IBM Plex Sans" pitchFamily="34" charset="-120"/>
              </a:rPr>
              <a:t>: software that stores tables of data and answers questions about them.</a:t>
            </a:r>
            <a:endParaRPr lang="en-US" sz="1400" dirty="0"/>
          </a:p>
        </p:txBody>
      </p:sp>
      <p:sp>
        <p:nvSpPr>
          <p:cNvPr id="22" name="Text 20"/>
          <p:cNvSpPr/>
          <p:nvPr/>
        </p:nvSpPr>
        <p:spPr>
          <a:xfrm>
            <a:off x="1079500" y="5000972"/>
            <a:ext cx="1037323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SQL</a:t>
            </a:r>
            <a:r>
              <a:rPr lang="en-US" sz="1400" dirty="0">
                <a:solidFill>
                  <a:srgbClr val="14202E"/>
                </a:solidFill>
                <a:latin typeface="IBM Plex Sans" pitchFamily="34" charset="0"/>
                <a:ea typeface="IBM Plex Sans" pitchFamily="34" charset="-122"/>
                <a:cs typeface="IBM Plex Sans" pitchFamily="34" charset="-120"/>
              </a:rPr>
              <a:t>: the language for asking a database questions; one question is a </a:t>
            </a:r>
            <a:r>
              <a:rPr lang="en-US" sz="1400" b="1" dirty="0">
                <a:solidFill>
                  <a:srgbClr val="14202E"/>
                </a:solidFill>
                <a:latin typeface="IBM Plex Sans" pitchFamily="34" charset="0"/>
                <a:ea typeface="IBM Plex Sans" pitchFamily="34" charset="-122"/>
                <a:cs typeface="IBM Plex Sans" pitchFamily="34" charset="-120"/>
              </a:rPr>
              <a:t>query</a:t>
            </a:r>
            <a:r>
              <a:rPr lang="en-US" sz="1400" dirty="0">
                <a:solidFill>
                  <a:srgbClr val="14202E"/>
                </a:solidFill>
                <a:latin typeface="IBM Plex Sans" pitchFamily="34" charset="0"/>
                <a:ea typeface="IBM Plex Sans" pitchFamily="34" charset="-122"/>
                <a:cs typeface="IBM Plex Sans" pitchFamily="34" charset="-120"/>
              </a:rPr>
              <a:t>.</a:t>
            </a:r>
            <a:endParaRPr lang="en-US" sz="1400" dirty="0"/>
          </a:p>
        </p:txBody>
      </p:sp>
      <p:sp>
        <p:nvSpPr>
          <p:cNvPr id="23" name="Text 21"/>
          <p:cNvSpPr/>
          <p:nvPr/>
        </p:nvSpPr>
        <p:spPr>
          <a:xfrm>
            <a:off x="812800" y="6238280"/>
            <a:ext cx="36300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Fast interactive charts for big data · CSE 578</a:t>
            </a:r>
            <a:endParaRPr lang="en-US" sz="1200" dirty="0"/>
          </a:p>
        </p:txBody>
      </p:sp>
      <p:sp>
        <p:nvSpPr>
          <p:cNvPr id="24" name="Text 22"/>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6FB6"/>
                </a:solidFill>
                <a:latin typeface="IBM Plex Sans" pitchFamily="34" charset="0"/>
                <a:ea typeface="IBM Plex Sans" pitchFamily="34" charset="-122"/>
                <a:cs typeface="IBM Plex Sans" pitchFamily="34" charset="-120"/>
              </a:rPr>
              <a:t>THE IDEA</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202E"/>
                </a:solidFill>
                <a:latin typeface="IBM Plex Sans" pitchFamily="34" charset="0"/>
                <a:ea typeface="IBM Plex Sans" pitchFamily="34" charset="-122"/>
                <a:cs typeface="IBM Plex Sans" pitchFamily="34" charset="-120"/>
              </a:rPr>
              <a:t>Charts ask, the database answers</a:t>
            </a:r>
            <a:endParaRPr lang="en-US" sz="3600" dirty="0"/>
          </a:p>
        </p:txBody>
      </p:sp>
      <p:sp>
        <p:nvSpPr>
          <p:cNvPr id="4" name="Shape 2"/>
          <p:cNvSpPr/>
          <p:nvPr/>
        </p:nvSpPr>
        <p:spPr>
          <a:xfrm>
            <a:off x="815975" y="1844675"/>
            <a:ext cx="2660650" cy="717550"/>
          </a:xfrm>
          <a:prstGeom prst="roundRect">
            <a:avLst>
              <a:gd name="adj" fmla="val 10177"/>
            </a:avLst>
          </a:prstGeom>
          <a:solidFill>
            <a:srgbClr val="FCFBF8"/>
          </a:solidFill>
          <a:ln w="6350">
            <a:solidFill>
              <a:srgbClr val="E2DED3"/>
            </a:solidFill>
            <a:prstDash val="solid"/>
          </a:ln>
        </p:spPr>
      </p:sp>
      <p:sp>
        <p:nvSpPr>
          <p:cNvPr id="5" name="Text 3"/>
          <p:cNvSpPr/>
          <p:nvPr/>
        </p:nvSpPr>
        <p:spPr>
          <a:xfrm>
            <a:off x="996950" y="1968500"/>
            <a:ext cx="2367661"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E"/>
                </a:solidFill>
                <a:latin typeface="IBM Plex Sans" pitchFamily="34" charset="0"/>
                <a:ea typeface="IBM Plex Sans" pitchFamily="34" charset="-122"/>
                <a:cs typeface="IBM Plex Sans" pitchFamily="34" charset="-120"/>
              </a:rPr>
              <a:t>Timeline</a:t>
            </a:r>
            <a:endParaRPr lang="en-US" sz="1400" dirty="0"/>
          </a:p>
        </p:txBody>
      </p:sp>
      <p:sp>
        <p:nvSpPr>
          <p:cNvPr id="6" name="Text 4"/>
          <p:cNvSpPr/>
          <p:nvPr/>
        </p:nvSpPr>
        <p:spPr>
          <a:xfrm>
            <a:off x="996950" y="2225030"/>
            <a:ext cx="23676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"Items per week?"</a:t>
            </a:r>
            <a:endParaRPr lang="en-US" sz="1200" dirty="0"/>
          </a:p>
        </p:txBody>
      </p:sp>
      <p:sp>
        <p:nvSpPr>
          <p:cNvPr id="7" name="Shape 5"/>
          <p:cNvSpPr/>
          <p:nvPr/>
        </p:nvSpPr>
        <p:spPr>
          <a:xfrm>
            <a:off x="815975" y="2682875"/>
            <a:ext cx="2660650" cy="717550"/>
          </a:xfrm>
          <a:prstGeom prst="roundRect">
            <a:avLst>
              <a:gd name="adj" fmla="val 10177"/>
            </a:avLst>
          </a:prstGeom>
          <a:solidFill>
            <a:srgbClr val="FCFBF8"/>
          </a:solidFill>
          <a:ln w="6350">
            <a:solidFill>
              <a:srgbClr val="E2DED3"/>
            </a:solidFill>
            <a:prstDash val="solid"/>
          </a:ln>
        </p:spPr>
      </p:sp>
      <p:sp>
        <p:nvSpPr>
          <p:cNvPr id="8" name="Text 6"/>
          <p:cNvSpPr/>
          <p:nvPr/>
        </p:nvSpPr>
        <p:spPr>
          <a:xfrm>
            <a:off x="996950" y="2806700"/>
            <a:ext cx="2367661"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E"/>
                </a:solidFill>
                <a:latin typeface="IBM Plex Sans" pitchFamily="34" charset="0"/>
                <a:ea typeface="IBM Plex Sans" pitchFamily="34" charset="-122"/>
                <a:cs typeface="IBM Plex Sans" pitchFamily="34" charset="-120"/>
              </a:rPr>
              <a:t>Histogram</a:t>
            </a:r>
            <a:endParaRPr lang="en-US" sz="1400" dirty="0"/>
          </a:p>
        </p:txBody>
      </p:sp>
      <p:sp>
        <p:nvSpPr>
          <p:cNvPr id="9" name="Text 7"/>
          <p:cNvSpPr/>
          <p:nvPr/>
        </p:nvSpPr>
        <p:spPr>
          <a:xfrm>
            <a:off x="996950" y="3063230"/>
            <a:ext cx="23676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"Items per day of delay?"</a:t>
            </a:r>
            <a:endParaRPr lang="en-US" sz="1200" dirty="0"/>
          </a:p>
        </p:txBody>
      </p:sp>
      <p:sp>
        <p:nvSpPr>
          <p:cNvPr id="10" name="Shape 8"/>
          <p:cNvSpPr/>
          <p:nvPr/>
        </p:nvSpPr>
        <p:spPr>
          <a:xfrm>
            <a:off x="815975" y="3521075"/>
            <a:ext cx="2660650" cy="717550"/>
          </a:xfrm>
          <a:prstGeom prst="roundRect">
            <a:avLst>
              <a:gd name="adj" fmla="val 10177"/>
            </a:avLst>
          </a:prstGeom>
          <a:solidFill>
            <a:srgbClr val="FCFBF8"/>
          </a:solidFill>
          <a:ln w="6350">
            <a:solidFill>
              <a:srgbClr val="E2DED3"/>
            </a:solidFill>
            <a:prstDash val="solid"/>
          </a:ln>
        </p:spPr>
      </p:sp>
      <p:sp>
        <p:nvSpPr>
          <p:cNvPr id="11" name="Text 9"/>
          <p:cNvSpPr/>
          <p:nvPr/>
        </p:nvSpPr>
        <p:spPr>
          <a:xfrm>
            <a:off x="996950" y="3644900"/>
            <a:ext cx="2367661"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E"/>
                </a:solidFill>
                <a:latin typeface="IBM Plex Sans" pitchFamily="34" charset="0"/>
                <a:ea typeface="IBM Plex Sans" pitchFamily="34" charset="-122"/>
                <a:cs typeface="IBM Plex Sans" pitchFamily="34" charset="-120"/>
              </a:rPr>
              <a:t>Score bars</a:t>
            </a:r>
            <a:endParaRPr lang="en-US" sz="1400" dirty="0"/>
          </a:p>
        </p:txBody>
      </p:sp>
      <p:sp>
        <p:nvSpPr>
          <p:cNvPr id="12" name="Text 10"/>
          <p:cNvSpPr/>
          <p:nvPr/>
        </p:nvSpPr>
        <p:spPr>
          <a:xfrm>
            <a:off x="996950" y="3901430"/>
            <a:ext cx="23676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"Items per star rating?"</a:t>
            </a:r>
            <a:endParaRPr lang="en-US" sz="1200" dirty="0"/>
          </a:p>
        </p:txBody>
      </p:sp>
      <p:sp>
        <p:nvSpPr>
          <p:cNvPr id="13" name="Shape 11"/>
          <p:cNvSpPr/>
          <p:nvPr/>
        </p:nvSpPr>
        <p:spPr>
          <a:xfrm>
            <a:off x="815975" y="4359275"/>
            <a:ext cx="2660650" cy="717550"/>
          </a:xfrm>
          <a:prstGeom prst="roundRect">
            <a:avLst>
              <a:gd name="adj" fmla="val 10177"/>
            </a:avLst>
          </a:prstGeom>
          <a:solidFill>
            <a:srgbClr val="FCFBF8"/>
          </a:solidFill>
          <a:ln w="6350">
            <a:solidFill>
              <a:srgbClr val="E2DED3"/>
            </a:solidFill>
            <a:prstDash val="solid"/>
          </a:ln>
        </p:spPr>
      </p:sp>
      <p:sp>
        <p:nvSpPr>
          <p:cNvPr id="14" name="Text 12"/>
          <p:cNvSpPr/>
          <p:nvPr/>
        </p:nvSpPr>
        <p:spPr>
          <a:xfrm>
            <a:off x="996950" y="4483100"/>
            <a:ext cx="2367661"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E"/>
                </a:solidFill>
                <a:latin typeface="IBM Plex Sans" pitchFamily="34" charset="0"/>
                <a:ea typeface="IBM Plex Sans" pitchFamily="34" charset="-122"/>
                <a:cs typeface="IBM Plex Sans" pitchFamily="34" charset="-120"/>
              </a:rPr>
              <a:t>Density plot</a:t>
            </a:r>
            <a:endParaRPr lang="en-US" sz="1400" dirty="0"/>
          </a:p>
        </p:txBody>
      </p:sp>
      <p:sp>
        <p:nvSpPr>
          <p:cNvPr id="15" name="Text 13"/>
          <p:cNvSpPr/>
          <p:nvPr/>
        </p:nvSpPr>
        <p:spPr>
          <a:xfrm>
            <a:off x="996950" y="4739630"/>
            <a:ext cx="23676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"Items per pixel?"</a:t>
            </a:r>
            <a:endParaRPr lang="en-US" sz="1200" dirty="0"/>
          </a:p>
        </p:txBody>
      </p:sp>
      <p:sp>
        <p:nvSpPr>
          <p:cNvPr id="16" name="Shape 14"/>
          <p:cNvSpPr/>
          <p:nvPr/>
        </p:nvSpPr>
        <p:spPr>
          <a:xfrm>
            <a:off x="4445000" y="1841500"/>
            <a:ext cx="2667000" cy="3238500"/>
          </a:xfrm>
          <a:prstGeom prst="roundRect">
            <a:avLst>
              <a:gd name="adj" fmla="val 3810"/>
            </a:avLst>
          </a:prstGeom>
          <a:solidFill>
            <a:srgbClr val="14202E"/>
          </a:solidFill>
          <a:ln/>
        </p:spPr>
      </p:sp>
      <p:sp>
        <p:nvSpPr>
          <p:cNvPr id="17" name="Text 15"/>
          <p:cNvSpPr/>
          <p:nvPr/>
        </p:nvSpPr>
        <p:spPr>
          <a:xfrm>
            <a:off x="4673600" y="2070100"/>
            <a:ext cx="227609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2E3"/>
                </a:solidFill>
                <a:latin typeface="IBM Plex Sans" pitchFamily="34" charset="0"/>
                <a:ea typeface="IBM Plex Sans" pitchFamily="34" charset="-122"/>
                <a:cs typeface="IBM Plex Sans" pitchFamily="34" charset="-120"/>
              </a:rPr>
              <a:t>COORDINATOR</a:t>
            </a:r>
            <a:endParaRPr lang="en-US" sz="1200" dirty="0"/>
          </a:p>
        </p:txBody>
      </p:sp>
      <p:sp>
        <p:nvSpPr>
          <p:cNvPr id="18" name="Text 16"/>
          <p:cNvSpPr/>
          <p:nvPr/>
        </p:nvSpPr>
        <p:spPr>
          <a:xfrm>
            <a:off x="4673600" y="2359620"/>
            <a:ext cx="227609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4EE"/>
                </a:solidFill>
                <a:latin typeface="IBM Plex Sans" pitchFamily="34" charset="0"/>
                <a:ea typeface="IBM Plex Sans" pitchFamily="34" charset="-122"/>
                <a:cs typeface="IBM Plex Sans" pitchFamily="34" charset="-120"/>
              </a:rPr>
              <a:t>Mosaic</a:t>
            </a:r>
            <a:endParaRPr lang="en-US" sz="2200" dirty="0"/>
          </a:p>
        </p:txBody>
      </p:sp>
      <p:sp>
        <p:nvSpPr>
          <p:cNvPr id="19" name="Text 17"/>
          <p:cNvSpPr/>
          <p:nvPr/>
        </p:nvSpPr>
        <p:spPr>
          <a:xfrm>
            <a:off x="4758944" y="2771080"/>
            <a:ext cx="2183130" cy="1874441"/>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C9D3E0"/>
                </a:solidFill>
                <a:latin typeface="IBM Plex Sans" pitchFamily="34" charset="0"/>
                <a:ea typeface="IBM Plex Sans" pitchFamily="34" charset="-122"/>
                <a:cs typeface="IBM Plex Sans" pitchFamily="34" charset="-120"/>
              </a:rPr>
              <a:t>Collects each chart's question</a:t>
            </a:r>
            <a:endParaRPr lang="en-US" sz="1300" dirty="0"/>
          </a:p>
          <a:p>
            <a:pPr algn="l" marL="168656" indent="-168656">
              <a:lnSpc>
                <a:spcPts val="1820"/>
              </a:lnSpc>
              <a:buSzPct val="100000"/>
              <a:buChar char="•"/>
            </a:pPr>
            <a:r>
              <a:rPr lang="en-US" sz="1300" dirty="0">
                <a:solidFill>
                  <a:srgbClr val="C9D3E0"/>
                </a:solidFill>
                <a:latin typeface="IBM Plex Sans" pitchFamily="34" charset="0"/>
                <a:ea typeface="IBM Plex Sans" pitchFamily="34" charset="-122"/>
                <a:cs typeface="IBM Plex Sans" pitchFamily="34" charset="-120"/>
              </a:rPr>
              <a:t>Adds your selection as a filter</a:t>
            </a:r>
            <a:endParaRPr lang="en-US" sz="1300" dirty="0"/>
          </a:p>
          <a:p>
            <a:pPr algn="l" marL="168656" indent="-168656">
              <a:lnSpc>
                <a:spcPts val="1820"/>
              </a:lnSpc>
              <a:buSzPct val="100000"/>
              <a:buChar char="•"/>
            </a:pPr>
            <a:r>
              <a:rPr lang="en-US" sz="1300" dirty="0">
                <a:solidFill>
                  <a:srgbClr val="C9D3E0"/>
                </a:solidFill>
                <a:latin typeface="IBM Plex Sans" pitchFamily="34" charset="0"/>
                <a:ea typeface="IBM Plex Sans" pitchFamily="34" charset="-122"/>
                <a:cs typeface="IBM Plex Sans" pitchFamily="34" charset="-120"/>
              </a:rPr>
              <a:t>Sends the questions as SQL</a:t>
            </a:r>
            <a:endParaRPr lang="en-US" sz="1300" dirty="0"/>
          </a:p>
          <a:p>
            <a:pPr algn="l" marL="168656" indent="-168656">
              <a:lnSpc>
                <a:spcPts val="1820"/>
              </a:lnSpc>
              <a:buSzPct val="100000"/>
              <a:buChar char="•"/>
            </a:pPr>
            <a:r>
              <a:rPr lang="en-US" sz="1300" dirty="0">
                <a:solidFill>
                  <a:srgbClr val="C9D3E0"/>
                </a:solidFill>
                <a:latin typeface="IBM Plex Sans" pitchFamily="34" charset="0"/>
                <a:ea typeface="IBM Plex Sans" pitchFamily="34" charset="-122"/>
                <a:cs typeface="IBM Plex Sans" pitchFamily="34" charset="-120"/>
              </a:rPr>
              <a:t>Reuses answers it already has</a:t>
            </a:r>
            <a:endParaRPr lang="en-US" sz="1300" dirty="0"/>
          </a:p>
        </p:txBody>
      </p:sp>
      <p:sp>
        <p:nvSpPr>
          <p:cNvPr id="20" name="Shape 18"/>
          <p:cNvSpPr/>
          <p:nvPr/>
        </p:nvSpPr>
        <p:spPr>
          <a:xfrm>
            <a:off x="8721725" y="1851025"/>
            <a:ext cx="2647950" cy="3219450"/>
          </a:xfrm>
          <a:prstGeom prst="roundRect">
            <a:avLst>
              <a:gd name="adj" fmla="val 3477"/>
            </a:avLst>
          </a:prstGeom>
          <a:solidFill>
            <a:srgbClr val="FCFBF8"/>
          </a:solidFill>
          <a:ln w="19050">
            <a:solidFill>
              <a:srgbClr val="3B6FB6"/>
            </a:solidFill>
            <a:prstDash val="solid"/>
          </a:ln>
        </p:spPr>
      </p:sp>
      <p:sp>
        <p:nvSpPr>
          <p:cNvPr id="21" name="Text 19"/>
          <p:cNvSpPr/>
          <p:nvPr/>
        </p:nvSpPr>
        <p:spPr>
          <a:xfrm>
            <a:off x="8959850" y="208915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6FB6"/>
                </a:solidFill>
                <a:latin typeface="IBM Plex Sans" pitchFamily="34" charset="0"/>
                <a:ea typeface="IBM Plex Sans" pitchFamily="34" charset="-122"/>
                <a:cs typeface="IBM Plex Sans" pitchFamily="34" charset="-120"/>
              </a:rPr>
              <a:t>DATABASE</a:t>
            </a:r>
            <a:endParaRPr lang="en-US" sz="1200" dirty="0"/>
          </a:p>
        </p:txBody>
      </p:sp>
      <p:sp>
        <p:nvSpPr>
          <p:cNvPr id="22" name="Text 20"/>
          <p:cNvSpPr/>
          <p:nvPr/>
        </p:nvSpPr>
        <p:spPr>
          <a:xfrm>
            <a:off x="8959850" y="2378670"/>
            <a:ext cx="2236851"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02E"/>
                </a:solidFill>
                <a:latin typeface="IBM Plex Sans" pitchFamily="34" charset="0"/>
                <a:ea typeface="IBM Plex Sans" pitchFamily="34" charset="-122"/>
                <a:cs typeface="IBM Plex Sans" pitchFamily="34" charset="-120"/>
              </a:rPr>
              <a:t>DuckDB</a:t>
            </a:r>
            <a:endParaRPr lang="en-US" sz="2200" dirty="0"/>
          </a:p>
        </p:txBody>
      </p:sp>
      <p:sp>
        <p:nvSpPr>
          <p:cNvPr id="23" name="Text 21"/>
          <p:cNvSpPr/>
          <p:nvPr/>
        </p:nvSpPr>
        <p:spPr>
          <a:xfrm>
            <a:off x="9045194" y="2790130"/>
            <a:ext cx="2143887" cy="141218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3D4654"/>
                </a:solidFill>
                <a:latin typeface="IBM Plex Sans" pitchFamily="34" charset="0"/>
                <a:ea typeface="IBM Plex Sans" pitchFamily="34" charset="-122"/>
                <a:cs typeface="IBM Plex Sans" pitchFamily="34" charset="-120"/>
              </a:rPr>
              <a:t>Holds all the rows</a:t>
            </a:r>
            <a:endParaRPr lang="en-US" sz="1300" dirty="0"/>
          </a:p>
          <a:p>
            <a:pPr algn="l" marL="168656" indent="-168656">
              <a:lnSpc>
                <a:spcPts val="1820"/>
              </a:lnSpc>
              <a:buSzPct val="100000"/>
              <a:buChar char="•"/>
            </a:pPr>
            <a:r>
              <a:rPr lang="en-US" sz="1300" dirty="0">
                <a:solidFill>
                  <a:srgbClr val="3D4654"/>
                </a:solidFill>
                <a:latin typeface="IBM Plex Sans" pitchFamily="34" charset="0"/>
                <a:ea typeface="IBM Plex Sans" pitchFamily="34" charset="-122"/>
                <a:cs typeface="IBM Plex Sans" pitchFamily="34" charset="-120"/>
              </a:rPr>
              <a:t>Does the counting</a:t>
            </a:r>
            <a:endParaRPr lang="en-US" sz="1300" dirty="0"/>
          </a:p>
          <a:p>
            <a:pPr algn="l" marL="168656" indent="-168656">
              <a:lnSpc>
                <a:spcPts val="1820"/>
              </a:lnSpc>
              <a:buSzPct val="100000"/>
              <a:buChar char="•"/>
            </a:pPr>
            <a:r>
              <a:rPr lang="en-US" sz="1300" dirty="0">
                <a:solidFill>
                  <a:srgbClr val="3D4654"/>
                </a:solidFill>
                <a:latin typeface="IBM Plex Sans" pitchFamily="34" charset="0"/>
                <a:ea typeface="IBM Plex Sans" pitchFamily="34" charset="-122"/>
                <a:cs typeface="IBM Plex Sans" pitchFamily="34" charset="-120"/>
              </a:rPr>
              <a:t>Sends back only the counts</a:t>
            </a:r>
            <a:endParaRPr lang="en-US" sz="1300" dirty="0"/>
          </a:p>
          <a:p>
            <a:pPr algn="l" marL="168656" indent="-168656">
              <a:lnSpc>
                <a:spcPts val="1820"/>
              </a:lnSpc>
              <a:buSzPct val="100000"/>
              <a:buChar char="•"/>
            </a:pPr>
            <a:r>
              <a:rPr lang="en-US" sz="1300" dirty="0">
                <a:solidFill>
                  <a:srgbClr val="3D4654"/>
                </a:solidFill>
                <a:latin typeface="IBM Plex Sans" pitchFamily="34" charset="0"/>
                <a:ea typeface="IBM Plex Sans" pitchFamily="34" charset="-122"/>
                <a:cs typeface="IBM Plex Sans" pitchFamily="34" charset="-120"/>
              </a:rPr>
              <a:t>Can sit on a server or in the browser tab</a:t>
            </a:r>
            <a:endParaRPr lang="en-US" sz="1300" dirty="0"/>
          </a:p>
        </p:txBody>
      </p:sp>
      <p:pic>
        <p:nvPicPr>
          <p:cNvPr id="24" name="Image 0" descr="connector">    </p:cNvPr>
          <p:cNvPicPr>
            <a:picLocks noChangeAspect="1"/>
          </p:cNvPicPr>
          <p:nvPr/>
        </p:nvPicPr>
        <p:blipFill>
          <a:blip r:embed="rId1"/>
          <a:srcRect l="0" r="0" t="0" b="0"/>
          <a:stretch/>
        </p:blipFill>
        <p:spPr>
          <a:xfrm>
            <a:off x="3429000" y="2152650"/>
            <a:ext cx="1066800" cy="101600"/>
          </a:xfrm>
          <a:prstGeom prst="rect">
            <a:avLst/>
          </a:prstGeom>
        </p:spPr>
      </p:pic>
      <p:pic>
        <p:nvPicPr>
          <p:cNvPr id="25" name="Image 1" descr="connector">    </p:cNvPr>
          <p:cNvPicPr>
            <a:picLocks noChangeAspect="1"/>
          </p:cNvPicPr>
          <p:nvPr/>
        </p:nvPicPr>
        <p:blipFill>
          <a:blip r:embed="rId2"/>
          <a:srcRect l="0" r="0" t="0" b="0"/>
          <a:stretch/>
        </p:blipFill>
        <p:spPr>
          <a:xfrm>
            <a:off x="3429000" y="2990850"/>
            <a:ext cx="1066800" cy="101600"/>
          </a:xfrm>
          <a:prstGeom prst="rect">
            <a:avLst/>
          </a:prstGeom>
        </p:spPr>
      </p:pic>
      <p:pic>
        <p:nvPicPr>
          <p:cNvPr id="26" name="Image 2" descr="connector">    </p:cNvPr>
          <p:cNvPicPr>
            <a:picLocks noChangeAspect="1"/>
          </p:cNvPicPr>
          <p:nvPr/>
        </p:nvPicPr>
        <p:blipFill>
          <a:blip r:embed="rId3"/>
          <a:srcRect l="0" r="0" t="0" b="0"/>
          <a:stretch/>
        </p:blipFill>
        <p:spPr>
          <a:xfrm>
            <a:off x="3429000" y="3829050"/>
            <a:ext cx="1066800" cy="101600"/>
          </a:xfrm>
          <a:prstGeom prst="rect">
            <a:avLst/>
          </a:prstGeom>
        </p:spPr>
      </p:pic>
      <p:pic>
        <p:nvPicPr>
          <p:cNvPr id="27" name="Image 3" descr="connector">    </p:cNvPr>
          <p:cNvPicPr>
            <a:picLocks noChangeAspect="1"/>
          </p:cNvPicPr>
          <p:nvPr/>
        </p:nvPicPr>
        <p:blipFill>
          <a:blip r:embed="rId4"/>
          <a:srcRect l="0" r="0" t="0" b="0"/>
          <a:stretch/>
        </p:blipFill>
        <p:spPr>
          <a:xfrm>
            <a:off x="3429000" y="4667250"/>
            <a:ext cx="1066800" cy="101600"/>
          </a:xfrm>
          <a:prstGeom prst="rect">
            <a:avLst/>
          </a:prstGeom>
        </p:spPr>
      </p:pic>
      <p:pic>
        <p:nvPicPr>
          <p:cNvPr id="28" name="Image 4" descr="connector">    </p:cNvPr>
          <p:cNvPicPr>
            <a:picLocks noChangeAspect="1"/>
          </p:cNvPicPr>
          <p:nvPr/>
        </p:nvPicPr>
        <p:blipFill>
          <a:blip r:embed="rId5"/>
          <a:srcRect l="0" r="0" t="0" b="0"/>
          <a:stretch/>
        </p:blipFill>
        <p:spPr>
          <a:xfrm>
            <a:off x="7061200" y="2933700"/>
            <a:ext cx="1701800" cy="101600"/>
          </a:xfrm>
          <a:prstGeom prst="rect">
            <a:avLst/>
          </a:prstGeom>
        </p:spPr>
      </p:pic>
      <p:pic>
        <p:nvPicPr>
          <p:cNvPr id="29" name="Image 5" descr="connector">    </p:cNvPr>
          <p:cNvPicPr>
            <a:picLocks noChangeAspect="1"/>
          </p:cNvPicPr>
          <p:nvPr/>
        </p:nvPicPr>
        <p:blipFill>
          <a:blip r:embed="rId6"/>
          <a:srcRect l="0" r="0" t="0" b="0"/>
          <a:stretch/>
        </p:blipFill>
        <p:spPr>
          <a:xfrm>
            <a:off x="7061200" y="3886200"/>
            <a:ext cx="1701800" cy="101600"/>
          </a:xfrm>
          <a:prstGeom prst="rect">
            <a:avLst/>
          </a:prstGeom>
        </p:spPr>
      </p:pic>
      <p:sp>
        <p:nvSpPr>
          <p:cNvPr id="30" name="Text 22"/>
          <p:cNvSpPr/>
          <p:nvPr/>
        </p:nvSpPr>
        <p:spPr>
          <a:xfrm>
            <a:off x="7086600" y="2641600"/>
            <a:ext cx="16510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3B6FB6"/>
                </a:solidFill>
                <a:latin typeface="IBM Plex Sans" pitchFamily="34" charset="0"/>
                <a:ea typeface="IBM Plex Sans" pitchFamily="34" charset="-122"/>
                <a:cs typeface="IBM Plex Sans" pitchFamily="34" charset="-120"/>
              </a:rPr>
              <a:t>questions</a:t>
            </a:r>
            <a:endParaRPr lang="en-US" sz="1200" dirty="0"/>
          </a:p>
        </p:txBody>
      </p:sp>
      <p:sp>
        <p:nvSpPr>
          <p:cNvPr id="31" name="Text 23"/>
          <p:cNvSpPr/>
          <p:nvPr/>
        </p:nvSpPr>
        <p:spPr>
          <a:xfrm>
            <a:off x="7086600" y="4025900"/>
            <a:ext cx="1651000" cy="223490"/>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14202E"/>
                </a:solidFill>
                <a:latin typeface="IBM Plex Sans" pitchFamily="34" charset="0"/>
                <a:ea typeface="IBM Plex Sans" pitchFamily="34" charset="-122"/>
                <a:cs typeface="IBM Plex Sans" pitchFamily="34" charset="-120"/>
              </a:rPr>
              <a:t>just the counts</a:t>
            </a:r>
            <a:endParaRPr lang="en-US" sz="1200" dirty="0"/>
          </a:p>
        </p:txBody>
      </p:sp>
      <p:sp>
        <p:nvSpPr>
          <p:cNvPr id="32" name="Text 24"/>
          <p:cNvSpPr/>
          <p:nvPr/>
        </p:nvSpPr>
        <p:spPr>
          <a:xfrm>
            <a:off x="812800" y="5257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Like asking the librarian “How many novels do you have?” instead of carrying the library home.</a:t>
            </a:r>
            <a:endParaRPr lang="en-US" sz="1400" dirty="0"/>
          </a:p>
        </p:txBody>
      </p:sp>
      <p:sp>
        <p:nvSpPr>
          <p:cNvPr id="33" name="Text 25"/>
          <p:cNvSpPr/>
          <p:nvPr/>
        </p:nvSpPr>
        <p:spPr>
          <a:xfrm>
            <a:off x="812800" y="6238280"/>
            <a:ext cx="36300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Fast interactive charts for big data · CSE 578</a:t>
            </a:r>
            <a:endParaRPr lang="en-US" sz="1200" dirty="0"/>
          </a:p>
        </p:txBody>
      </p:sp>
      <p:sp>
        <p:nvSpPr>
          <p:cNvPr id="34" name="Text 26"/>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6FB6"/>
                </a:solidFill>
                <a:latin typeface="IBM Plex Sans" pitchFamily="34" charset="0"/>
                <a:ea typeface="IBM Plex Sans" pitchFamily="34" charset="-122"/>
                <a:cs typeface="IBM Plex Sans" pitchFamily="34" charset="-120"/>
              </a:rPr>
              <a:t>THE IDEA · STEP 1 OF 3</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202E"/>
                </a:solidFill>
                <a:latin typeface="IBM Plex Sans" pitchFamily="34" charset="0"/>
                <a:ea typeface="IBM Plex Sans" pitchFamily="34" charset="-122"/>
                <a:cs typeface="IBM Plex Sans" pitchFamily="34" charset="-120"/>
              </a:rPr>
              <a:t>Each chart is one question</a:t>
            </a:r>
            <a:endParaRPr lang="en-US" sz="3600" dirty="0"/>
          </a:p>
        </p:txBody>
      </p:sp>
      <p:sp>
        <p:nvSpPr>
          <p:cNvPr id="4" name="Text 2"/>
          <p:cNvSpPr/>
          <p:nvPr/>
        </p:nvSpPr>
        <p:spPr>
          <a:xfrm>
            <a:off x="812800" y="1935411"/>
            <a:ext cx="287782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E"/>
                </a:solidFill>
                <a:latin typeface="IBM Plex Sans" pitchFamily="34" charset="0"/>
                <a:ea typeface="IBM Plex Sans" pitchFamily="34" charset="-122"/>
                <a:cs typeface="IBM Plex Sans" pitchFamily="34" charset="-120"/>
              </a:rPr>
              <a:t>In plain words</a:t>
            </a:r>
            <a:endParaRPr lang="en-US" sz="1400" dirty="0"/>
          </a:p>
        </p:txBody>
      </p:sp>
      <p:sp>
        <p:nvSpPr>
          <p:cNvPr id="5" name="Text 3"/>
          <p:cNvSpPr/>
          <p:nvPr/>
        </p:nvSpPr>
        <p:spPr>
          <a:xfrm>
            <a:off x="815975" y="2245916"/>
            <a:ext cx="2787650" cy="1603921"/>
          </a:xfrm>
          <a:prstGeom prst="roundRect">
            <a:avLst>
              <a:gd name="adj" fmla="val 6137"/>
            </a:avLst>
          </a:prstGeom>
          <a:solidFill>
            <a:srgbClr val="FCFBF8"/>
          </a:solidFill>
          <a:ln w="6350">
            <a:solidFill>
              <a:srgbClr val="E2DED3"/>
            </a:solidFill>
            <a:prstDash val="solid"/>
          </a:ln>
        </p:spPr>
        <p:txBody>
          <a:bodyPr wrap="square" lIns="228347" tIns="228347" rIns="160148" bIns="202947" rtlCol="0" anchor="t">
            <a:normAutofit/>
          </a:bodyPr>
          <a:lstStyle/>
          <a:p>
            <a:pPr algn="l" indent="0" marL="0">
              <a:lnSpc>
                <a:spcPts val="2860"/>
              </a:lnSpc>
              <a:buNone/>
            </a:pPr>
            <a:r>
              <a:rPr lang="en-US" sz="2200" b="1" dirty="0">
                <a:solidFill>
                  <a:srgbClr val="14202E"/>
                </a:solidFill>
                <a:latin typeface="IBM Plex Sans" pitchFamily="34" charset="0"/>
                <a:ea typeface="IBM Plex Sans" pitchFamily="34" charset="-122"/>
                <a:cs typeface="IBM Plex Sans" pitchFamily="34" charset="-120"/>
              </a:rPr>
              <a:t>How many items got each star rating?</a:t>
            </a:r>
            <a:endParaRPr lang="en-US" sz="2200" dirty="0"/>
          </a:p>
        </p:txBody>
      </p:sp>
      <p:pic>
        <p:nvPicPr>
          <p:cNvPr id="6" name="Image 0" descr="arrow-right">    </p:cNvPr>
          <p:cNvPicPr>
            <a:picLocks noChangeAspect="1"/>
          </p:cNvPicPr>
          <p:nvPr/>
        </p:nvPicPr>
        <p:blipFill>
          <a:blip r:embed="rId1"/>
          <a:srcRect l="0" r="0" t="0" b="0"/>
          <a:stretch/>
        </p:blipFill>
        <p:spPr>
          <a:xfrm>
            <a:off x="3759200" y="3139132"/>
            <a:ext cx="406400" cy="228600"/>
          </a:xfrm>
          <a:prstGeom prst="rect">
            <a:avLst/>
          </a:prstGeom>
        </p:spPr>
      </p:pic>
      <p:sp>
        <p:nvSpPr>
          <p:cNvPr id="7" name="Text 4"/>
          <p:cNvSpPr/>
          <p:nvPr/>
        </p:nvSpPr>
        <p:spPr>
          <a:xfrm>
            <a:off x="4318000" y="1935411"/>
            <a:ext cx="366268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E"/>
                </a:solidFill>
                <a:latin typeface="IBM Plex Sans" pitchFamily="34" charset="0"/>
                <a:ea typeface="IBM Plex Sans" pitchFamily="34" charset="-122"/>
                <a:cs typeface="IBM Plex Sans" pitchFamily="34" charset="-120"/>
              </a:rPr>
              <a:t>In SQL, simplified</a:t>
            </a:r>
            <a:endParaRPr lang="en-US" sz="1400" dirty="0"/>
          </a:p>
        </p:txBody>
      </p:sp>
      <p:sp>
        <p:nvSpPr>
          <p:cNvPr id="8" name="Text 5"/>
          <p:cNvSpPr/>
          <p:nvPr/>
        </p:nvSpPr>
        <p:spPr>
          <a:xfrm>
            <a:off x="4318000" y="2242741"/>
            <a:ext cx="3556000" cy="1361380"/>
          </a:xfrm>
          <a:prstGeom prst="roundRect">
            <a:avLst>
              <a:gd name="adj" fmla="val 7463"/>
            </a:avLst>
          </a:prstGeom>
          <a:solidFill>
            <a:srgbClr val="14202E"/>
          </a:solidFill>
          <a:ln/>
        </p:spPr>
        <p:txBody>
          <a:bodyPr wrap="square" lIns="224242" tIns="224242" rIns="132802" bIns="198842" rtlCol="0" anchor="t">
            <a:normAutofit/>
          </a:bodyPr>
          <a:lstStyle/>
          <a:p>
            <a:pPr algn="l" indent="0" marL="0">
              <a:lnSpc>
                <a:spcPts val="2240"/>
              </a:lnSpc>
              <a:buNone/>
            </a:pPr>
            <a:r>
              <a:rPr lang="en-US" sz="1400" dirty="0">
                <a:solidFill>
                  <a:srgbClr val="8FB2E3"/>
                </a:solidFill>
                <a:latin typeface="JetBrains Mono" pitchFamily="49" charset="0"/>
                <a:ea typeface="JetBrains Mono" pitchFamily="49" charset="-122"/>
                <a:cs typeface="JetBrains Mono" pitchFamily="49" charset="-120"/>
              </a:rPr>
              <a:t>SELECT</a:t>
            </a:r>
            <a:r>
              <a:rPr lang="en-US" sz="1400" dirty="0">
                <a:solidFill>
                  <a:srgbClr val="E6EDF5"/>
                </a:solidFill>
                <a:latin typeface="JetBrains Mono" pitchFamily="49" charset="0"/>
                <a:ea typeface="JetBrains Mono" pitchFamily="49" charset="-122"/>
                <a:cs typeface="JetBrains Mono" pitchFamily="49" charset="-120"/>
              </a:rPr>
              <a:t> stars, count(*)</a:t>
            </a:r>
            <a:endParaRPr lang="en-US" sz="1400" dirty="0"/>
          </a:p>
          <a:p>
            <a:pPr algn="l" indent="0" marL="0">
              <a:lnSpc>
                <a:spcPts val="2240"/>
              </a:lnSpc>
              <a:buNone/>
            </a:pPr>
            <a:r>
              <a:rPr lang="en-US" sz="1400" dirty="0">
                <a:solidFill>
                  <a:srgbClr val="8FB2E3"/>
                </a:solidFill>
                <a:latin typeface="JetBrains Mono" pitchFamily="49" charset="0"/>
                <a:ea typeface="JetBrains Mono" pitchFamily="49" charset="-122"/>
                <a:cs typeface="JetBrains Mono" pitchFamily="49" charset="-120"/>
              </a:rPr>
              <a:t>FROM</a:t>
            </a:r>
            <a:r>
              <a:rPr lang="en-US" sz="1400" dirty="0">
                <a:solidFill>
                  <a:srgbClr val="E6EDF5"/>
                </a:solidFill>
                <a:latin typeface="JetBrains Mono" pitchFamily="49" charset="0"/>
                <a:ea typeface="JetBrains Mono" pitchFamily="49" charset="-122"/>
                <a:cs typeface="JetBrains Mono" pitchFamily="49" charset="-120"/>
              </a:rPr>
              <a:t> orders</a:t>
            </a:r>
            <a:endParaRPr lang="en-US" sz="1400" dirty="0"/>
          </a:p>
          <a:p>
            <a:pPr algn="l" indent="0" marL="0">
              <a:lnSpc>
                <a:spcPts val="2240"/>
              </a:lnSpc>
              <a:buNone/>
            </a:pPr>
            <a:r>
              <a:rPr lang="en-US" sz="1400" dirty="0">
                <a:solidFill>
                  <a:srgbClr val="8FB2E3"/>
                </a:solidFill>
                <a:latin typeface="JetBrains Mono" pitchFamily="49" charset="0"/>
                <a:ea typeface="JetBrains Mono" pitchFamily="49" charset="-122"/>
                <a:cs typeface="JetBrains Mono" pitchFamily="49" charset="-120"/>
              </a:rPr>
              <a:t>GROUP BY</a:t>
            </a:r>
            <a:r>
              <a:rPr lang="en-US" sz="1400" dirty="0">
                <a:solidFill>
                  <a:srgbClr val="E6EDF5"/>
                </a:solidFill>
                <a:latin typeface="JetBrains Mono" pitchFamily="49" charset="0"/>
                <a:ea typeface="JetBrains Mono" pitchFamily="49" charset="-122"/>
                <a:cs typeface="JetBrains Mono" pitchFamily="49" charset="-120"/>
              </a:rPr>
              <a:t> stars</a:t>
            </a:r>
            <a:endParaRPr lang="en-US" sz="1400" dirty="0"/>
          </a:p>
        </p:txBody>
      </p:sp>
      <p:pic>
        <p:nvPicPr>
          <p:cNvPr id="9" name="Image 1" descr="arrow-right">    </p:cNvPr>
          <p:cNvPicPr>
            <a:picLocks noChangeAspect="1"/>
          </p:cNvPicPr>
          <p:nvPr/>
        </p:nvPicPr>
        <p:blipFill>
          <a:blip r:embed="rId2"/>
          <a:srcRect l="0" r="0" t="0" b="0"/>
          <a:stretch/>
        </p:blipFill>
        <p:spPr>
          <a:xfrm>
            <a:off x="8026400" y="3139132"/>
            <a:ext cx="406400" cy="228600"/>
          </a:xfrm>
          <a:prstGeom prst="rect">
            <a:avLst/>
          </a:prstGeom>
        </p:spPr>
      </p:pic>
      <p:sp>
        <p:nvSpPr>
          <p:cNvPr id="10" name="Text 6"/>
          <p:cNvSpPr/>
          <p:nvPr/>
        </p:nvSpPr>
        <p:spPr>
          <a:xfrm>
            <a:off x="8585200" y="1935411"/>
            <a:ext cx="287782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E"/>
                </a:solidFill>
                <a:latin typeface="IBM Plex Sans" pitchFamily="34" charset="0"/>
                <a:ea typeface="IBM Plex Sans" pitchFamily="34" charset="-122"/>
                <a:cs typeface="IBM Plex Sans" pitchFamily="34" charset="-120"/>
              </a:rPr>
              <a:t>The answer</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597900" y="2255441"/>
          <a:ext cx="2781300" cy="2316063"/>
        </p:xfrm>
        <a:graphic>
          <a:graphicData uri="http://schemas.openxmlformats.org/drawingml/2006/table">
            <a:tbl>
              <a:tblPr/>
              <a:tblGrid>
                <a:gridCol w="1112520"/>
                <a:gridCol w="1668780"/>
              </a:tblGrid>
              <a:tr h="386011">
                <a:tc>
                  <a:txBody>
                    <a:bodyPr/>
                    <a:lstStyle/>
                    <a:p>
                      <a:pPr indent="0" marL="0">
                        <a:lnSpc>
                          <a:spcPts val="1960"/>
                        </a:lnSpc>
                        <a:buNone/>
                      </a:pPr>
                      <a:r>
                        <a:rPr lang="en-US" sz="1400" b="1" dirty="0">
                          <a:solidFill>
                            <a:srgbClr val="F6F4EE"/>
                          </a:solidFill>
                          <a:latin typeface="IBM Plex Sans" pitchFamily="34" charset="0"/>
                          <a:ea typeface="IBM Plex Sans" pitchFamily="34" charset="-122"/>
                          <a:cs typeface="IBM Plex Sans" pitchFamily="34" charset="-120"/>
                        </a:rPr>
                        <a:t>Stars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c>
                  <a:txBody>
                    <a:bodyPr/>
                    <a:lstStyle/>
                    <a:p>
                      <a:pPr algn="r" indent="0" marL="0">
                        <a:lnSpc>
                          <a:spcPts val="1960"/>
                        </a:lnSpc>
                        <a:buNone/>
                      </a:pPr>
                      <a:r>
                        <a:rPr lang="en-US" sz="1400" b="1" dirty="0">
                          <a:solidFill>
                            <a:srgbClr val="F6F4EE"/>
                          </a:solidFill>
                          <a:latin typeface="IBM Plex Sans" pitchFamily="34" charset="0"/>
                          <a:ea typeface="IBM Plex Sans" pitchFamily="34" charset="-122"/>
                          <a:cs typeface="IBM Plex Sans" pitchFamily="34" charset="-120"/>
                        </a:rPr>
                        <a:t>Items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r>
              <a:tr h="386011">
                <a:tc>
                  <a:txBody>
                    <a:bodyPr/>
                    <a:lstStyle/>
                    <a:p>
                      <a:pPr indent="0" marL="0">
                        <a:lnSpc>
                          <a:spcPts val="1960"/>
                        </a:lnSpc>
                        <a:buNone/>
                      </a:pPr>
                      <a:r>
                        <a:rPr lang="en-US" sz="1400" dirty="0">
                          <a:solidFill>
                            <a:srgbClr val="14202E"/>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02E"/>
                          </a:solidFill>
                          <a:latin typeface="IBM Plex Sans" pitchFamily="34" charset="0"/>
                          <a:ea typeface="IBM Plex Sans" pitchFamily="34" charset="-122"/>
                          <a:cs typeface="IBM Plex Sans" pitchFamily="34" charset="-120"/>
                        </a:rPr>
                        <a:t>11,783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indent="0" marL="0">
                        <a:lnSpc>
                          <a:spcPts val="1960"/>
                        </a:lnSpc>
                        <a:buNone/>
                      </a:pPr>
                      <a:r>
                        <a:rPr lang="en-US" sz="1400" dirty="0">
                          <a:solidFill>
                            <a:srgbClr val="14202E"/>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algn="r" indent="0" marL="0">
                        <a:lnSpc>
                          <a:spcPts val="1960"/>
                        </a:lnSpc>
                        <a:buNone/>
                      </a:pPr>
                      <a:r>
                        <a:rPr lang="en-US" sz="1400" dirty="0">
                          <a:solidFill>
                            <a:srgbClr val="14202E"/>
                          </a:solidFill>
                          <a:latin typeface="IBM Plex Sans" pitchFamily="34" charset="0"/>
                          <a:ea typeface="IBM Plex Sans" pitchFamily="34" charset="-122"/>
                          <a:cs typeface="IBM Plex Sans" pitchFamily="34" charset="-120"/>
                        </a:rPr>
                        <a:t>3,396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86011">
                <a:tc>
                  <a:txBody>
                    <a:bodyPr/>
                    <a:lstStyle/>
                    <a:p>
                      <a:pPr indent="0" marL="0">
                        <a:lnSpc>
                          <a:spcPts val="1960"/>
                        </a:lnSpc>
                        <a:buNone/>
                      </a:pPr>
                      <a:r>
                        <a:rPr lang="en-US" sz="1400" dirty="0">
                          <a:solidFill>
                            <a:srgbClr val="14202E"/>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02E"/>
                          </a:solidFill>
                          <a:latin typeface="IBM Plex Sans" pitchFamily="34" charset="0"/>
                          <a:ea typeface="IBM Plex Sans" pitchFamily="34" charset="-122"/>
                          <a:cs typeface="IBM Plex Sans" pitchFamily="34" charset="-120"/>
                        </a:rPr>
                        <a:t>8,676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indent="0" marL="0">
                        <a:lnSpc>
                          <a:spcPts val="1960"/>
                        </a:lnSpc>
                        <a:buNone/>
                      </a:pPr>
                      <a:r>
                        <a:rPr lang="en-US" sz="1400" dirty="0">
                          <a:solidFill>
                            <a:srgbClr val="14202E"/>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algn="r" indent="0" marL="0">
                        <a:lnSpc>
                          <a:spcPts val="1960"/>
                        </a:lnSpc>
                        <a:buNone/>
                      </a:pPr>
                      <a:r>
                        <a:rPr lang="en-US" sz="1400" dirty="0">
                          <a:solidFill>
                            <a:srgbClr val="14202E"/>
                          </a:solidFill>
                          <a:latin typeface="IBM Plex Sans" pitchFamily="34" charset="0"/>
                          <a:ea typeface="IBM Plex Sans" pitchFamily="34" charset="-122"/>
                          <a:cs typeface="IBM Plex Sans" pitchFamily="34" charset="-120"/>
                        </a:rPr>
                        <a:t>21,521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86011">
                <a:tc>
                  <a:txBody>
                    <a:bodyPr/>
                    <a:lstStyle/>
                    <a:p>
                      <a:pPr indent="0" marL="0">
                        <a:lnSpc>
                          <a:spcPts val="1960"/>
                        </a:lnSpc>
                        <a:buNone/>
                      </a:pPr>
                      <a:r>
                        <a:rPr lang="en-US" sz="1400" dirty="0">
                          <a:solidFill>
                            <a:srgbClr val="14202E"/>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02E"/>
                          </a:solidFill>
                          <a:latin typeface="IBM Plex Sans" pitchFamily="34" charset="0"/>
                          <a:ea typeface="IBM Plex Sans" pitchFamily="34" charset="-122"/>
                          <a:cs typeface="IBM Plex Sans" pitchFamily="34" charset="-120"/>
                        </a:rPr>
                        <a:t>65,088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bl>
          </a:graphicData>
        </a:graphic>
      </p:graphicFrame>
      <p:sp>
        <p:nvSpPr>
          <p:cNvPr id="12" name="Text 7"/>
          <p:cNvSpPr/>
          <p:nvPr/>
        </p:nvSpPr>
        <p:spPr>
          <a:xfrm>
            <a:off x="812800" y="4876304"/>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654"/>
                </a:solidFill>
                <a:latin typeface="IBM Plex Sans" pitchFamily="34" charset="0"/>
                <a:ea typeface="IBM Plex Sans" pitchFamily="34" charset="-122"/>
                <a:cs typeface="IBM Plex Sans" pitchFamily="34" charset="-120"/>
              </a:rPr>
              <a:t>The answer is </a:t>
            </a:r>
            <a:r>
              <a:rPr lang="en-US" sz="1600" b="1" dirty="0">
                <a:solidFill>
                  <a:srgbClr val="3D4654"/>
                </a:solidFill>
                <a:latin typeface="IBM Plex Sans" pitchFamily="34" charset="0"/>
                <a:ea typeface="IBM Plex Sans" pitchFamily="34" charset="-122"/>
                <a:cs typeface="IBM Plex Sans" pitchFamily="34" charset="-120"/>
              </a:rPr>
              <a:t>5 numbers</a:t>
            </a:r>
            <a:r>
              <a:rPr lang="en-US" sz="1600" dirty="0">
                <a:solidFill>
                  <a:srgbClr val="3D4654"/>
                </a:solidFill>
                <a:latin typeface="IBM Plex Sans" pitchFamily="34" charset="0"/>
                <a:ea typeface="IBM Plex Sans" pitchFamily="34" charset="-122"/>
                <a:cs typeface="IBM Plex Sans" pitchFamily="34" charset="-120"/>
              </a:rPr>
              <a:t>, whether the table has 100 thousand rows or 100 million.</a:t>
            </a:r>
            <a:endParaRPr lang="en-US" sz="1600" dirty="0"/>
          </a:p>
        </p:txBody>
      </p:sp>
      <p:sp>
        <p:nvSpPr>
          <p:cNvPr id="13" name="Text 8"/>
          <p:cNvSpPr/>
          <p:nvPr/>
        </p:nvSpPr>
        <p:spPr>
          <a:xfrm>
            <a:off x="812800" y="6238280"/>
            <a:ext cx="36300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Fast interactive charts for big data · CSE 578</a:t>
            </a:r>
            <a:endParaRPr lang="en-US" sz="1200" dirty="0"/>
          </a:p>
        </p:txBody>
      </p:sp>
      <p:sp>
        <p:nvSpPr>
          <p:cNvPr id="14" name="Text 9"/>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6FB6"/>
                </a:solidFill>
                <a:latin typeface="IBM Plex Sans" pitchFamily="34" charset="0"/>
                <a:ea typeface="IBM Plex Sans" pitchFamily="34" charset="-122"/>
                <a:cs typeface="IBM Plex Sans" pitchFamily="34" charset="-120"/>
              </a:rPr>
              <a:t>THE IDEA · STEP 2 OF 3</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202E"/>
                </a:solidFill>
                <a:latin typeface="IBM Plex Sans" pitchFamily="34" charset="0"/>
                <a:ea typeface="IBM Plex Sans" pitchFamily="34" charset="-122"/>
                <a:cs typeface="IBM Plex Sans" pitchFamily="34" charset="-120"/>
              </a:rPr>
              <a:t>A selection becomes a filter</a:t>
            </a:r>
            <a:endParaRPr lang="en-US" sz="3600" dirty="0"/>
          </a:p>
        </p:txBody>
      </p:sp>
      <p:sp>
        <p:nvSpPr>
          <p:cNvPr id="4" name="Shape 2"/>
          <p:cNvSpPr/>
          <p:nvPr/>
        </p:nvSpPr>
        <p:spPr>
          <a:xfrm>
            <a:off x="815975" y="1938586"/>
            <a:ext cx="3041650" cy="2033141"/>
          </a:xfrm>
          <a:prstGeom prst="roundRect">
            <a:avLst>
              <a:gd name="adj" fmla="val 4841"/>
            </a:avLst>
          </a:prstGeom>
          <a:solidFill>
            <a:srgbClr val="FCFBF8"/>
          </a:solidFill>
          <a:ln w="6350">
            <a:solidFill>
              <a:srgbClr val="E2DED3"/>
            </a:solidFill>
            <a:prstDash val="solid"/>
          </a:ln>
        </p:spPr>
      </p:sp>
      <p:sp>
        <p:nvSpPr>
          <p:cNvPr id="5" name="Text 3"/>
          <p:cNvSpPr/>
          <p:nvPr/>
        </p:nvSpPr>
        <p:spPr>
          <a:xfrm>
            <a:off x="1073150" y="2195761"/>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4202E"/>
          </a:solidFill>
          <a:ln/>
        </p:spPr>
        <p:txBody>
          <a:bodyPr wrap="square" lIns="0" tIns="0" rIns="0" bIns="0" rtlCol="0" anchor="t">
            <a:normAutofit/>
          </a:bodyPr>
          <a:lstStyle/>
          <a:p>
            <a:pPr algn="ctr" indent="0" marL="0">
              <a:lnSpc>
                <a:spcPts val="2405"/>
              </a:lnSpc>
              <a:buNone/>
            </a:pPr>
            <a:r>
              <a:rPr lang="en-US" sz="1300" b="1" dirty="0">
                <a:solidFill>
                  <a:srgbClr val="F6F4EE"/>
                </a:solidFill>
                <a:latin typeface="IBM Plex Sans" pitchFamily="34" charset="0"/>
                <a:ea typeface="IBM Plex Sans" pitchFamily="34" charset="-122"/>
                <a:cs typeface="IBM Plex Sans" pitchFamily="34" charset="-120"/>
              </a:rPr>
              <a:t>1</a:t>
            </a:r>
            <a:endParaRPr lang="en-US" sz="1300" dirty="0"/>
          </a:p>
        </p:txBody>
      </p:sp>
      <p:sp>
        <p:nvSpPr>
          <p:cNvPr id="6" name="Text 4"/>
          <p:cNvSpPr/>
          <p:nvPr/>
        </p:nvSpPr>
        <p:spPr>
          <a:xfrm>
            <a:off x="1073150" y="2602161"/>
            <a:ext cx="2603119"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02E"/>
                </a:solidFill>
                <a:latin typeface="IBM Plex Sans" pitchFamily="34" charset="0"/>
                <a:ea typeface="IBM Plex Sans" pitchFamily="34" charset="-122"/>
                <a:cs typeface="IBM Plex Sans" pitchFamily="34" charset="-120"/>
              </a:rPr>
              <a:t>You drag on the timeline</a:t>
            </a:r>
            <a:endParaRPr lang="en-US" sz="1600" dirty="0"/>
          </a:p>
        </p:txBody>
      </p:sp>
      <p:sp>
        <p:nvSpPr>
          <p:cNvPr id="7" name="Text 5"/>
          <p:cNvSpPr/>
          <p:nvPr/>
        </p:nvSpPr>
        <p:spPr>
          <a:xfrm>
            <a:off x="1073150" y="2967881"/>
            <a:ext cx="2603119"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You select Nov 2017 to Mar 2018.</a:t>
            </a:r>
            <a:endParaRPr lang="en-US" sz="1400" dirty="0"/>
          </a:p>
        </p:txBody>
      </p:sp>
      <p:pic>
        <p:nvPicPr>
          <p:cNvPr id="8" name="Image 0" descr="arrow-right">    </p:cNvPr>
          <p:cNvPicPr>
            <a:picLocks noChangeAspect="1"/>
          </p:cNvPicPr>
          <p:nvPr/>
        </p:nvPicPr>
        <p:blipFill>
          <a:blip r:embed="rId1"/>
          <a:srcRect l="0" r="0" t="0" b="0"/>
          <a:stretch/>
        </p:blipFill>
        <p:spPr>
          <a:xfrm>
            <a:off x="4013200" y="2840831"/>
            <a:ext cx="406400" cy="228600"/>
          </a:xfrm>
          <a:prstGeom prst="rect">
            <a:avLst/>
          </a:prstGeom>
        </p:spPr>
      </p:pic>
      <p:sp>
        <p:nvSpPr>
          <p:cNvPr id="9" name="Shape 6"/>
          <p:cNvSpPr/>
          <p:nvPr/>
        </p:nvSpPr>
        <p:spPr>
          <a:xfrm>
            <a:off x="4575175" y="1938586"/>
            <a:ext cx="3041650" cy="2033141"/>
          </a:xfrm>
          <a:prstGeom prst="roundRect">
            <a:avLst>
              <a:gd name="adj" fmla="val 4841"/>
            </a:avLst>
          </a:prstGeom>
          <a:solidFill>
            <a:srgbClr val="FCFBF8"/>
          </a:solidFill>
          <a:ln w="6350">
            <a:solidFill>
              <a:srgbClr val="E2DED3"/>
            </a:solidFill>
            <a:prstDash val="solid"/>
          </a:ln>
        </p:spPr>
      </p:sp>
      <p:sp>
        <p:nvSpPr>
          <p:cNvPr id="10" name="Text 7"/>
          <p:cNvSpPr/>
          <p:nvPr/>
        </p:nvSpPr>
        <p:spPr>
          <a:xfrm>
            <a:off x="4832350" y="2195761"/>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4202E"/>
          </a:solidFill>
          <a:ln/>
        </p:spPr>
        <p:txBody>
          <a:bodyPr wrap="square" lIns="0" tIns="0" rIns="0" bIns="0" rtlCol="0" anchor="t">
            <a:normAutofit/>
          </a:bodyPr>
          <a:lstStyle/>
          <a:p>
            <a:pPr algn="ctr" indent="0" marL="0">
              <a:lnSpc>
                <a:spcPts val="2405"/>
              </a:lnSpc>
              <a:buNone/>
            </a:pPr>
            <a:r>
              <a:rPr lang="en-US" sz="1300" b="1" dirty="0">
                <a:solidFill>
                  <a:srgbClr val="F6F4EE"/>
                </a:solidFill>
                <a:latin typeface="IBM Plex Sans" pitchFamily="34" charset="0"/>
                <a:ea typeface="IBM Plex Sans" pitchFamily="34" charset="-122"/>
                <a:cs typeface="IBM Plex Sans" pitchFamily="34" charset="-120"/>
              </a:rPr>
              <a:t>2</a:t>
            </a:r>
            <a:endParaRPr lang="en-US" sz="1300" dirty="0"/>
          </a:p>
        </p:txBody>
      </p:sp>
      <p:sp>
        <p:nvSpPr>
          <p:cNvPr id="11" name="Text 8"/>
          <p:cNvSpPr/>
          <p:nvPr/>
        </p:nvSpPr>
        <p:spPr>
          <a:xfrm>
            <a:off x="4832350" y="2602161"/>
            <a:ext cx="2603119"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02E"/>
                </a:solidFill>
                <a:latin typeface="IBM Plex Sans" pitchFamily="34" charset="0"/>
                <a:ea typeface="IBM Plex Sans" pitchFamily="34" charset="-122"/>
                <a:cs typeface="IBM Plex Sans" pitchFamily="34" charset="-120"/>
              </a:rPr>
              <a:t>Mosaic writes a filter</a:t>
            </a:r>
            <a:endParaRPr lang="en-US" sz="1600" dirty="0"/>
          </a:p>
        </p:txBody>
      </p:sp>
      <p:sp>
        <p:nvSpPr>
          <p:cNvPr id="12" name="Text 9"/>
          <p:cNvSpPr/>
          <p:nvPr/>
        </p:nvSpPr>
        <p:spPr>
          <a:xfrm>
            <a:off x="4832350" y="2967881"/>
            <a:ext cx="2603119"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B6FB6"/>
                </a:solidFill>
                <a:latin typeface="JetBrains Mono" pitchFamily="49" charset="0"/>
                <a:ea typeface="JetBrains Mono" pitchFamily="49" charset="-122"/>
                <a:cs typeface="JetBrains Mono" pitchFamily="49" charset="-120"/>
              </a:rPr>
              <a:t>WHERE week BETWEEN</a:t>
            </a:r>
            <a:endParaRPr lang="en-US" sz="1300" dirty="0"/>
          </a:p>
          <a:p>
            <a:pPr algn="l" indent="0" marL="0">
              <a:lnSpc>
                <a:spcPts val="1950"/>
              </a:lnSpc>
              <a:buNone/>
            </a:pPr>
            <a:r>
              <a:rPr lang="en-US" sz="1300" dirty="0">
                <a:solidFill>
                  <a:srgbClr val="3B6FB6"/>
                </a:solidFill>
                <a:latin typeface="JetBrains Mono" pitchFamily="49" charset="0"/>
                <a:ea typeface="JetBrains Mono" pitchFamily="49" charset="-122"/>
                <a:cs typeface="JetBrains Mono" pitchFamily="49" charset="-120"/>
              </a:rPr>
              <a:t>'2017-11' AND '2018-03'</a:t>
            </a:r>
            <a:endParaRPr lang="en-US" sz="1300" dirty="0"/>
          </a:p>
        </p:txBody>
      </p:sp>
      <p:pic>
        <p:nvPicPr>
          <p:cNvPr id="13" name="Image 1" descr="arrow-right">    </p:cNvPr>
          <p:cNvPicPr>
            <a:picLocks noChangeAspect="1"/>
          </p:cNvPicPr>
          <p:nvPr/>
        </p:nvPicPr>
        <p:blipFill>
          <a:blip r:embed="rId2"/>
          <a:srcRect l="0" r="0" t="0" b="0"/>
          <a:stretch/>
        </p:blipFill>
        <p:spPr>
          <a:xfrm>
            <a:off x="7772400" y="2840831"/>
            <a:ext cx="406400" cy="228600"/>
          </a:xfrm>
          <a:prstGeom prst="rect">
            <a:avLst/>
          </a:prstGeom>
        </p:spPr>
      </p:pic>
      <p:sp>
        <p:nvSpPr>
          <p:cNvPr id="14" name="Shape 10"/>
          <p:cNvSpPr/>
          <p:nvPr/>
        </p:nvSpPr>
        <p:spPr>
          <a:xfrm>
            <a:off x="8334375" y="1938586"/>
            <a:ext cx="3041650" cy="2033141"/>
          </a:xfrm>
          <a:prstGeom prst="roundRect">
            <a:avLst>
              <a:gd name="adj" fmla="val 4841"/>
            </a:avLst>
          </a:prstGeom>
          <a:solidFill>
            <a:srgbClr val="FCFBF8"/>
          </a:solidFill>
          <a:ln w="6350">
            <a:solidFill>
              <a:srgbClr val="E2DED3"/>
            </a:solidFill>
            <a:prstDash val="solid"/>
          </a:ln>
        </p:spPr>
      </p:sp>
      <p:sp>
        <p:nvSpPr>
          <p:cNvPr id="15" name="Text 11"/>
          <p:cNvSpPr/>
          <p:nvPr/>
        </p:nvSpPr>
        <p:spPr>
          <a:xfrm>
            <a:off x="8591550" y="2195761"/>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4202E"/>
          </a:solidFill>
          <a:ln/>
        </p:spPr>
        <p:txBody>
          <a:bodyPr wrap="square" lIns="0" tIns="0" rIns="0" bIns="0" rtlCol="0" anchor="t">
            <a:normAutofit/>
          </a:bodyPr>
          <a:lstStyle/>
          <a:p>
            <a:pPr algn="ctr" indent="0" marL="0">
              <a:lnSpc>
                <a:spcPts val="2405"/>
              </a:lnSpc>
              <a:buNone/>
            </a:pPr>
            <a:r>
              <a:rPr lang="en-US" sz="1300" b="1" dirty="0">
                <a:solidFill>
                  <a:srgbClr val="F6F4EE"/>
                </a:solidFill>
                <a:latin typeface="IBM Plex Sans" pitchFamily="34" charset="0"/>
                <a:ea typeface="IBM Plex Sans" pitchFamily="34" charset="-122"/>
                <a:cs typeface="IBM Plex Sans" pitchFamily="34" charset="-120"/>
              </a:rPr>
              <a:t>3</a:t>
            </a:r>
            <a:endParaRPr lang="en-US" sz="1300" dirty="0"/>
          </a:p>
        </p:txBody>
      </p:sp>
      <p:sp>
        <p:nvSpPr>
          <p:cNvPr id="16" name="Text 12"/>
          <p:cNvSpPr/>
          <p:nvPr/>
        </p:nvSpPr>
        <p:spPr>
          <a:xfrm>
            <a:off x="8591550" y="2602161"/>
            <a:ext cx="278130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02E"/>
                </a:solidFill>
                <a:latin typeface="IBM Plex Sans" pitchFamily="34" charset="0"/>
                <a:ea typeface="IBM Plex Sans" pitchFamily="34" charset="-122"/>
                <a:cs typeface="IBM Plex Sans" pitchFamily="34" charset="-120"/>
              </a:rPr>
              <a:t>The other charts ask again</a:t>
            </a:r>
            <a:endParaRPr lang="en-US" sz="1600" dirty="0"/>
          </a:p>
        </p:txBody>
      </p:sp>
      <p:sp>
        <p:nvSpPr>
          <p:cNvPr id="17" name="Text 13"/>
          <p:cNvSpPr/>
          <p:nvPr/>
        </p:nvSpPr>
        <p:spPr>
          <a:xfrm>
            <a:off x="8591550" y="2967881"/>
            <a:ext cx="2603119"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Each one re-asks its own question with the filter added, then redraws.</a:t>
            </a:r>
            <a:endParaRPr lang="en-US" sz="1400" dirty="0"/>
          </a:p>
        </p:txBody>
      </p:sp>
      <p:sp>
        <p:nvSpPr>
          <p:cNvPr id="18" name="Text 14"/>
          <p:cNvSpPr/>
          <p:nvPr/>
        </p:nvSpPr>
        <p:spPr>
          <a:xfrm>
            <a:off x="812800" y="4279702"/>
            <a:ext cx="10566400" cy="853380"/>
          </a:xfrm>
          <a:prstGeom prst="roundRect">
            <a:avLst>
              <a:gd name="adj" fmla="val 8929"/>
            </a:avLst>
          </a:prstGeom>
          <a:solidFill>
            <a:srgbClr val="E8EEF7"/>
          </a:solidFill>
          <a:ln/>
        </p:spPr>
        <p:txBody>
          <a:bodyPr wrap="square" lIns="244382" tIns="155482" rIns="0" bIns="130082"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Crossfilter</a:t>
            </a:r>
            <a:r>
              <a:rPr lang="en-US" sz="1400" dirty="0">
                <a:solidFill>
                  <a:srgbClr val="14202E"/>
                </a:solidFill>
                <a:latin typeface="IBM Plex Sans" pitchFamily="34" charset="0"/>
                <a:ea typeface="IBM Plex Sans" pitchFamily="34" charset="-122"/>
                <a:cs typeface="IBM Plex Sans" pitchFamily="34" charset="-120"/>
              </a:rPr>
              <a:t>: each chart is filtered by the other charts' selections but not by its own, so the chart you drag on keeps showing everything.</a:t>
            </a:r>
            <a:endParaRPr lang="en-US" sz="1400" dirty="0"/>
          </a:p>
        </p:txBody>
      </p:sp>
      <p:sp>
        <p:nvSpPr>
          <p:cNvPr id="19" name="Shape 15"/>
          <p:cNvSpPr/>
          <p:nvPr/>
        </p:nvSpPr>
        <p:spPr>
          <a:xfrm>
            <a:off x="812800" y="4279702"/>
            <a:ext cx="10566400" cy="853380"/>
          </a:xfrm>
          <a:custGeom>
            <a:avLst/>
            <a:gdLst/>
            <a:ahLst/>
            <a:cxnLst/>
            <a:rect l="l" t="t" r="r" b="b"/>
            <a:pathLst>
              <a:path w="10566400" h="853380">
                <a:moveTo>
                  <a:pt x="76200" y="853380"/>
                </a:moveTo>
                <a:lnTo>
                  <a:pt x="76200" y="853380"/>
                </a:lnTo>
                <a:arcTo hR="76200" wR="76200" stAng="5400000" swAng="5400000"/>
                <a:lnTo>
                  <a:pt x="0" y="76200"/>
                </a:lnTo>
                <a:arcTo hR="76200" wR="76200" stAng="10800000" swAng="5400000"/>
                <a:lnTo>
                  <a:pt x="76200" y="0"/>
                </a:lnTo>
                <a:arcTo hR="76200" wR="38100" stAng="16200000" swAng="-5400000"/>
                <a:lnTo>
                  <a:pt x="38100" y="777180"/>
                </a:lnTo>
                <a:arcTo hR="76200" wR="38100" stAng="10800000" swAng="-5400000"/>
                <a:close/>
              </a:path>
            </a:pathLst>
          </a:custGeom>
          <a:solidFill>
            <a:srgbClr val="3B6FB6"/>
          </a:solidFill>
          <a:ln/>
        </p:spPr>
      </p:sp>
      <p:sp>
        <p:nvSpPr>
          <p:cNvPr id="20" name="Text 16"/>
          <p:cNvSpPr/>
          <p:nvPr/>
        </p:nvSpPr>
        <p:spPr>
          <a:xfrm>
            <a:off x="812800" y="6238280"/>
            <a:ext cx="36300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Fast interactive charts for big data · CSE 578</a:t>
            </a:r>
            <a:endParaRPr lang="en-US" sz="1200" dirty="0"/>
          </a:p>
        </p:txBody>
      </p:sp>
      <p:sp>
        <p:nvSpPr>
          <p:cNvPr id="21" name="Text 17"/>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6FB6"/>
                </a:solidFill>
                <a:latin typeface="IBM Plex Sans" pitchFamily="34" charset="0"/>
                <a:ea typeface="IBM Plex Sans" pitchFamily="34" charset="-122"/>
                <a:cs typeface="IBM Plex Sans" pitchFamily="34" charset="-120"/>
              </a:rPr>
              <a:t>THE IDEA · STEP 3 OF 3</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202E"/>
                </a:solidFill>
                <a:latin typeface="IBM Plex Sans" pitchFamily="34" charset="0"/>
                <a:ea typeface="IBM Plex Sans" pitchFamily="34" charset="-122"/>
                <a:cs typeface="IBM Plex Sans" pitchFamily="34" charset="-120"/>
              </a:rPr>
              <a:t>Prepare summaries in advance</a:t>
            </a:r>
            <a:endParaRPr lang="en-US" sz="3600" dirty="0"/>
          </a:p>
        </p:txBody>
      </p:sp>
      <p:sp>
        <p:nvSpPr>
          <p:cNvPr id="4" name="Text 2"/>
          <p:cNvSpPr/>
          <p:nvPr/>
        </p:nvSpPr>
        <p:spPr>
          <a:xfrm>
            <a:off x="812800" y="1935411"/>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4202E"/>
          </a:solidFill>
          <a:ln/>
        </p:spPr>
        <p:txBody>
          <a:bodyPr wrap="square" lIns="0" tIns="0" rIns="0" bIns="0" rtlCol="0" anchor="t">
            <a:normAutofit/>
          </a:bodyPr>
          <a:lstStyle/>
          <a:p>
            <a:pPr algn="ctr" indent="0" marL="0">
              <a:lnSpc>
                <a:spcPts val="2405"/>
              </a:lnSpc>
              <a:buNone/>
            </a:pPr>
            <a:r>
              <a:rPr lang="en-US" sz="1300" b="1" dirty="0">
                <a:solidFill>
                  <a:srgbClr val="F6F4EE"/>
                </a:solidFill>
                <a:latin typeface="IBM Plex Sans" pitchFamily="34" charset="0"/>
                <a:ea typeface="IBM Plex Sans" pitchFamily="34" charset="-122"/>
                <a:cs typeface="IBM Plex Sans" pitchFamily="34" charset="-120"/>
              </a:rPr>
              <a:t>1</a:t>
            </a:r>
            <a:endParaRPr lang="en-US" sz="1300" dirty="0"/>
          </a:p>
        </p:txBody>
      </p:sp>
      <p:sp>
        <p:nvSpPr>
          <p:cNvPr id="5" name="Text 3"/>
          <p:cNvSpPr/>
          <p:nvPr/>
        </p:nvSpPr>
        <p:spPr>
          <a:xfrm>
            <a:off x="1270000" y="1935411"/>
            <a:ext cx="5284724"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02E"/>
                </a:solidFill>
                <a:latin typeface="IBM Plex Sans" pitchFamily="34" charset="0"/>
                <a:ea typeface="IBM Plex Sans" pitchFamily="34" charset="-122"/>
                <a:cs typeface="IBM Plex Sans" pitchFamily="34" charset="-120"/>
              </a:rPr>
              <a:t>When you start dragging</a:t>
            </a:r>
            <a:endParaRPr lang="en-US" sz="1600" dirty="0"/>
          </a:p>
        </p:txBody>
      </p:sp>
      <p:sp>
        <p:nvSpPr>
          <p:cNvPr id="6" name="Text 4"/>
          <p:cNvSpPr/>
          <p:nvPr/>
        </p:nvSpPr>
        <p:spPr>
          <a:xfrm>
            <a:off x="1270000" y="2250331"/>
            <a:ext cx="528472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Mosaic builds small summary tables: for each chart, the counts for every possible position of your selection.</a:t>
            </a:r>
            <a:endParaRPr lang="en-US" sz="1400" dirty="0"/>
          </a:p>
        </p:txBody>
      </p:sp>
      <p:sp>
        <p:nvSpPr>
          <p:cNvPr id="7" name="Text 5"/>
          <p:cNvSpPr/>
          <p:nvPr/>
        </p:nvSpPr>
        <p:spPr>
          <a:xfrm>
            <a:off x="812800" y="2951311"/>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4202E"/>
          </a:solidFill>
          <a:ln/>
        </p:spPr>
        <p:txBody>
          <a:bodyPr wrap="square" lIns="0" tIns="0" rIns="0" bIns="0" rtlCol="0" anchor="t">
            <a:normAutofit/>
          </a:bodyPr>
          <a:lstStyle/>
          <a:p>
            <a:pPr algn="ctr" indent="0" marL="0">
              <a:lnSpc>
                <a:spcPts val="2405"/>
              </a:lnSpc>
              <a:buNone/>
            </a:pPr>
            <a:r>
              <a:rPr lang="en-US" sz="1300" b="1" dirty="0">
                <a:solidFill>
                  <a:srgbClr val="F6F4EE"/>
                </a:solidFill>
                <a:latin typeface="IBM Plex Sans" pitchFamily="34" charset="0"/>
                <a:ea typeface="IBM Plex Sans" pitchFamily="34" charset="-122"/>
                <a:cs typeface="IBM Plex Sans" pitchFamily="34" charset="-120"/>
              </a:rPr>
              <a:t>2</a:t>
            </a:r>
            <a:endParaRPr lang="en-US" sz="1300" dirty="0"/>
          </a:p>
        </p:txBody>
      </p:sp>
      <p:sp>
        <p:nvSpPr>
          <p:cNvPr id="8" name="Text 6"/>
          <p:cNvSpPr/>
          <p:nvPr/>
        </p:nvSpPr>
        <p:spPr>
          <a:xfrm>
            <a:off x="1270000" y="2951311"/>
            <a:ext cx="5284724"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02E"/>
                </a:solidFill>
                <a:latin typeface="IBM Plex Sans" pitchFamily="34" charset="0"/>
                <a:ea typeface="IBM Plex Sans" pitchFamily="34" charset="-122"/>
                <a:cs typeface="IBM Plex Sans" pitchFamily="34" charset="-120"/>
              </a:rPr>
              <a:t>While you keep dragging</a:t>
            </a:r>
            <a:endParaRPr lang="en-US" sz="1600" dirty="0"/>
          </a:p>
        </p:txBody>
      </p:sp>
      <p:sp>
        <p:nvSpPr>
          <p:cNvPr id="9" name="Text 7"/>
          <p:cNvSpPr/>
          <p:nvPr/>
        </p:nvSpPr>
        <p:spPr>
          <a:xfrm>
            <a:off x="1270000" y="3266232"/>
            <a:ext cx="528472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Each mouse move just reads those small tables instead of recounting every row.</a:t>
            </a:r>
            <a:endParaRPr lang="en-US" sz="1400" dirty="0"/>
          </a:p>
        </p:txBody>
      </p:sp>
      <p:sp>
        <p:nvSpPr>
          <p:cNvPr id="10" name="Text 8"/>
          <p:cNvSpPr/>
          <p:nvPr/>
        </p:nvSpPr>
        <p:spPr>
          <a:xfrm>
            <a:off x="6807200" y="1935411"/>
            <a:ext cx="470916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E"/>
                </a:solidFill>
                <a:latin typeface="IBM Plex Sans" pitchFamily="34" charset="0"/>
                <a:ea typeface="IBM Plex Sans" pitchFamily="34" charset="-122"/>
                <a:cs typeface="IBM Plex Sans" pitchFamily="34" charset="-120"/>
              </a:rPr>
              <a:t>Time per update in the demo</a:t>
            </a:r>
            <a:endParaRPr lang="en-US" sz="1400" dirty="0"/>
          </a:p>
        </p:txBody>
      </p:sp>
      <p:sp>
        <p:nvSpPr>
          <p:cNvPr id="11" name="Text 9"/>
          <p:cNvSpPr/>
          <p:nvPr/>
        </p:nvSpPr>
        <p:spPr>
          <a:xfrm>
            <a:off x="6807200" y="2242741"/>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Recount all rows: 120–200 ms</a:t>
            </a:r>
            <a:endParaRPr lang="en-US" sz="1200" dirty="0"/>
          </a:p>
        </p:txBody>
      </p:sp>
      <p:sp>
        <p:nvSpPr>
          <p:cNvPr id="12" name="Shape 10"/>
          <p:cNvSpPr/>
          <p:nvPr/>
        </p:nvSpPr>
        <p:spPr>
          <a:xfrm>
            <a:off x="6807200" y="2532261"/>
            <a:ext cx="3810000" cy="279400"/>
          </a:xfrm>
          <a:prstGeom prst="roundRect">
            <a:avLst>
              <a:gd name="adj" fmla="val 13636"/>
            </a:avLst>
          </a:prstGeom>
          <a:solidFill>
            <a:srgbClr val="B9BEC4"/>
          </a:solidFill>
          <a:ln/>
        </p:spPr>
      </p:sp>
      <p:sp>
        <p:nvSpPr>
          <p:cNvPr id="13" name="Text 11"/>
          <p:cNvSpPr/>
          <p:nvPr/>
        </p:nvSpPr>
        <p:spPr>
          <a:xfrm>
            <a:off x="6807200" y="2887861"/>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Read the summary: 2–37 ms</a:t>
            </a:r>
            <a:endParaRPr lang="en-US" sz="1200" dirty="0"/>
          </a:p>
        </p:txBody>
      </p:sp>
      <p:sp>
        <p:nvSpPr>
          <p:cNvPr id="14" name="Shape 12"/>
          <p:cNvSpPr/>
          <p:nvPr/>
        </p:nvSpPr>
        <p:spPr>
          <a:xfrm>
            <a:off x="6807200" y="3177381"/>
            <a:ext cx="704850" cy="279400"/>
          </a:xfrm>
          <a:prstGeom prst="roundRect">
            <a:avLst>
              <a:gd name="adj" fmla="val 13636"/>
            </a:avLst>
          </a:prstGeom>
          <a:solidFill>
            <a:srgbClr val="3B6FB6"/>
          </a:solidFill>
          <a:ln/>
        </p:spPr>
      </p:sp>
      <p:sp>
        <p:nvSpPr>
          <p:cNvPr id="15" name="Text 13"/>
          <p:cNvSpPr/>
          <p:nvPr/>
        </p:nvSpPr>
        <p:spPr>
          <a:xfrm>
            <a:off x="6807200" y="3532981"/>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110k rows, measured in a headless browser</a:t>
            </a:r>
            <a:endParaRPr lang="en-US" sz="1200" dirty="0"/>
          </a:p>
        </p:txBody>
      </p:sp>
      <p:sp>
        <p:nvSpPr>
          <p:cNvPr id="16" name="Shape 14"/>
          <p:cNvSpPr/>
          <p:nvPr/>
        </p:nvSpPr>
        <p:spPr>
          <a:xfrm>
            <a:off x="812800" y="4068812"/>
            <a:ext cx="10566400" cy="929580"/>
          </a:xfrm>
          <a:prstGeom prst="roundRect">
            <a:avLst>
              <a:gd name="adj" fmla="val 8197"/>
            </a:avLst>
          </a:prstGeom>
          <a:solidFill>
            <a:srgbClr val="E8EEF7"/>
          </a:solidFill>
          <a:ln/>
        </p:spPr>
      </p:sp>
      <p:sp>
        <p:nvSpPr>
          <p:cNvPr id="17" name="Shape 15"/>
          <p:cNvSpPr/>
          <p:nvPr/>
        </p:nvSpPr>
        <p:spPr>
          <a:xfrm>
            <a:off x="812800" y="4068812"/>
            <a:ext cx="10566400" cy="929580"/>
          </a:xfrm>
          <a:custGeom>
            <a:avLst/>
            <a:gdLst/>
            <a:ahLst/>
            <a:cxnLst/>
            <a:rect l="l" t="t" r="r" b="b"/>
            <a:pathLst>
              <a:path w="10566400" h="929580">
                <a:moveTo>
                  <a:pt x="76200" y="929580"/>
                </a:moveTo>
                <a:lnTo>
                  <a:pt x="76200" y="929580"/>
                </a:lnTo>
                <a:arcTo hR="76200" wR="76200" stAng="5400000" swAng="5400000"/>
                <a:lnTo>
                  <a:pt x="0" y="76200"/>
                </a:lnTo>
                <a:arcTo hR="76200" wR="76200" stAng="10800000" swAng="5400000"/>
                <a:lnTo>
                  <a:pt x="76200" y="0"/>
                </a:lnTo>
                <a:arcTo hR="76200" wR="38100" stAng="16200000" swAng="-5400000"/>
                <a:lnTo>
                  <a:pt x="38100" y="853380"/>
                </a:lnTo>
                <a:arcTo hR="76200" wR="38100" stAng="10800000" swAng="-5400000"/>
                <a:close/>
              </a:path>
            </a:pathLst>
          </a:custGeom>
          <a:solidFill>
            <a:srgbClr val="3B6FB6"/>
          </a:solidFill>
          <a:ln/>
        </p:spPr>
      </p:sp>
      <p:sp>
        <p:nvSpPr>
          <p:cNvPr id="18" name="Text 16"/>
          <p:cNvSpPr/>
          <p:nvPr/>
        </p:nvSpPr>
        <p:spPr>
          <a:xfrm>
            <a:off x="1079500" y="4246612"/>
            <a:ext cx="1037323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Pre-aggregation</a:t>
            </a:r>
            <a:r>
              <a:rPr lang="en-US" sz="1400" dirty="0">
                <a:solidFill>
                  <a:srgbClr val="14202E"/>
                </a:solidFill>
                <a:latin typeface="IBM Plex Sans" pitchFamily="34" charset="0"/>
                <a:ea typeface="IBM Plex Sans" pitchFamily="34" charset="-122"/>
                <a:cs typeface="IBM Plex Sans" pitchFamily="34" charset="-120"/>
              </a:rPr>
              <a:t>: computing summary tables ahead of time so later questions are fast.</a:t>
            </a:r>
            <a:endParaRPr lang="en-US" sz="1400" dirty="0"/>
          </a:p>
        </p:txBody>
      </p:sp>
      <p:sp>
        <p:nvSpPr>
          <p:cNvPr id="19" name="Text 17"/>
          <p:cNvSpPr/>
          <p:nvPr/>
        </p:nvSpPr>
        <p:spPr>
          <a:xfrm>
            <a:off x="1079500" y="4571702"/>
            <a:ext cx="103732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Like a shop that keeps daily sales totals, so it never re-adds every receipt to answer “How much did we sell in March?”</a:t>
            </a:r>
            <a:endParaRPr lang="en-US" sz="1400" dirty="0"/>
          </a:p>
        </p:txBody>
      </p:sp>
      <p:sp>
        <p:nvSpPr>
          <p:cNvPr id="20" name="Text 18"/>
          <p:cNvSpPr/>
          <p:nvPr/>
        </p:nvSpPr>
        <p:spPr>
          <a:xfrm>
            <a:off x="812800" y="6238280"/>
            <a:ext cx="36300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Fast interactive charts for big data · CSE 578</a:t>
            </a:r>
            <a:endParaRPr lang="en-US" sz="1200" dirty="0"/>
          </a:p>
        </p:txBody>
      </p:sp>
      <p:sp>
        <p:nvSpPr>
          <p:cNvPr id="21" name="Text 19"/>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6FB6"/>
                </a:solidFill>
                <a:latin typeface="IBM Plex Sans" pitchFamily="34" charset="0"/>
                <a:ea typeface="IBM Plex Sans" pitchFamily="34" charset="-122"/>
                <a:cs typeface="IBM Plex Sans" pitchFamily="34" charset="-120"/>
              </a:rPr>
              <a:t>THE IDEA · RESULT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202E"/>
                </a:solidFill>
                <a:latin typeface="IBM Plex Sans" pitchFamily="34" charset="0"/>
                <a:ea typeface="IBM Plex Sans" pitchFamily="34" charset="-122"/>
                <a:cs typeface="IBM Plex Sans" pitchFamily="34" charset="-120"/>
              </a:rPr>
              <a:t>Charts receive numbers, not rows</a:t>
            </a:r>
            <a:endParaRPr lang="en-US" sz="3600" dirty="0"/>
          </a:p>
        </p:txBody>
      </p:sp>
      <p:sp>
        <p:nvSpPr>
          <p:cNvPr id="4" name="Text 2"/>
          <p:cNvSpPr/>
          <p:nvPr/>
        </p:nvSpPr>
        <p:spPr>
          <a:xfrm>
            <a:off x="812800" y="1935411"/>
            <a:ext cx="3488233" cy="863600"/>
          </a:xfrm>
          <a:prstGeom prst="rect">
            <a:avLst/>
          </a:prstGeom>
          <a:noFill/>
          <a:ln/>
        </p:spPr>
        <p:txBody>
          <a:bodyPr wrap="square" lIns="0" tIns="0" rIns="0" bIns="0" rtlCol="0" anchor="t">
            <a:normAutofit/>
          </a:bodyPr>
          <a:lstStyle/>
          <a:p>
            <a:pPr algn="l" indent="0" marL="0">
              <a:lnSpc>
                <a:spcPts val="6600"/>
              </a:lnSpc>
              <a:buNone/>
            </a:pPr>
            <a:r>
              <a:rPr lang="en-US" sz="6000" b="1" spc="-100" kern="0" dirty="0">
                <a:solidFill>
                  <a:srgbClr val="14202E"/>
                </a:solidFill>
                <a:latin typeface="IBM Plex Sans" pitchFamily="34" charset="0"/>
                <a:ea typeface="IBM Plex Sans" pitchFamily="34" charset="-122"/>
                <a:cs typeface="IBM Plex Sans" pitchFamily="34" charset="-120"/>
              </a:rPr>
              <a:t>110,464</a:t>
            </a:r>
            <a:endParaRPr lang="en-US" sz="6000" dirty="0"/>
          </a:p>
        </p:txBody>
      </p:sp>
      <p:sp>
        <p:nvSpPr>
          <p:cNvPr id="5" name="Text 3"/>
          <p:cNvSpPr/>
          <p:nvPr/>
        </p:nvSpPr>
        <p:spPr>
          <a:xfrm>
            <a:off x="812800" y="2875211"/>
            <a:ext cx="348823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654"/>
                </a:solidFill>
                <a:latin typeface="IBM Plex Sans" pitchFamily="34" charset="0"/>
                <a:ea typeface="IBM Plex Sans" pitchFamily="34" charset="-122"/>
                <a:cs typeface="IBM Plex Sans" pitchFamily="34" charset="-120"/>
              </a:rPr>
              <a:t>rows stay in the database</a:t>
            </a:r>
            <a:endParaRPr lang="en-US" sz="1600" dirty="0"/>
          </a:p>
        </p:txBody>
      </p:sp>
      <p:sp>
        <p:nvSpPr>
          <p:cNvPr id="6" name="Text 4"/>
          <p:cNvSpPr/>
          <p:nvPr/>
        </p:nvSpPr>
        <p:spPr>
          <a:xfrm>
            <a:off x="4402634" y="1935411"/>
            <a:ext cx="3488284" cy="863600"/>
          </a:xfrm>
          <a:prstGeom prst="rect">
            <a:avLst/>
          </a:prstGeom>
          <a:noFill/>
          <a:ln/>
        </p:spPr>
        <p:txBody>
          <a:bodyPr wrap="square" lIns="0" tIns="0" rIns="0" bIns="0" rtlCol="0" anchor="t">
            <a:normAutofit/>
          </a:bodyPr>
          <a:lstStyle/>
          <a:p>
            <a:pPr algn="l" indent="0" marL="0">
              <a:lnSpc>
                <a:spcPts val="6600"/>
              </a:lnSpc>
              <a:buNone/>
            </a:pPr>
            <a:r>
              <a:rPr lang="en-US" sz="6000" b="1" spc="-100" kern="0" dirty="0">
                <a:solidFill>
                  <a:srgbClr val="3B6FB6"/>
                </a:solidFill>
                <a:latin typeface="IBM Plex Sans" pitchFamily="34" charset="0"/>
                <a:ea typeface="IBM Plex Sans" pitchFamily="34" charset="-122"/>
                <a:cs typeface="IBM Plex Sans" pitchFamily="34" charset="-120"/>
              </a:rPr>
              <a:t>≈87 KB</a:t>
            </a:r>
            <a:endParaRPr lang="en-US" sz="6000" dirty="0"/>
          </a:p>
        </p:txBody>
      </p:sp>
      <p:sp>
        <p:nvSpPr>
          <p:cNvPr id="7" name="Text 5"/>
          <p:cNvSpPr/>
          <p:nvPr/>
        </p:nvSpPr>
        <p:spPr>
          <a:xfrm>
            <a:off x="4402634" y="2875211"/>
            <a:ext cx="348828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654"/>
                </a:solidFill>
                <a:latin typeface="IBM Plex Sans" pitchFamily="34" charset="0"/>
                <a:ea typeface="IBM Plex Sans" pitchFamily="34" charset="-122"/>
                <a:cs typeface="IBM Plex Sans" pitchFamily="34" charset="-120"/>
              </a:rPr>
              <a:t>of answers drew the whole first screen, about 20 questions</a:t>
            </a:r>
            <a:endParaRPr lang="en-US" sz="1600" dirty="0"/>
          </a:p>
        </p:txBody>
      </p:sp>
      <p:sp>
        <p:nvSpPr>
          <p:cNvPr id="8" name="Text 6"/>
          <p:cNvSpPr/>
          <p:nvPr/>
        </p:nvSpPr>
        <p:spPr>
          <a:xfrm>
            <a:off x="7992517" y="1935411"/>
            <a:ext cx="3488284" cy="863600"/>
          </a:xfrm>
          <a:prstGeom prst="rect">
            <a:avLst/>
          </a:prstGeom>
          <a:noFill/>
          <a:ln/>
        </p:spPr>
        <p:txBody>
          <a:bodyPr wrap="square" lIns="0" tIns="0" rIns="0" bIns="0" rtlCol="0" anchor="t">
            <a:normAutofit/>
          </a:bodyPr>
          <a:lstStyle/>
          <a:p>
            <a:pPr algn="l" indent="0" marL="0">
              <a:lnSpc>
                <a:spcPts val="6600"/>
              </a:lnSpc>
              <a:buNone/>
            </a:pPr>
            <a:r>
              <a:rPr lang="en-US" sz="6000" b="1" spc="-100" kern="0" dirty="0">
                <a:solidFill>
                  <a:srgbClr val="14202E"/>
                </a:solidFill>
                <a:latin typeface="IBM Plex Sans" pitchFamily="34" charset="0"/>
                <a:ea typeface="IBM Plex Sans" pitchFamily="34" charset="-122"/>
                <a:cs typeface="IBM Plex Sans" pitchFamily="34" charset="-120"/>
              </a:rPr>
              <a:t>5</a:t>
            </a:r>
            <a:endParaRPr lang="en-US" sz="6000" dirty="0"/>
          </a:p>
        </p:txBody>
      </p:sp>
      <p:sp>
        <p:nvSpPr>
          <p:cNvPr id="9" name="Text 7"/>
          <p:cNvSpPr/>
          <p:nvPr/>
        </p:nvSpPr>
        <p:spPr>
          <a:xfrm>
            <a:off x="7992517" y="2875211"/>
            <a:ext cx="348828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654"/>
                </a:solidFill>
                <a:latin typeface="IBM Plex Sans" pitchFamily="34" charset="0"/>
                <a:ea typeface="IBM Plex Sans" pitchFamily="34" charset="-122"/>
                <a:cs typeface="IBM Plex Sans" pitchFamily="34" charset="-120"/>
              </a:rPr>
              <a:t>numbers for the star chart, at any data size</a:t>
            </a:r>
            <a:endParaRPr lang="en-US" sz="1600" dirty="0"/>
          </a:p>
        </p:txBody>
      </p:sp>
      <p:sp>
        <p:nvSpPr>
          <p:cNvPr id="10" name="Text 8"/>
          <p:cNvSpPr/>
          <p:nvPr/>
        </p:nvSpPr>
        <p:spPr>
          <a:xfrm>
            <a:off x="812800" y="3748931"/>
            <a:ext cx="10566400" cy="924520"/>
          </a:xfrm>
          <a:prstGeom prst="roundRect">
            <a:avLst>
              <a:gd name="adj" fmla="val 8242"/>
            </a:avLst>
          </a:prstGeom>
          <a:solidFill>
            <a:srgbClr val="E8EEF7"/>
          </a:solidFill>
          <a:ln/>
        </p:spPr>
        <p:txBody>
          <a:bodyPr wrap="square" lIns="244382" tIns="155482" rIns="0" bIns="130082" rtlCol="0" anchor="t">
            <a:normAutofit/>
          </a:bodyPr>
          <a:lstStyle/>
          <a:p>
            <a:pPr algn="l" indent="0" marL="0">
              <a:lnSpc>
                <a:spcPts val="2240"/>
              </a:lnSpc>
              <a:buNone/>
            </a:pPr>
            <a:r>
              <a:rPr lang="en-US" sz="1600" dirty="0">
                <a:solidFill>
                  <a:srgbClr val="14202E"/>
                </a:solidFill>
                <a:latin typeface="IBM Plex Sans" pitchFamily="34" charset="0"/>
                <a:ea typeface="IBM Plex Sans" pitchFamily="34" charset="-122"/>
                <a:cs typeface="IBM Plex Sans" pitchFamily="34" charset="-120"/>
              </a:rPr>
              <a:t>A chart never needs more numbers than it has pixels, so the work grows with the chart's size, not the data's size.</a:t>
            </a:r>
            <a:endParaRPr lang="en-US" sz="1600" dirty="0"/>
          </a:p>
        </p:txBody>
      </p:sp>
      <p:sp>
        <p:nvSpPr>
          <p:cNvPr id="11" name="Shape 9"/>
          <p:cNvSpPr/>
          <p:nvPr/>
        </p:nvSpPr>
        <p:spPr>
          <a:xfrm>
            <a:off x="812800" y="3748931"/>
            <a:ext cx="10566400" cy="924520"/>
          </a:xfrm>
          <a:custGeom>
            <a:avLst/>
            <a:gdLst/>
            <a:ahLst/>
            <a:cxnLst/>
            <a:rect l="l" t="t" r="r" b="b"/>
            <a:pathLst>
              <a:path w="10566400" h="924520">
                <a:moveTo>
                  <a:pt x="76200" y="924520"/>
                </a:moveTo>
                <a:lnTo>
                  <a:pt x="76200" y="924520"/>
                </a:lnTo>
                <a:arcTo hR="76200" wR="76200" stAng="5400000" swAng="5400000"/>
                <a:lnTo>
                  <a:pt x="0" y="76200"/>
                </a:lnTo>
                <a:arcTo hR="76200" wR="76200" stAng="10800000" swAng="5400000"/>
                <a:lnTo>
                  <a:pt x="76200" y="0"/>
                </a:lnTo>
                <a:arcTo hR="76200" wR="38100" stAng="16200000" swAng="-5400000"/>
                <a:lnTo>
                  <a:pt x="38100" y="848320"/>
                </a:lnTo>
                <a:arcTo hR="76200" wR="38100" stAng="10800000" swAng="-5400000"/>
                <a:close/>
              </a:path>
            </a:pathLst>
          </a:custGeom>
          <a:solidFill>
            <a:srgbClr val="3B6FB6"/>
          </a:solidFill>
          <a:ln/>
        </p:spPr>
      </p:sp>
      <p:sp>
        <p:nvSpPr>
          <p:cNvPr id="12" name="Text 10"/>
          <p:cNvSpPr/>
          <p:nvPr/>
        </p:nvSpPr>
        <p:spPr>
          <a:xfrm>
            <a:off x="812800" y="6238280"/>
            <a:ext cx="36300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Fast interactive charts for big data · CSE 578</a:t>
            </a:r>
            <a:endParaRPr lang="en-US" sz="1200" dirty="0"/>
          </a:p>
        </p:txBody>
      </p:sp>
      <p:sp>
        <p:nvSpPr>
          <p:cNvPr id="13" name="Text 11"/>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6FB6"/>
                </a:solidFill>
                <a:latin typeface="IBM Plex Sans" pitchFamily="34" charset="0"/>
                <a:ea typeface="IBM Plex Sans" pitchFamily="34" charset="-122"/>
                <a:cs typeface="IBM Plex Sans" pitchFamily="34" charset="-120"/>
              </a:rPr>
              <a:t>DEMO 1 · OLIST ORDERS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202E"/>
                </a:solidFill>
                <a:latin typeface="IBM Plex Sans" pitchFamily="34" charset="0"/>
                <a:ea typeface="IBM Plex Sans" pitchFamily="34" charset="-122"/>
                <a:cs typeface="IBM Plex Sans" pitchFamily="34" charset="-120"/>
              </a:rPr>
              <a:t>Do late deliveries get bad reviews?</a:t>
            </a:r>
            <a:endParaRPr lang="en-US" sz="3600" dirty="0"/>
          </a:p>
        </p:txBody>
      </p:sp>
      <p:sp>
        <p:nvSpPr>
          <p:cNvPr id="4" name="Shape 2"/>
          <p:cNvSpPr/>
          <p:nvPr/>
        </p:nvSpPr>
        <p:spPr>
          <a:xfrm>
            <a:off x="812800" y="1935411"/>
            <a:ext cx="4108450" cy="3898900"/>
          </a:xfrm>
          <a:prstGeom prst="roundRect">
            <a:avLst>
              <a:gd name="adj" fmla="val 1954"/>
            </a:avLst>
          </a:prstGeom>
          <a:solidFill>
            <a:srgbClr val="FCFBF8"/>
          </a:solidFill>
          <a:ln/>
        </p:spPr>
      </p:sp>
      <p:pic>
        <p:nvPicPr>
          <p:cNvPr id="5" name="Image 0" descr="Dashboard with the timeline brushed to Nov 2017–Mar 2018 and the 1-star and RJ bars selected; the delay histogram now has many red bars to the right of zero">    </p:cNvPr>
          <p:cNvPicPr>
            <a:picLocks noChangeAspect="1"/>
          </p:cNvPicPr>
          <p:nvPr/>
        </p:nvPicPr>
        <p:blipFill>
          <a:blip r:embed="rId1"/>
          <a:srcRect l="-3" r="-3" t="0" b="0"/>
          <a:stretch/>
        </p:blipFill>
        <p:spPr>
          <a:xfrm>
            <a:off x="819150" y="1941761"/>
            <a:ext cx="4095750" cy="3886200"/>
          </a:xfrm>
          <a:prstGeom prst="roundRect">
            <a:avLst>
              <a:gd name="adj" fmla="val 1797"/>
            </a:avLst>
          </a:prstGeom>
        </p:spPr>
      </p:pic>
      <p:sp>
        <p:nvSpPr>
          <p:cNvPr id="6" name="Shape 3"/>
          <p:cNvSpPr/>
          <p:nvPr/>
        </p:nvSpPr>
        <p:spPr>
          <a:xfrm>
            <a:off x="815975" y="1938586"/>
            <a:ext cx="4102100" cy="3892550"/>
          </a:xfrm>
          <a:prstGeom prst="roundRect">
            <a:avLst>
              <a:gd name="adj" fmla="val 1876"/>
            </a:avLst>
          </a:prstGeom>
          <a:noFill/>
          <a:ln w="6350">
            <a:solidFill>
              <a:srgbClr val="E2DED3"/>
            </a:solidFill>
            <a:prstDash val="solid"/>
          </a:ln>
        </p:spPr>
      </p:sp>
      <p:sp>
        <p:nvSpPr>
          <p:cNvPr id="7" name="Text 4"/>
          <p:cNvSpPr/>
          <p:nvPr/>
        </p:nvSpPr>
        <p:spPr>
          <a:xfrm>
            <a:off x="5226050" y="1935411"/>
            <a:ext cx="633774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673"/>
                </a:solidFill>
                <a:latin typeface="IBM Plex Sans" pitchFamily="34" charset="0"/>
                <a:ea typeface="IBM Plex Sans" pitchFamily="34" charset="-122"/>
                <a:cs typeface="IBM Plex Sans" pitchFamily="34" charset="-120"/>
              </a:rPr>
              <a:t>I SELECTED</a:t>
            </a:r>
            <a:endParaRPr lang="en-US" sz="1200" dirty="0"/>
          </a:p>
        </p:txBody>
      </p:sp>
      <p:sp>
        <p:nvSpPr>
          <p:cNvPr id="8" name="Text 5"/>
          <p:cNvSpPr/>
          <p:nvPr/>
        </p:nvSpPr>
        <p:spPr>
          <a:xfrm>
            <a:off x="5226050" y="2250331"/>
            <a:ext cx="633774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Nov 2017 – Mar 2018 on the timeline, the 1★ bar, and the state RJ (Rio de Janeiro).</a:t>
            </a:r>
            <a:endParaRPr lang="en-US" sz="1400" dirty="0"/>
          </a:p>
        </p:txBody>
      </p:sp>
      <p:sp>
        <p:nvSpPr>
          <p:cNvPr id="9" name="Text 6"/>
          <p:cNvSpPr/>
          <p:nvPr/>
        </p:nvSpPr>
        <p:spPr>
          <a:xfrm>
            <a:off x="5226050" y="2849711"/>
            <a:ext cx="633774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673"/>
                </a:solidFill>
                <a:latin typeface="IBM Plex Sans" pitchFamily="34" charset="0"/>
                <a:ea typeface="IBM Plex Sans" pitchFamily="34" charset="-122"/>
                <a:cs typeface="IBM Plex Sans" pitchFamily="34" charset="-120"/>
              </a:rPr>
              <a:t>WHAT CHANGED</a:t>
            </a:r>
            <a:endParaRPr lang="en-US" sz="1200" dirty="0"/>
          </a:p>
        </p:txBody>
      </p:sp>
      <p:sp>
        <p:nvSpPr>
          <p:cNvPr id="10" name="Text 7"/>
          <p:cNvSpPr/>
          <p:nvPr/>
        </p:nvSpPr>
        <p:spPr>
          <a:xfrm>
            <a:off x="5226050" y="3164632"/>
            <a:ext cx="633774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The histogram now has many red bars right of zero. About </a:t>
            </a:r>
            <a:r>
              <a:rPr lang="en-US" sz="1400" b="1" dirty="0">
                <a:solidFill>
                  <a:srgbClr val="3D4654"/>
                </a:solidFill>
                <a:latin typeface="IBM Plex Sans" pitchFamily="34" charset="0"/>
                <a:ea typeface="IBM Plex Sans" pitchFamily="34" charset="-122"/>
                <a:cs typeface="IBM Plex Sans" pitchFamily="34" charset="-120"/>
              </a:rPr>
              <a:t>half</a:t>
            </a:r>
            <a:r>
              <a:rPr lang="en-US" sz="1400" dirty="0">
                <a:solidFill>
                  <a:srgbClr val="3D4654"/>
                </a:solidFill>
                <a:latin typeface="IBM Plex Sans" pitchFamily="34" charset="0"/>
                <a:ea typeface="IBM Plex Sans" pitchFamily="34" charset="-122"/>
                <a:cs typeface="IBM Plex Sans" pitchFamily="34" charset="-120"/>
              </a:rPr>
              <a:t> of these 580 items arrived late, against </a:t>
            </a:r>
            <a:r>
              <a:rPr lang="en-US" sz="1400" b="1" dirty="0">
                <a:solidFill>
                  <a:srgbClr val="3D4654"/>
                </a:solidFill>
                <a:latin typeface="IBM Plex Sans" pitchFamily="34" charset="0"/>
                <a:ea typeface="IBM Plex Sans" pitchFamily="34" charset="-122"/>
                <a:cs typeface="IBM Plex Sans" pitchFamily="34" charset="-120"/>
              </a:rPr>
              <a:t>7%</a:t>
            </a:r>
            <a:r>
              <a:rPr lang="en-US" sz="1400" dirty="0">
                <a:solidFill>
                  <a:srgbClr val="3D4654"/>
                </a:solidFill>
                <a:latin typeface="IBM Plex Sans" pitchFamily="34" charset="0"/>
                <a:ea typeface="IBM Plex Sans" pitchFamily="34" charset="-122"/>
                <a:cs typeface="IBM Plex Sans" pitchFamily="34" charset="-120"/>
              </a:rPr>
              <a:t> of all items.</a:t>
            </a:r>
            <a:endParaRPr lang="en-US" sz="1400" dirty="0"/>
          </a:p>
        </p:txBody>
      </p:sp>
      <p:sp>
        <p:nvSpPr>
          <p:cNvPr id="11" name="Text 8"/>
          <p:cNvSpPr/>
          <p:nvPr/>
        </p:nvSpPr>
        <p:spPr>
          <a:xfrm>
            <a:off x="5226050" y="3764012"/>
            <a:ext cx="633774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673"/>
                </a:solidFill>
                <a:latin typeface="IBM Plex Sans" pitchFamily="34" charset="0"/>
                <a:ea typeface="IBM Plex Sans" pitchFamily="34" charset="-122"/>
                <a:cs typeface="IBM Plex Sans" pitchFamily="34" charset="-120"/>
              </a:rPr>
              <a:t>WHAT IT SUGGESTS</a:t>
            </a:r>
            <a:endParaRPr lang="en-US" sz="1200" dirty="0"/>
          </a:p>
        </p:txBody>
      </p:sp>
      <p:sp>
        <p:nvSpPr>
          <p:cNvPr id="12" name="Text 9"/>
          <p:cNvSpPr/>
          <p:nvPr/>
        </p:nvSpPr>
        <p:spPr>
          <a:xfrm>
            <a:off x="5226050" y="4078932"/>
            <a:ext cx="633774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2E"/>
                </a:solidFill>
                <a:latin typeface="IBM Plex Sans" pitchFamily="34" charset="0"/>
                <a:ea typeface="IBM Plex Sans" pitchFamily="34" charset="-122"/>
                <a:cs typeface="IBM Plex Sans" pitchFamily="34" charset="-120"/>
              </a:rPr>
              <a:t>Late delivery and 1-star reviews go together.</a:t>
            </a:r>
            <a:endParaRPr lang="en-US" sz="1400" dirty="0"/>
          </a:p>
        </p:txBody>
      </p:sp>
      <p:sp>
        <p:nvSpPr>
          <p:cNvPr id="13" name="Text 10"/>
          <p:cNvSpPr/>
          <p:nvPr/>
        </p:nvSpPr>
        <p:spPr>
          <a:xfrm>
            <a:off x="5226050" y="4429423"/>
            <a:ext cx="633774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Synthetic data in the real Olist format, with this link built in. Next step: rerun on the real Kaggle data.</a:t>
            </a:r>
            <a:endParaRPr lang="en-US" sz="1200" dirty="0"/>
          </a:p>
        </p:txBody>
      </p:sp>
      <p:sp>
        <p:nvSpPr>
          <p:cNvPr id="14" name="Text 11"/>
          <p:cNvSpPr/>
          <p:nvPr/>
        </p:nvSpPr>
        <p:spPr>
          <a:xfrm>
            <a:off x="812800" y="6238280"/>
            <a:ext cx="36300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Fast interactive charts for big data · CSE 578</a:t>
            </a:r>
            <a:endParaRPr lang="en-US" sz="1200" dirty="0"/>
          </a:p>
        </p:txBody>
      </p:sp>
      <p:sp>
        <p:nvSpPr>
          <p:cNvPr id="15" name="Text 12"/>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6FB6"/>
                </a:solidFill>
                <a:latin typeface="IBM Plex Sans" pitchFamily="34" charset="0"/>
                <a:ea typeface="IBM Plex Sans" pitchFamily="34" charset="-122"/>
                <a:cs typeface="IBM Plex Sans" pitchFamily="34" charset="-120"/>
              </a:rPr>
              <a:t>DEMO 2 · BEFORE WE START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202E"/>
                </a:solidFill>
                <a:latin typeface="IBM Plex Sans" pitchFamily="34" charset="0"/>
                <a:ea typeface="IBM Plex Sans" pitchFamily="34" charset="-122"/>
                <a:cs typeface="IBM Plex Sans" pitchFamily="34" charset="-120"/>
              </a:rPr>
              <a:t>Turning text into a map</a:t>
            </a:r>
            <a:endParaRPr lang="en-US" sz="3600" dirty="0"/>
          </a:p>
        </p:txBody>
      </p:sp>
      <p:sp>
        <p:nvSpPr>
          <p:cNvPr id="4" name="Shape 2"/>
          <p:cNvSpPr/>
          <p:nvPr/>
        </p:nvSpPr>
        <p:spPr>
          <a:xfrm>
            <a:off x="815975" y="1938586"/>
            <a:ext cx="3041650" cy="2266851"/>
          </a:xfrm>
          <a:prstGeom prst="roundRect">
            <a:avLst>
              <a:gd name="adj" fmla="val 4342"/>
            </a:avLst>
          </a:prstGeom>
          <a:solidFill>
            <a:srgbClr val="FCFBF8"/>
          </a:solidFill>
          <a:ln w="6350">
            <a:solidFill>
              <a:srgbClr val="E2DED3"/>
            </a:solidFill>
            <a:prstDash val="solid"/>
          </a:ln>
        </p:spPr>
      </p:sp>
      <p:sp>
        <p:nvSpPr>
          <p:cNvPr id="5" name="Text 3"/>
          <p:cNvSpPr/>
          <p:nvPr/>
        </p:nvSpPr>
        <p:spPr>
          <a:xfrm>
            <a:off x="1073150" y="2195761"/>
            <a:ext cx="260311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6FB6"/>
                </a:solidFill>
                <a:latin typeface="IBM Plex Sans" pitchFamily="34" charset="0"/>
                <a:ea typeface="IBM Plex Sans" pitchFamily="34" charset="-122"/>
                <a:cs typeface="IBM Plex Sans" pitchFamily="34" charset="-120"/>
              </a:rPr>
              <a:t>1 · A REVIEW</a:t>
            </a:r>
            <a:endParaRPr lang="en-US" sz="1200" dirty="0"/>
          </a:p>
        </p:txBody>
      </p:sp>
      <p:sp>
        <p:nvSpPr>
          <p:cNvPr id="6" name="Text 4"/>
          <p:cNvSpPr/>
          <p:nvPr/>
        </p:nvSpPr>
        <p:spPr>
          <a:xfrm>
            <a:off x="1073150" y="2485281"/>
            <a:ext cx="2603119"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02E"/>
                </a:solidFill>
                <a:latin typeface="IBM Plex Sans" pitchFamily="34" charset="0"/>
                <a:ea typeface="IBM Plex Sans" pitchFamily="34" charset="-122"/>
                <a:cs typeface="IBM Plex Sans" pitchFamily="34" charset="-120"/>
              </a:rPr>
              <a:t>“Entrega atrasada, ninguém responde”</a:t>
            </a:r>
            <a:endParaRPr lang="en-US" sz="1600" dirty="0"/>
          </a:p>
        </p:txBody>
      </p:sp>
      <p:sp>
        <p:nvSpPr>
          <p:cNvPr id="7" name="Text 5"/>
          <p:cNvSpPr/>
          <p:nvPr/>
        </p:nvSpPr>
        <p:spPr>
          <a:xfrm>
            <a:off x="1073150" y="3089721"/>
            <a:ext cx="2603119"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E6673"/>
                </a:solidFill>
                <a:latin typeface="IBM Plex Sans" pitchFamily="34" charset="0"/>
                <a:ea typeface="IBM Plex Sans" pitchFamily="34" charset="-122"/>
                <a:cs typeface="IBM Plex Sans" pitchFamily="34" charset="-120"/>
              </a:rPr>
              <a:t>“Late delivery, nobody answers”</a:t>
            </a:r>
            <a:endParaRPr lang="en-US" sz="1200" dirty="0"/>
          </a:p>
        </p:txBody>
      </p:sp>
      <p:pic>
        <p:nvPicPr>
          <p:cNvPr id="8" name="Image 0" descr="arrow-right">    </p:cNvPr>
          <p:cNvPicPr>
            <a:picLocks noChangeAspect="1"/>
          </p:cNvPicPr>
          <p:nvPr/>
        </p:nvPicPr>
        <p:blipFill>
          <a:blip r:embed="rId1"/>
          <a:srcRect l="0" r="0" t="0" b="0"/>
          <a:stretch/>
        </p:blipFill>
        <p:spPr>
          <a:xfrm>
            <a:off x="4013200" y="2957711"/>
            <a:ext cx="406400" cy="228600"/>
          </a:xfrm>
          <a:prstGeom prst="rect">
            <a:avLst/>
          </a:prstGeom>
        </p:spPr>
      </p:pic>
      <p:sp>
        <p:nvSpPr>
          <p:cNvPr id="9" name="Shape 6"/>
          <p:cNvSpPr/>
          <p:nvPr/>
        </p:nvSpPr>
        <p:spPr>
          <a:xfrm>
            <a:off x="4575175" y="1938586"/>
            <a:ext cx="3041650" cy="2266851"/>
          </a:xfrm>
          <a:prstGeom prst="roundRect">
            <a:avLst>
              <a:gd name="adj" fmla="val 4342"/>
            </a:avLst>
          </a:prstGeom>
          <a:solidFill>
            <a:srgbClr val="FCFBF8"/>
          </a:solidFill>
          <a:ln w="6350">
            <a:solidFill>
              <a:srgbClr val="E2DED3"/>
            </a:solidFill>
            <a:prstDash val="solid"/>
          </a:ln>
        </p:spPr>
      </p:sp>
      <p:sp>
        <p:nvSpPr>
          <p:cNvPr id="10" name="Text 7"/>
          <p:cNvSpPr/>
          <p:nvPr/>
        </p:nvSpPr>
        <p:spPr>
          <a:xfrm>
            <a:off x="4832350" y="2195761"/>
            <a:ext cx="260311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6FB6"/>
                </a:solidFill>
                <a:latin typeface="IBM Plex Sans" pitchFamily="34" charset="0"/>
                <a:ea typeface="IBM Plex Sans" pitchFamily="34" charset="-122"/>
                <a:cs typeface="IBM Plex Sans" pitchFamily="34" charset="-120"/>
              </a:rPr>
              <a:t>2 · A LIST OF NUMBERS</a:t>
            </a:r>
            <a:endParaRPr lang="en-US" sz="1200" dirty="0"/>
          </a:p>
        </p:txBody>
      </p:sp>
      <p:sp>
        <p:nvSpPr>
          <p:cNvPr id="11" name="Text 8"/>
          <p:cNvSpPr/>
          <p:nvPr/>
        </p:nvSpPr>
        <p:spPr>
          <a:xfrm>
            <a:off x="4832350" y="2485281"/>
            <a:ext cx="260311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2E"/>
                </a:solidFill>
                <a:latin typeface="JetBrains Mono" pitchFamily="49" charset="0"/>
                <a:ea typeface="JetBrains Mono" pitchFamily="49" charset="-122"/>
                <a:cs typeface="JetBrains Mono" pitchFamily="49" charset="-120"/>
              </a:rPr>
              <a:t>[0.12, −0.80, 0.33, …]</a:t>
            </a:r>
            <a:endParaRPr lang="en-US" sz="1400" dirty="0"/>
          </a:p>
        </p:txBody>
      </p:sp>
      <p:sp>
        <p:nvSpPr>
          <p:cNvPr id="12" name="Text 9"/>
          <p:cNvSpPr/>
          <p:nvPr/>
        </p:nvSpPr>
        <p:spPr>
          <a:xfrm>
            <a:off x="4832350" y="2810371"/>
            <a:ext cx="2603119"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64 numbers per review. Similar texts get similar numbers.</a:t>
            </a:r>
            <a:endParaRPr lang="en-US" sz="1400" dirty="0"/>
          </a:p>
        </p:txBody>
      </p:sp>
      <p:pic>
        <p:nvPicPr>
          <p:cNvPr id="13" name="Image 1" descr="arrow-right">    </p:cNvPr>
          <p:cNvPicPr>
            <a:picLocks noChangeAspect="1"/>
          </p:cNvPicPr>
          <p:nvPr/>
        </p:nvPicPr>
        <p:blipFill>
          <a:blip r:embed="rId2"/>
          <a:srcRect l="0" r="0" t="0" b="0"/>
          <a:stretch/>
        </p:blipFill>
        <p:spPr>
          <a:xfrm>
            <a:off x="7772400" y="2957711"/>
            <a:ext cx="406400" cy="228600"/>
          </a:xfrm>
          <a:prstGeom prst="rect">
            <a:avLst/>
          </a:prstGeom>
        </p:spPr>
      </p:pic>
      <p:sp>
        <p:nvSpPr>
          <p:cNvPr id="14" name="Shape 10"/>
          <p:cNvSpPr/>
          <p:nvPr/>
        </p:nvSpPr>
        <p:spPr>
          <a:xfrm>
            <a:off x="8334375" y="1938586"/>
            <a:ext cx="3041650" cy="2266851"/>
          </a:xfrm>
          <a:prstGeom prst="roundRect">
            <a:avLst>
              <a:gd name="adj" fmla="val 4342"/>
            </a:avLst>
          </a:prstGeom>
          <a:solidFill>
            <a:srgbClr val="FCFBF8"/>
          </a:solidFill>
          <a:ln w="6350">
            <a:solidFill>
              <a:srgbClr val="E2DED3"/>
            </a:solidFill>
            <a:prstDash val="solid"/>
          </a:ln>
        </p:spPr>
      </p:sp>
      <p:sp>
        <p:nvSpPr>
          <p:cNvPr id="15" name="Text 11"/>
          <p:cNvSpPr/>
          <p:nvPr/>
        </p:nvSpPr>
        <p:spPr>
          <a:xfrm>
            <a:off x="8591550" y="2195761"/>
            <a:ext cx="260311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6FB6"/>
                </a:solidFill>
                <a:latin typeface="IBM Plex Sans" pitchFamily="34" charset="0"/>
                <a:ea typeface="IBM Plex Sans" pitchFamily="34" charset="-122"/>
                <a:cs typeface="IBM Plex Sans" pitchFamily="34" charset="-120"/>
              </a:rPr>
              <a:t>3 · A DOT ON A MAP</a:t>
            </a:r>
            <a:endParaRPr lang="en-US" sz="1200" dirty="0"/>
          </a:p>
        </p:txBody>
      </p:sp>
      <p:pic>
        <p:nvPicPr>
          <p:cNvPr id="16" name="Image 2" descr="Small scatter of dots in two groups, with one dot circled">    </p:cNvPr>
          <p:cNvPicPr>
            <a:picLocks noChangeAspect="1"/>
          </p:cNvPicPr>
          <p:nvPr/>
        </p:nvPicPr>
        <p:blipFill>
          <a:blip r:embed="rId3"/>
          <a:srcRect l="0" r="0" t="0" b="0"/>
          <a:stretch/>
        </p:blipFill>
        <p:spPr>
          <a:xfrm>
            <a:off x="8591550" y="2485281"/>
            <a:ext cx="2540000" cy="889000"/>
          </a:xfrm>
          <a:prstGeom prst="rect">
            <a:avLst/>
          </a:prstGeom>
        </p:spPr>
      </p:pic>
      <p:sp>
        <p:nvSpPr>
          <p:cNvPr id="17" name="Text 12"/>
          <p:cNvSpPr/>
          <p:nvPr/>
        </p:nvSpPr>
        <p:spPr>
          <a:xfrm>
            <a:off x="8591550" y="3450481"/>
            <a:ext cx="2603119"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UMAP squeezes the 64 numbers into 2: x and y.</a:t>
            </a:r>
            <a:endParaRPr lang="en-US" sz="1400" dirty="0"/>
          </a:p>
        </p:txBody>
      </p:sp>
      <p:sp>
        <p:nvSpPr>
          <p:cNvPr id="18" name="Shape 13"/>
          <p:cNvSpPr/>
          <p:nvPr/>
        </p:nvSpPr>
        <p:spPr>
          <a:xfrm>
            <a:off x="812800" y="4513411"/>
            <a:ext cx="10566400" cy="929580"/>
          </a:xfrm>
          <a:prstGeom prst="roundRect">
            <a:avLst>
              <a:gd name="adj" fmla="val 8197"/>
            </a:avLst>
          </a:prstGeom>
          <a:solidFill>
            <a:srgbClr val="E8EEF7"/>
          </a:solidFill>
          <a:ln/>
        </p:spPr>
      </p:sp>
      <p:sp>
        <p:nvSpPr>
          <p:cNvPr id="19" name="Shape 14"/>
          <p:cNvSpPr/>
          <p:nvPr/>
        </p:nvSpPr>
        <p:spPr>
          <a:xfrm>
            <a:off x="812800" y="4513411"/>
            <a:ext cx="10566400" cy="929580"/>
          </a:xfrm>
          <a:custGeom>
            <a:avLst/>
            <a:gdLst/>
            <a:ahLst/>
            <a:cxnLst/>
            <a:rect l="l" t="t" r="r" b="b"/>
            <a:pathLst>
              <a:path w="10566400" h="929580">
                <a:moveTo>
                  <a:pt x="76200" y="929580"/>
                </a:moveTo>
                <a:lnTo>
                  <a:pt x="76200" y="929580"/>
                </a:lnTo>
                <a:arcTo hR="76200" wR="76200" stAng="5400000" swAng="5400000"/>
                <a:lnTo>
                  <a:pt x="0" y="76200"/>
                </a:lnTo>
                <a:arcTo hR="76200" wR="76200" stAng="10800000" swAng="5400000"/>
                <a:lnTo>
                  <a:pt x="76200" y="0"/>
                </a:lnTo>
                <a:arcTo hR="76200" wR="38100" stAng="16200000" swAng="-5400000"/>
                <a:lnTo>
                  <a:pt x="38100" y="853380"/>
                </a:lnTo>
                <a:arcTo hR="76200" wR="38100" stAng="10800000" swAng="-5400000"/>
                <a:close/>
              </a:path>
            </a:pathLst>
          </a:custGeom>
          <a:solidFill>
            <a:srgbClr val="3B6FB6"/>
          </a:solidFill>
          <a:ln/>
        </p:spPr>
      </p:sp>
      <p:sp>
        <p:nvSpPr>
          <p:cNvPr id="20" name="Text 15"/>
          <p:cNvSpPr/>
          <p:nvPr/>
        </p:nvSpPr>
        <p:spPr>
          <a:xfrm>
            <a:off x="1079500" y="4691211"/>
            <a:ext cx="1037323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Embedding</a:t>
            </a:r>
            <a:r>
              <a:rPr lang="en-US" sz="1400" dirty="0">
                <a:solidFill>
                  <a:srgbClr val="14202E"/>
                </a:solidFill>
                <a:latin typeface="IBM Plex Sans" pitchFamily="34" charset="0"/>
                <a:ea typeface="IBM Plex Sans" pitchFamily="34" charset="-122"/>
                <a:cs typeface="IBM Plex Sans" pitchFamily="34" charset="-120"/>
              </a:rPr>
              <a:t>: a list of numbers that describes a text, so that similar texts get similar numbers.</a:t>
            </a:r>
            <a:endParaRPr lang="en-US" sz="1400" dirty="0"/>
          </a:p>
        </p:txBody>
      </p:sp>
      <p:sp>
        <p:nvSpPr>
          <p:cNvPr id="21" name="Text 16"/>
          <p:cNvSpPr/>
          <p:nvPr/>
        </p:nvSpPr>
        <p:spPr>
          <a:xfrm>
            <a:off x="1079500" y="5016302"/>
            <a:ext cx="103732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On the map, “late delivery” sits next to “product didn't arrive”, and far from “excellent product”.</a:t>
            </a:r>
            <a:endParaRPr lang="en-US" sz="1400" dirty="0"/>
          </a:p>
        </p:txBody>
      </p:sp>
      <p:sp>
        <p:nvSpPr>
          <p:cNvPr id="22" name="Text 17"/>
          <p:cNvSpPr/>
          <p:nvPr/>
        </p:nvSpPr>
        <p:spPr>
          <a:xfrm>
            <a:off x="812800" y="6238280"/>
            <a:ext cx="36300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Fast interactive charts for big data · CSE 578</a:t>
            </a:r>
            <a:endParaRPr lang="en-US" sz="1200" dirty="0"/>
          </a:p>
        </p:txBody>
      </p:sp>
      <p:sp>
        <p:nvSpPr>
          <p:cNvPr id="23" name="Text 18"/>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6FB6"/>
                </a:solidFill>
                <a:latin typeface="IBM Plex Sans" pitchFamily="34" charset="0"/>
                <a:ea typeface="IBM Plex Sans" pitchFamily="34" charset="-122"/>
                <a:cs typeface="IBM Plex Sans" pitchFamily="34" charset="-120"/>
              </a:rPr>
              <a:t>DEMO 2 · EMBEDDING ATLAS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202E"/>
                </a:solidFill>
                <a:latin typeface="IBM Plex Sans" pitchFamily="34" charset="0"/>
                <a:ea typeface="IBM Plex Sans" pitchFamily="34" charset="-122"/>
                <a:cs typeface="IBM Plex Sans" pitchFamily="34" charset="-120"/>
              </a:rPr>
              <a:t>A map of 30,000 customer reviews</a:t>
            </a:r>
            <a:endParaRPr lang="en-US" sz="3600" dirty="0"/>
          </a:p>
        </p:txBody>
      </p:sp>
      <p:sp>
        <p:nvSpPr>
          <p:cNvPr id="4" name="Shape 2"/>
          <p:cNvSpPr/>
          <p:nvPr/>
        </p:nvSpPr>
        <p:spPr>
          <a:xfrm>
            <a:off x="812800" y="1935411"/>
            <a:ext cx="4876800" cy="3898900"/>
          </a:xfrm>
          <a:prstGeom prst="roundRect">
            <a:avLst>
              <a:gd name="adj" fmla="val 1954"/>
            </a:avLst>
          </a:prstGeom>
          <a:solidFill>
            <a:srgbClr val="F6F4EE"/>
          </a:solidFill>
          <a:ln/>
        </p:spPr>
      </p:sp>
      <p:pic>
        <p:nvPicPr>
          <p:cNvPr id="5" name="Image 0" descr="Map of 30,000 review comments: 4–5 star reviews in one region, 3 star in another, and 1–2 star reviews split into a late-delivery group and an on-time group">    </p:cNvPr>
          <p:cNvPicPr>
            <a:picLocks noChangeAspect="1"/>
          </p:cNvPicPr>
          <p:nvPr/>
        </p:nvPicPr>
        <p:blipFill>
          <a:blip r:embed="rId1"/>
          <a:srcRect l="-65" r="-65" t="0" b="0"/>
          <a:stretch/>
        </p:blipFill>
        <p:spPr>
          <a:xfrm>
            <a:off x="819150" y="1941761"/>
            <a:ext cx="4864100" cy="3886200"/>
          </a:xfrm>
          <a:prstGeom prst="roundRect">
            <a:avLst>
              <a:gd name="adj" fmla="val 1797"/>
            </a:avLst>
          </a:prstGeom>
        </p:spPr>
      </p:pic>
      <p:sp>
        <p:nvSpPr>
          <p:cNvPr id="6" name="Shape 3"/>
          <p:cNvSpPr/>
          <p:nvPr/>
        </p:nvSpPr>
        <p:spPr>
          <a:xfrm>
            <a:off x="815975" y="1938586"/>
            <a:ext cx="4870450" cy="3892550"/>
          </a:xfrm>
          <a:prstGeom prst="roundRect">
            <a:avLst>
              <a:gd name="adj" fmla="val 1876"/>
            </a:avLst>
          </a:prstGeom>
          <a:noFill/>
          <a:ln w="6350">
            <a:solidFill>
              <a:srgbClr val="E2DED3"/>
            </a:solidFill>
            <a:prstDash val="solid"/>
          </a:ln>
        </p:spPr>
      </p:sp>
      <p:sp>
        <p:nvSpPr>
          <p:cNvPr id="7" name="Text 4"/>
          <p:cNvSpPr/>
          <p:nvPr/>
        </p:nvSpPr>
        <p:spPr>
          <a:xfrm>
            <a:off x="5994400" y="1935411"/>
            <a:ext cx="554634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673"/>
                </a:solidFill>
                <a:latin typeface="IBM Plex Sans" pitchFamily="34" charset="0"/>
                <a:ea typeface="IBM Plex Sans" pitchFamily="34" charset="-122"/>
                <a:cs typeface="IBM Plex Sans" pitchFamily="34" charset="-120"/>
              </a:rPr>
              <a:t>HOW TO READ IT</a:t>
            </a:r>
            <a:endParaRPr lang="en-US" sz="1200" dirty="0"/>
          </a:p>
        </p:txBody>
      </p:sp>
      <p:sp>
        <p:nvSpPr>
          <p:cNvPr id="8" name="Text 5"/>
          <p:cNvSpPr/>
          <p:nvPr/>
        </p:nvSpPr>
        <p:spPr>
          <a:xfrm>
            <a:off x="5994400" y="2250331"/>
            <a:ext cx="5546344"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Each dot is one review. Dots close together use similar wording. Color shows the star rating and, for 1–2★, whether the order was late.</a:t>
            </a:r>
            <a:endParaRPr lang="en-US" sz="1400" dirty="0"/>
          </a:p>
        </p:txBody>
      </p:sp>
      <p:sp>
        <p:nvSpPr>
          <p:cNvPr id="9" name="Text 6"/>
          <p:cNvSpPr/>
          <p:nvPr/>
        </p:nvSpPr>
        <p:spPr>
          <a:xfrm>
            <a:off x="5994400" y="3098602"/>
            <a:ext cx="554634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673"/>
                </a:solidFill>
                <a:latin typeface="IBM Plex Sans" pitchFamily="34" charset="0"/>
                <a:ea typeface="IBM Plex Sans" pitchFamily="34" charset="-122"/>
                <a:cs typeface="IBM Plex Sans" pitchFamily="34" charset="-120"/>
              </a:rPr>
              <a:t>WHAT IT SHOWS</a:t>
            </a:r>
            <a:endParaRPr lang="en-US" sz="1200" dirty="0"/>
          </a:p>
        </p:txBody>
      </p:sp>
      <p:sp>
        <p:nvSpPr>
          <p:cNvPr id="10" name="Text 7"/>
          <p:cNvSpPr/>
          <p:nvPr/>
        </p:nvSpPr>
        <p:spPr>
          <a:xfrm>
            <a:off x="5994400" y="3413522"/>
            <a:ext cx="554634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2E"/>
                </a:solidFill>
                <a:latin typeface="IBM Plex Sans" pitchFamily="34" charset="0"/>
                <a:ea typeface="IBM Plex Sans" pitchFamily="34" charset="-122"/>
                <a:cs typeface="IBM Plex Sans" pitchFamily="34" charset="-120"/>
              </a:rPr>
              <a:t>Bad reviews form two separate groups: </a:t>
            </a:r>
            <a:r>
              <a:rPr lang="en-US" sz="1400" dirty="0">
                <a:solidFill>
                  <a:srgbClr val="C4423B"/>
                </a:solidFill>
                <a:latin typeface="IBM Plex Sans" pitchFamily="34" charset="0"/>
                <a:ea typeface="IBM Plex Sans" pitchFamily="34" charset="-122"/>
                <a:cs typeface="IBM Plex Sans" pitchFamily="34" charset="-120"/>
              </a:rPr>
              <a:t>delivery complaints</a:t>
            </a:r>
            <a:r>
              <a:rPr lang="en-US" sz="1400" dirty="0">
                <a:solidFill>
                  <a:srgbClr val="14202E"/>
                </a:solidFill>
                <a:latin typeface="IBM Plex Sans" pitchFamily="34" charset="0"/>
                <a:ea typeface="IBM Plex Sans" pitchFamily="34" charset="-122"/>
                <a:cs typeface="IBM Plex Sans" pitchFamily="34" charset="-120"/>
              </a:rPr>
              <a:t>, mostly late orders, and </a:t>
            </a:r>
            <a:r>
              <a:rPr lang="en-US" sz="1400" dirty="0">
                <a:solidFill>
                  <a:srgbClr val="9A5410"/>
                </a:solidFill>
                <a:latin typeface="IBM Plex Sans" pitchFamily="34" charset="0"/>
                <a:ea typeface="IBM Plex Sans" pitchFamily="34" charset="-122"/>
                <a:cs typeface="IBM Plex Sans" pitchFamily="34" charset="-120"/>
              </a:rPr>
              <a:t>product complaints</a:t>
            </a:r>
            <a:r>
              <a:rPr lang="en-US" sz="1400" dirty="0">
                <a:solidFill>
                  <a:srgbClr val="14202E"/>
                </a:solidFill>
                <a:latin typeface="IBM Plex Sans" pitchFamily="34" charset="0"/>
                <a:ea typeface="IBM Plex Sans" pitchFamily="34" charset="-122"/>
                <a:cs typeface="IBM Plex Sans" pitchFamily="34" charset="-120"/>
              </a:rPr>
              <a:t>, mostly on time.</a:t>
            </a:r>
            <a:endParaRPr lang="en-US" sz="1400" dirty="0"/>
          </a:p>
        </p:txBody>
      </p:sp>
      <p:sp>
        <p:nvSpPr>
          <p:cNvPr id="11" name="Text 8"/>
          <p:cNvSpPr/>
          <p:nvPr/>
        </p:nvSpPr>
        <p:spPr>
          <a:xfrm>
            <a:off x="5994400" y="4012902"/>
            <a:ext cx="554634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673"/>
                </a:solidFill>
                <a:latin typeface="IBM Plex Sans" pitchFamily="34" charset="0"/>
                <a:ea typeface="IBM Plex Sans" pitchFamily="34" charset="-122"/>
                <a:cs typeface="IBM Plex Sans" pitchFamily="34" charset="-120"/>
              </a:rPr>
              <a:t>WHY IT MATTERS</a:t>
            </a:r>
            <a:endParaRPr lang="en-US" sz="1200" dirty="0"/>
          </a:p>
        </p:txBody>
      </p:sp>
      <p:sp>
        <p:nvSpPr>
          <p:cNvPr id="12" name="Text 9"/>
          <p:cNvSpPr/>
          <p:nvPr/>
        </p:nvSpPr>
        <p:spPr>
          <a:xfrm>
            <a:off x="5994400" y="4327823"/>
            <a:ext cx="554634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2E"/>
                </a:solidFill>
                <a:latin typeface="IBM Plex Sans" pitchFamily="34" charset="0"/>
                <a:ea typeface="IBM Plex Sans" pitchFamily="34" charset="-122"/>
                <a:cs typeface="IBM Plex Sans" pitchFamily="34" charset="-120"/>
              </a:rPr>
              <a:t>Same star rating, two different problems to fix.</a:t>
            </a:r>
            <a:endParaRPr lang="en-US" sz="1400" dirty="0"/>
          </a:p>
        </p:txBody>
      </p:sp>
      <p:sp>
        <p:nvSpPr>
          <p:cNvPr id="13" name="Text 10"/>
          <p:cNvSpPr/>
          <p:nvPr/>
        </p:nvSpPr>
        <p:spPr>
          <a:xfrm>
            <a:off x="5994400" y="4678313"/>
            <a:ext cx="554634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Live tool: selecting dots filters the other charts. Needs a WebGPU browser such as recent Chrome.</a:t>
            </a:r>
            <a:endParaRPr lang="en-US" sz="1200" dirty="0"/>
          </a:p>
        </p:txBody>
      </p:sp>
      <p:sp>
        <p:nvSpPr>
          <p:cNvPr id="14" name="Text 11"/>
          <p:cNvSpPr/>
          <p:nvPr/>
        </p:nvSpPr>
        <p:spPr>
          <a:xfrm>
            <a:off x="812800" y="6238280"/>
            <a:ext cx="36300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Fast interactive charts for big data · CSE 578</a:t>
            </a:r>
            <a:endParaRPr lang="en-US" sz="1200" dirty="0"/>
          </a:p>
        </p:txBody>
      </p:sp>
      <p:sp>
        <p:nvSpPr>
          <p:cNvPr id="15" name="Text 12"/>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6FB6"/>
                </a:solidFill>
                <a:latin typeface="IBM Plex Sans" pitchFamily="34" charset="0"/>
                <a:ea typeface="IBM Plex Sans" pitchFamily="34" charset="-122"/>
                <a:cs typeface="IBM Plex Sans" pitchFamily="34" charset="-120"/>
              </a:rPr>
              <a:t>WRAP-UP · COMPARISON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202E"/>
                </a:solidFill>
                <a:latin typeface="IBM Plex Sans" pitchFamily="34" charset="0"/>
                <a:ea typeface="IBM Plex Sans" pitchFamily="34" charset="-122"/>
                <a:cs typeface="IBM Plex Sans" pitchFamily="34" charset="-120"/>
              </a:rPr>
              <a:t>How it compares to popular tools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46511"/>
          <a:ext cx="10553700" cy="2755404"/>
        </p:xfrm>
        <a:graphic>
          <a:graphicData uri="http://schemas.openxmlformats.org/drawingml/2006/table">
            <a:tbl>
              <a:tblPr/>
              <a:tblGrid>
                <a:gridCol w="1477518"/>
                <a:gridCol w="1583055"/>
                <a:gridCol w="3693795"/>
                <a:gridCol w="1688592"/>
                <a:gridCol w="2110740"/>
              </a:tblGrid>
              <a:tr h="332680">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Tool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You build by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Millions of rows?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Linked charts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Cost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r>
              <a:tr h="332680">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Excel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Clicking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No: limit of 1,048,576 rows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Slicers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Paid, closed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546001">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Power BI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Clicking (Windows app)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Yes, but charts sample: a scatter plot shows 3,500 dots by default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Yes, built 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$14/user/month to share, closed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2680">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Tableau</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Clicking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Yes: extracts or live database queries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Yes, via actions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Paid to share, closed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546001">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Plotly / Dash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Python code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All rows go to the browser unless you write server code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Extra code (callbacks)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Free, open source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2680">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Altair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Python code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All rows go into the chart; 5,000-row default limit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Yes, built 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Free, open source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32680">
                <a:tc>
                  <a:txBody>
                    <a:bodyPr/>
                    <a:lstStyle/>
                    <a:p>
                      <a:pPr indent="0" marL="0">
                        <a:lnSpc>
                          <a:spcPts val="1680"/>
                        </a:lnSpc>
                        <a:buNone/>
                      </a:pPr>
                      <a:r>
                        <a:rPr lang="en-US" sz="1200" dirty="0">
                          <a:solidFill>
                            <a:srgbClr val="2F5C9C"/>
                          </a:solidFill>
                          <a:latin typeface="IBM Plex Sans" pitchFamily="34" charset="0"/>
                          <a:ea typeface="IBM Plex Sans" pitchFamily="34" charset="-122"/>
                          <a:cs typeface="IBM Plex Sans" pitchFamily="34" charset="-120"/>
                        </a:rPr>
                        <a:t>Mosaic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9BEC5"/>
                      </a:solidFill>
                      <a:prstDash val="solid"/>
                      <a:round/>
                      <a:headEnd type="none" w="med" len="med"/>
                      <a:tailEnd type="none" w="med" len="med"/>
                    </a:lnB>
                    <a:solidFill>
                      <a:srgbClr val="E8EEF7"/>
                    </a:solidFill>
                  </a:tcPr>
                </a:tc>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Python or JS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EC5"/>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9BEC5"/>
                      </a:solidFill>
                      <a:prstDash val="solid"/>
                      <a:round/>
                      <a:headEnd type="none" w="med" len="med"/>
                      <a:tailEnd type="none" w="med" len="med"/>
                    </a:lnB>
                    <a:solidFill>
                      <a:srgbClr val="E8EEF7"/>
                    </a:solidFill>
                  </a:tcPr>
                </a:tc>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Yes: the database counts, charts get only totals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EC5"/>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9BEC5"/>
                      </a:solidFill>
                      <a:prstDash val="solid"/>
                      <a:round/>
                      <a:headEnd type="none" w="med" len="med"/>
                      <a:tailEnd type="none" w="med" len="med"/>
                    </a:lnB>
                    <a:solidFill>
                      <a:srgbClr val="E8EEF7"/>
                    </a:solidFill>
                  </a:tcPr>
                </a:tc>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Yes, built 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EC5"/>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9BEC5"/>
                      </a:solidFill>
                      <a:prstDash val="solid"/>
                      <a:round/>
                      <a:headEnd type="none" w="med" len="med"/>
                      <a:tailEnd type="none" w="med" len="med"/>
                    </a:lnB>
                    <a:solidFill>
                      <a:srgbClr val="E8EEF7"/>
                    </a:solidFill>
                  </a:tcPr>
                </a:tc>
                <a:tc>
                  <a:txBody>
                    <a:bodyPr/>
                    <a:lstStyle/>
                    <a:p>
                      <a:pP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Free, open source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EC5"/>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9BEC5"/>
                      </a:solidFill>
                      <a:prstDash val="solid"/>
                      <a:round/>
                      <a:headEnd type="none" w="med" len="med"/>
                      <a:tailEnd type="none" w="med" len="med"/>
                    </a:lnB>
                    <a:solidFill>
                      <a:srgbClr val="E8EEF7"/>
                    </a:solidFill>
                  </a:tcPr>
                </a:tc>
              </a:tr>
            </a:tbl>
          </a:graphicData>
        </a:graphic>
      </p:graphicFrame>
      <p:sp>
        <p:nvSpPr>
          <p:cNvPr id="5" name="Text 2"/>
          <p:cNvSpPr/>
          <p:nvPr/>
        </p:nvSpPr>
        <p:spPr>
          <a:xfrm>
            <a:off x="812800" y="6238280"/>
            <a:ext cx="63371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Sources: Microsoft Power BI docs and pricing; Altair docs (checked Oct 2026)</a:t>
            </a:r>
            <a:endParaRPr lang="en-US" sz="1200" dirty="0"/>
          </a:p>
        </p:txBody>
      </p:sp>
      <p:sp>
        <p:nvSpPr>
          <p:cNvPr id="6" name="Text 3"/>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6FB6"/>
                </a:solidFill>
                <a:latin typeface="IBM Plex Sans" pitchFamily="34" charset="0"/>
                <a:ea typeface="IBM Plex Sans" pitchFamily="34" charset="-122"/>
                <a:cs typeface="IBM Plex Sans" pitchFamily="34" charset="-120"/>
              </a:rPr>
              <a:t>WRAP-UP · COMPARISON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202E"/>
                </a:solidFill>
                <a:latin typeface="IBM Plex Sans" pitchFamily="34" charset="0"/>
                <a:ea typeface="IBM Plex Sans" pitchFamily="34" charset="-122"/>
                <a:cs typeface="IBM Plex Sans" pitchFamily="34" charset="-120"/>
              </a:rPr>
              <a:t>So why not Power BI or Altair?</a:t>
            </a:r>
            <a:endParaRPr lang="en-US" sz="3600" dirty="0"/>
          </a:p>
        </p:txBody>
      </p:sp>
      <p:sp>
        <p:nvSpPr>
          <p:cNvPr id="4" name="Shape 2"/>
          <p:cNvSpPr/>
          <p:nvPr/>
        </p:nvSpPr>
        <p:spPr>
          <a:xfrm>
            <a:off x="815975" y="1836986"/>
            <a:ext cx="5175250" cy="3038971"/>
          </a:xfrm>
          <a:prstGeom prst="roundRect">
            <a:avLst>
              <a:gd name="adj" fmla="val 3239"/>
            </a:avLst>
          </a:prstGeom>
          <a:solidFill>
            <a:srgbClr val="FCFBF8"/>
          </a:solidFill>
          <a:ln w="6350">
            <a:solidFill>
              <a:srgbClr val="E2DED3"/>
            </a:solidFill>
            <a:prstDash val="solid"/>
          </a:ln>
        </p:spPr>
      </p:sp>
      <p:sp>
        <p:nvSpPr>
          <p:cNvPr id="5" name="Text 3"/>
          <p:cNvSpPr/>
          <p:nvPr/>
        </p:nvSpPr>
        <p:spPr>
          <a:xfrm>
            <a:off x="1073150" y="2094161"/>
            <a:ext cx="480072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02E"/>
                </a:solidFill>
                <a:latin typeface="IBM Plex Sans" pitchFamily="34" charset="0"/>
                <a:ea typeface="IBM Plex Sans" pitchFamily="34" charset="-122"/>
                <a:cs typeface="IBM Plex Sans" pitchFamily="34" charset="-120"/>
              </a:rPr>
              <a:t>Power BI</a:t>
            </a:r>
            <a:endParaRPr lang="en-US" sz="2200" dirty="0"/>
          </a:p>
        </p:txBody>
      </p:sp>
      <p:sp>
        <p:nvSpPr>
          <p:cNvPr id="6" name="Text 4"/>
          <p:cNvSpPr/>
          <p:nvPr/>
        </p:nvSpPr>
        <p:spPr>
          <a:xfrm>
            <a:off x="1073150" y="2531021"/>
            <a:ext cx="480072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2E"/>
                </a:solidFill>
                <a:latin typeface="IBM Plex Sans" pitchFamily="34" charset="0"/>
                <a:ea typeface="IBM Plex Sans" pitchFamily="34" charset="-122"/>
                <a:cs typeface="IBM Plex Sans" pitchFamily="34" charset="-120"/>
              </a:rPr>
              <a:t>Great for business reports. Its DirectQuery mode even asks a database, like Mosaic.</a:t>
            </a:r>
            <a:endParaRPr lang="en-US" sz="1400" dirty="0"/>
          </a:p>
        </p:txBody>
      </p:sp>
      <p:sp>
        <p:nvSpPr>
          <p:cNvPr id="7" name="Text 5"/>
          <p:cNvSpPr/>
          <p:nvPr/>
        </p:nvSpPr>
        <p:spPr>
          <a:xfrm>
            <a:off x="1158494" y="3130401"/>
            <a:ext cx="4707763" cy="71879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3D4654"/>
                </a:solidFill>
                <a:latin typeface="IBM Plex Sans" pitchFamily="34" charset="0"/>
                <a:ea typeface="IBM Plex Sans" pitchFamily="34" charset="-122"/>
                <a:cs typeface="IBM Plex Sans" pitchFamily="34" charset="-120"/>
              </a:rPr>
              <a:t>Closed: you can't see or change how it works</a:t>
            </a:r>
            <a:endParaRPr lang="en-US" sz="1300" dirty="0"/>
          </a:p>
          <a:p>
            <a:pPr algn="l" marL="168656" indent="-168656">
              <a:lnSpc>
                <a:spcPts val="1820"/>
              </a:lnSpc>
              <a:buSzPct val="100000"/>
              <a:buChar char="•"/>
            </a:pPr>
            <a:r>
              <a:rPr lang="en-US" sz="1300" dirty="0">
                <a:solidFill>
                  <a:srgbClr val="3D4654"/>
                </a:solidFill>
                <a:latin typeface="IBM Plex Sans" pitchFamily="34" charset="0"/>
                <a:ea typeface="IBM Plex Sans" pitchFamily="34" charset="-122"/>
                <a:cs typeface="IBM Plex Sans" pitchFamily="34" charset="-120"/>
              </a:rPr>
              <a:t>Windows-only app; $14 per user per month to share</a:t>
            </a:r>
            <a:endParaRPr lang="en-US" sz="1300" dirty="0"/>
          </a:p>
          <a:p>
            <a:pPr algn="l" marL="168656" indent="-168656">
              <a:lnSpc>
                <a:spcPts val="1820"/>
              </a:lnSpc>
              <a:buSzPct val="100000"/>
              <a:buChar char="•"/>
            </a:pPr>
            <a:r>
              <a:rPr lang="en-US" sz="1300" dirty="0">
                <a:solidFill>
                  <a:srgbClr val="3D4654"/>
                </a:solidFill>
                <a:latin typeface="IBM Plex Sans" pitchFamily="34" charset="0"/>
                <a:ea typeface="IBM Plex Sans" pitchFamily="34" charset="-122"/>
                <a:cs typeface="IBM Plex Sans" pitchFamily="34" charset="-120"/>
              </a:rPr>
              <a:t>Samples big data: 3,500 dots per scatter plot by default</a:t>
            </a:r>
            <a:endParaRPr lang="en-US" sz="1300" dirty="0"/>
          </a:p>
        </p:txBody>
      </p:sp>
      <p:sp>
        <p:nvSpPr>
          <p:cNvPr id="8" name="Text 6"/>
          <p:cNvSpPr/>
          <p:nvPr/>
        </p:nvSpPr>
        <p:spPr>
          <a:xfrm>
            <a:off x="1073150" y="3925391"/>
            <a:ext cx="4800727"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02E"/>
                </a:solidFill>
                <a:latin typeface="IBM Plex Sans" pitchFamily="34" charset="0"/>
                <a:ea typeface="IBM Plex Sans" pitchFamily="34" charset="-122"/>
                <a:cs typeface="IBM Plex Sans" pitchFamily="34" charset="-120"/>
              </a:rPr>
              <a:t>Pick it when</a:t>
            </a:r>
            <a:r>
              <a:rPr lang="en-US" sz="1300" dirty="0">
                <a:solidFill>
                  <a:srgbClr val="14202E"/>
                </a:solidFill>
                <a:latin typeface="IBM Plex Sans" pitchFamily="34" charset="0"/>
                <a:ea typeface="IBM Plex Sans" pitchFamily="34" charset="-122"/>
                <a:cs typeface="IBM Plex Sans" pitchFamily="34" charset="-120"/>
              </a:rPr>
              <a:t> your company already uses Microsoft and needs standard reports.</a:t>
            </a:r>
            <a:endParaRPr lang="en-US" sz="1300" dirty="0"/>
          </a:p>
        </p:txBody>
      </p:sp>
      <p:sp>
        <p:nvSpPr>
          <p:cNvPr id="9" name="Shape 7"/>
          <p:cNvSpPr/>
          <p:nvPr/>
        </p:nvSpPr>
        <p:spPr>
          <a:xfrm>
            <a:off x="6200775" y="1836986"/>
            <a:ext cx="5175250" cy="3038971"/>
          </a:xfrm>
          <a:prstGeom prst="roundRect">
            <a:avLst>
              <a:gd name="adj" fmla="val 3239"/>
            </a:avLst>
          </a:prstGeom>
          <a:solidFill>
            <a:srgbClr val="FCFBF8"/>
          </a:solidFill>
          <a:ln w="6350">
            <a:solidFill>
              <a:srgbClr val="E2DED3"/>
            </a:solidFill>
            <a:prstDash val="solid"/>
          </a:ln>
        </p:spPr>
      </p:sp>
      <p:sp>
        <p:nvSpPr>
          <p:cNvPr id="10" name="Text 8"/>
          <p:cNvSpPr/>
          <p:nvPr/>
        </p:nvSpPr>
        <p:spPr>
          <a:xfrm>
            <a:off x="6457950" y="2094161"/>
            <a:ext cx="480072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02E"/>
                </a:solidFill>
                <a:latin typeface="IBM Plex Sans" pitchFamily="34" charset="0"/>
                <a:ea typeface="IBM Plex Sans" pitchFamily="34" charset="-122"/>
                <a:cs typeface="IBM Plex Sans" pitchFamily="34" charset="-120"/>
              </a:rPr>
              <a:t>Altair</a:t>
            </a:r>
            <a:endParaRPr lang="en-US" sz="2200" dirty="0"/>
          </a:p>
        </p:txBody>
      </p:sp>
      <p:sp>
        <p:nvSpPr>
          <p:cNvPr id="11" name="Text 9"/>
          <p:cNvSpPr/>
          <p:nvPr/>
        </p:nvSpPr>
        <p:spPr>
          <a:xfrm>
            <a:off x="6457950" y="2531021"/>
            <a:ext cx="480072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2E"/>
                </a:solidFill>
                <a:latin typeface="IBM Plex Sans" pitchFamily="34" charset="0"/>
                <a:ea typeface="IBM Plex Sans" pitchFamily="34" charset="-122"/>
                <a:cs typeface="IBM Plex Sans" pitchFamily="34" charset="-120"/>
              </a:rPr>
              <a:t>Great for learning charts in Python. Built on Vega-Lite, from Mosaic's lab.</a:t>
            </a:r>
            <a:endParaRPr lang="en-US" sz="1400" dirty="0"/>
          </a:p>
        </p:txBody>
      </p:sp>
      <p:sp>
        <p:nvSpPr>
          <p:cNvPr id="12" name="Text 10"/>
          <p:cNvSpPr/>
          <p:nvPr/>
        </p:nvSpPr>
        <p:spPr>
          <a:xfrm>
            <a:off x="6543294" y="3130401"/>
            <a:ext cx="4707763" cy="94992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3D4654"/>
                </a:solidFill>
                <a:latin typeface="IBM Plex Sans" pitchFamily="34" charset="0"/>
                <a:ea typeface="IBM Plex Sans" pitchFamily="34" charset="-122"/>
                <a:cs typeface="IBM Plex Sans" pitchFamily="34" charset="-120"/>
              </a:rPr>
              <a:t>Copies every row into the chart</a:t>
            </a:r>
            <a:endParaRPr lang="en-US" sz="1300" dirty="0"/>
          </a:p>
          <a:p>
            <a:pPr algn="l" marL="168656" indent="-168656">
              <a:lnSpc>
                <a:spcPts val="1820"/>
              </a:lnSpc>
              <a:buSzPct val="100000"/>
              <a:buChar char="•"/>
            </a:pPr>
            <a:r>
              <a:rPr lang="en-US" sz="1300" dirty="0">
                <a:solidFill>
                  <a:srgbClr val="3D4654"/>
                </a:solidFill>
                <a:latin typeface="IBM Plex Sans" pitchFamily="34" charset="0"/>
                <a:ea typeface="IBM Plex Sans" pitchFamily="34" charset="-122"/>
                <a:cs typeface="IBM Plex Sans" pitchFamily="34" charset="-120"/>
              </a:rPr>
              <a:t>Stops at 5,000 rows unless you change a setting</a:t>
            </a:r>
            <a:endParaRPr lang="en-US" sz="1300" dirty="0"/>
          </a:p>
          <a:p>
            <a:pPr algn="l" marL="168656" indent="-168656">
              <a:lnSpc>
                <a:spcPts val="1820"/>
              </a:lnSpc>
              <a:buSzPct val="100000"/>
              <a:buChar char="•"/>
            </a:pPr>
            <a:r>
              <a:rPr lang="en-US" sz="1300" dirty="0">
                <a:solidFill>
                  <a:srgbClr val="3D4654"/>
                </a:solidFill>
                <a:latin typeface="IBM Plex Sans" pitchFamily="34" charset="0"/>
                <a:ea typeface="IBM Plex Sans" pitchFamily="34" charset="-122"/>
                <a:cs typeface="IBM Plex Sans" pitchFamily="34" charset="-120"/>
              </a:rPr>
              <a:t>VegaFusion add-on: 100,000 rows, or millions inside Jupyter</a:t>
            </a:r>
            <a:endParaRPr lang="en-US" sz="1300" dirty="0"/>
          </a:p>
        </p:txBody>
      </p:sp>
      <p:sp>
        <p:nvSpPr>
          <p:cNvPr id="13" name="Text 11"/>
          <p:cNvSpPr/>
          <p:nvPr/>
        </p:nvSpPr>
        <p:spPr>
          <a:xfrm>
            <a:off x="6457950" y="4156521"/>
            <a:ext cx="4800727"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02E"/>
                </a:solidFill>
                <a:latin typeface="IBM Plex Sans" pitchFamily="34" charset="0"/>
                <a:ea typeface="IBM Plex Sans" pitchFamily="34" charset="-122"/>
                <a:cs typeface="IBM Plex Sans" pitchFamily="34" charset="-120"/>
              </a:rPr>
              <a:t>Pick it when</a:t>
            </a:r>
            <a:r>
              <a:rPr lang="en-US" sz="1300" dirty="0">
                <a:solidFill>
                  <a:srgbClr val="14202E"/>
                </a:solidFill>
                <a:latin typeface="IBM Plex Sans" pitchFamily="34" charset="0"/>
                <a:ea typeface="IBM Plex Sans" pitchFamily="34" charset="-122"/>
                <a:cs typeface="IBM Plex Sans" pitchFamily="34" charset="-120"/>
              </a:rPr>
              <a:t> your data has under about 50,000 rows, or the chart is for a report.</a:t>
            </a:r>
            <a:endParaRPr lang="en-US" sz="1300" dirty="0"/>
          </a:p>
        </p:txBody>
      </p:sp>
      <p:sp>
        <p:nvSpPr>
          <p:cNvPr id="14" name="Text 12"/>
          <p:cNvSpPr/>
          <p:nvPr/>
        </p:nvSpPr>
        <p:spPr>
          <a:xfrm>
            <a:off x="812800" y="5082332"/>
            <a:ext cx="10883392" cy="29969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3B6FB6"/>
                </a:solidFill>
                <a:latin typeface="IBM Plex Sans" pitchFamily="34" charset="0"/>
                <a:ea typeface="IBM Plex Sans" pitchFamily="34" charset="-122"/>
                <a:cs typeface="IBM Plex Sans" pitchFamily="34" charset="-120"/>
              </a:rPr>
              <a:t>Mosaic = Power BI's “ask the database” idea + Altair's free, code-first style.</a:t>
            </a:r>
            <a:endParaRPr lang="en-US" sz="1600" dirty="0"/>
          </a:p>
        </p:txBody>
      </p:sp>
      <p:sp>
        <p:nvSpPr>
          <p:cNvPr id="15" name="Text 13"/>
          <p:cNvSpPr/>
          <p:nvPr/>
        </p:nvSpPr>
        <p:spPr>
          <a:xfrm>
            <a:off x="812800" y="6238280"/>
            <a:ext cx="63371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Sources: Microsoft Power BI docs and pricing; Altair docs (checked Oct 2026)</a:t>
            </a:r>
            <a:endParaRPr lang="en-US" sz="1200" dirty="0"/>
          </a:p>
        </p:txBody>
      </p:sp>
      <p:sp>
        <p:nvSpPr>
          <p:cNvPr id="16" name="Text 14"/>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6FB6"/>
                </a:solidFill>
                <a:latin typeface="IBM Plex Sans" pitchFamily="34" charset="0"/>
                <a:ea typeface="IBM Plex Sans" pitchFamily="34" charset="-122"/>
                <a:cs typeface="IBM Plex Sans" pitchFamily="34" charset="-120"/>
              </a:rPr>
              <a:t>WRAP-UP</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202E"/>
                </a:solidFill>
                <a:latin typeface="IBM Plex Sans" pitchFamily="34" charset="0"/>
                <a:ea typeface="IBM Plex Sans" pitchFamily="34" charset="-122"/>
                <a:cs typeface="IBM Plex Sans" pitchFamily="34" charset="-120"/>
              </a:rPr>
              <a:t>When to use these tools</a:t>
            </a:r>
            <a:endParaRPr lang="en-US" sz="3600" dirty="0"/>
          </a:p>
        </p:txBody>
      </p:sp>
      <p:sp>
        <p:nvSpPr>
          <p:cNvPr id="4" name="Shape 2"/>
          <p:cNvSpPr/>
          <p:nvPr/>
        </p:nvSpPr>
        <p:spPr>
          <a:xfrm>
            <a:off x="822325" y="1944936"/>
            <a:ext cx="5175250" cy="2297410"/>
          </a:xfrm>
          <a:prstGeom prst="roundRect">
            <a:avLst>
              <a:gd name="adj" fmla="val 4008"/>
            </a:avLst>
          </a:prstGeom>
          <a:solidFill>
            <a:srgbClr val="FCFBF8"/>
          </a:solidFill>
          <a:ln w="19050">
            <a:solidFill>
              <a:srgbClr val="3B6FB6"/>
            </a:solidFill>
            <a:prstDash val="solid"/>
          </a:ln>
        </p:spPr>
      </p:sp>
      <p:pic>
        <p:nvPicPr>
          <p:cNvPr id="5" name="Image 0" descr="CheckCircle">    </p:cNvPr>
          <p:cNvPicPr>
            <a:picLocks noChangeAspect="1"/>
          </p:cNvPicPr>
          <p:nvPr/>
        </p:nvPicPr>
        <p:blipFill>
          <a:blip r:embed="rId1"/>
          <a:srcRect l="0" r="0" t="0" b="0"/>
          <a:stretch/>
        </p:blipFill>
        <p:spPr>
          <a:xfrm>
            <a:off x="1085850" y="2223691"/>
            <a:ext cx="304800" cy="304800"/>
          </a:xfrm>
          <a:prstGeom prst="rect">
            <a:avLst/>
          </a:prstGeom>
        </p:spPr>
      </p:pic>
      <p:sp>
        <p:nvSpPr>
          <p:cNvPr id="6" name="Text 3"/>
          <p:cNvSpPr/>
          <p:nvPr/>
        </p:nvSpPr>
        <p:spPr>
          <a:xfrm>
            <a:off x="1492250" y="2208461"/>
            <a:ext cx="123057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02E"/>
                </a:solidFill>
                <a:latin typeface="IBM Plex Sans" pitchFamily="34" charset="0"/>
                <a:ea typeface="IBM Plex Sans" pitchFamily="34" charset="-122"/>
                <a:cs typeface="IBM Plex Sans" pitchFamily="34" charset="-120"/>
              </a:rPr>
              <a:t>Good fit</a:t>
            </a:r>
            <a:endParaRPr lang="en-US" sz="2200" dirty="0"/>
          </a:p>
        </p:txBody>
      </p:sp>
      <p:sp>
        <p:nvSpPr>
          <p:cNvPr id="7" name="Text 4"/>
          <p:cNvSpPr/>
          <p:nvPr/>
        </p:nvSpPr>
        <p:spPr>
          <a:xfrm>
            <a:off x="1164082" y="2670721"/>
            <a:ext cx="4701794" cy="8255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3D4654"/>
                </a:solidFill>
                <a:latin typeface="IBM Plex Sans" pitchFamily="34" charset="0"/>
                <a:ea typeface="IBM Plex Sans" pitchFamily="34" charset="-122"/>
                <a:cs typeface="IBM Plex Sans" pitchFamily="34" charset="-120"/>
              </a:rPr>
              <a:t>Hundreds of thousands of rows, or more</a:t>
            </a:r>
            <a:endParaRPr lang="en-US" sz="1400" dirty="0"/>
          </a:p>
          <a:p>
            <a:pPr algn="l" marL="175768" indent="-175768">
              <a:lnSpc>
                <a:spcPts val="2100"/>
              </a:lnSpc>
              <a:buSzPct val="100000"/>
              <a:buChar char="•"/>
            </a:pPr>
            <a:r>
              <a:rPr lang="en-US" sz="1400" dirty="0">
                <a:solidFill>
                  <a:srgbClr val="3D4654"/>
                </a:solidFill>
                <a:latin typeface="IBM Plex Sans" pitchFamily="34" charset="0"/>
                <a:ea typeface="IBM Plex Sans" pitchFamily="34" charset="-122"/>
                <a:cs typeface="IBM Plex Sans" pitchFamily="34" charset="-120"/>
              </a:rPr>
              <a:t>Several linked charts you explore by brushing</a:t>
            </a:r>
            <a:endParaRPr lang="en-US" sz="1400" dirty="0"/>
          </a:p>
          <a:p>
            <a:pPr algn="l" marL="175768" indent="-175768">
              <a:lnSpc>
                <a:spcPts val="2100"/>
              </a:lnSpc>
              <a:buSzPct val="100000"/>
              <a:buChar char="•"/>
            </a:pPr>
            <a:r>
              <a:rPr lang="en-US" sz="1400" dirty="0">
                <a:solidFill>
                  <a:srgbClr val="3D4654"/>
                </a:solidFill>
                <a:latin typeface="IBM Plex Sans" pitchFamily="34" charset="0"/>
                <a:ea typeface="IBM Plex Sans" pitchFamily="34" charset="-122"/>
                <a:cs typeface="IBM Plex Sans" pitchFamily="34" charset="-120"/>
              </a:rPr>
              <a:t>You need all the data, not a sample</a:t>
            </a:r>
            <a:endParaRPr lang="en-US" sz="1400" dirty="0"/>
          </a:p>
        </p:txBody>
      </p:sp>
      <p:sp>
        <p:nvSpPr>
          <p:cNvPr id="8" name="Shape 5"/>
          <p:cNvSpPr/>
          <p:nvPr/>
        </p:nvSpPr>
        <p:spPr>
          <a:xfrm>
            <a:off x="6213475" y="1938586"/>
            <a:ext cx="5162550" cy="2310110"/>
          </a:xfrm>
          <a:prstGeom prst="roundRect">
            <a:avLst>
              <a:gd name="adj" fmla="val 4261"/>
            </a:avLst>
          </a:prstGeom>
          <a:solidFill>
            <a:srgbClr val="FCFBF8"/>
          </a:solidFill>
          <a:ln w="6350">
            <a:solidFill>
              <a:srgbClr val="E2DED3"/>
            </a:solidFill>
            <a:prstDash val="solid"/>
          </a:ln>
        </p:spPr>
      </p:sp>
      <p:pic>
        <p:nvPicPr>
          <p:cNvPr id="9" name="Image 1" descr="Warning">    </p:cNvPr>
          <p:cNvPicPr>
            <a:picLocks noChangeAspect="1"/>
          </p:cNvPicPr>
          <p:nvPr/>
        </p:nvPicPr>
        <p:blipFill>
          <a:blip r:embed="rId2"/>
          <a:srcRect l="0" r="0" t="0" b="0"/>
          <a:stretch/>
        </p:blipFill>
        <p:spPr>
          <a:xfrm>
            <a:off x="6470650" y="2210991"/>
            <a:ext cx="304800" cy="304800"/>
          </a:xfrm>
          <a:prstGeom prst="rect">
            <a:avLst/>
          </a:prstGeom>
        </p:spPr>
      </p:pic>
      <p:sp>
        <p:nvSpPr>
          <p:cNvPr id="10" name="Text 6"/>
          <p:cNvSpPr/>
          <p:nvPr/>
        </p:nvSpPr>
        <p:spPr>
          <a:xfrm>
            <a:off x="6877050" y="2195761"/>
            <a:ext cx="179838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02E"/>
                </a:solidFill>
                <a:latin typeface="IBM Plex Sans" pitchFamily="34" charset="0"/>
                <a:ea typeface="IBM Plex Sans" pitchFamily="34" charset="-122"/>
                <a:cs typeface="IBM Plex Sans" pitchFamily="34" charset="-120"/>
              </a:rPr>
              <a:t>Think twice</a:t>
            </a:r>
            <a:endParaRPr lang="en-US" sz="2200" dirty="0"/>
          </a:p>
        </p:txBody>
      </p:sp>
      <p:sp>
        <p:nvSpPr>
          <p:cNvPr id="11" name="Text 7"/>
          <p:cNvSpPr/>
          <p:nvPr/>
        </p:nvSpPr>
        <p:spPr>
          <a:xfrm>
            <a:off x="6548882" y="2658021"/>
            <a:ext cx="4701794" cy="13589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3D4654"/>
                </a:solidFill>
                <a:latin typeface="IBM Plex Sans" pitchFamily="34" charset="0"/>
                <a:ea typeface="IBM Plex Sans" pitchFamily="34" charset="-122"/>
                <a:cs typeface="IBM Plex Sans" pitchFamily="34" charset="-120"/>
              </a:rPr>
              <a:t>Small data, under about 50,000 rows: Plotly or Altair is simpler</a:t>
            </a:r>
            <a:endParaRPr lang="en-US" sz="1400" dirty="0"/>
          </a:p>
          <a:p>
            <a:pPr algn="l" marL="175768" indent="-175768">
              <a:lnSpc>
                <a:spcPts val="2100"/>
              </a:lnSpc>
              <a:buSzPct val="100000"/>
              <a:buChar char="•"/>
            </a:pPr>
            <a:r>
              <a:rPr lang="en-US" sz="1400" dirty="0">
                <a:solidFill>
                  <a:srgbClr val="3D4654"/>
                </a:solidFill>
                <a:latin typeface="IBM Plex Sans" pitchFamily="34" charset="0"/>
                <a:ea typeface="IBM Plex Sans" pitchFamily="34" charset="-122"/>
                <a:cs typeface="IBM Plex Sans" pitchFamily="34" charset="-120"/>
              </a:rPr>
              <a:t>The web version needs internet to load its libraries</a:t>
            </a:r>
            <a:endParaRPr lang="en-US" sz="1400" dirty="0"/>
          </a:p>
          <a:p>
            <a:pPr algn="l" marL="175768" indent="-175768">
              <a:lnSpc>
                <a:spcPts val="2100"/>
              </a:lnSpc>
              <a:buSzPct val="100000"/>
              <a:buChar char="•"/>
            </a:pPr>
            <a:r>
              <a:rPr lang="en-US" sz="1400" dirty="0">
                <a:solidFill>
                  <a:srgbClr val="3D4654"/>
                </a:solidFill>
                <a:latin typeface="IBM Plex Sans" pitchFamily="34" charset="0"/>
                <a:ea typeface="IBM Plex Sans" pitchFamily="34" charset="-122"/>
                <a:cs typeface="IBM Plex Sans" pitchFamily="34" charset="-120"/>
              </a:rPr>
              <a:t>Young tools (version 0.x): features may change</a:t>
            </a:r>
            <a:endParaRPr lang="en-US" sz="1400" dirty="0"/>
          </a:p>
          <a:p>
            <a:pPr algn="l" marL="175768" indent="-175768">
              <a:lnSpc>
                <a:spcPts val="2100"/>
              </a:lnSpc>
              <a:buSzPct val="100000"/>
              <a:buChar char="•"/>
            </a:pPr>
            <a:r>
              <a:rPr lang="en-US" sz="1400" dirty="0">
                <a:solidFill>
                  <a:srgbClr val="3D4654"/>
                </a:solidFill>
                <a:latin typeface="IBM Plex Sans" pitchFamily="34" charset="0"/>
                <a:ea typeface="IBM Plex Sans" pitchFamily="34" charset="-122"/>
                <a:cs typeface="IBM Plex Sans" pitchFamily="34" charset="-120"/>
              </a:rPr>
              <a:t>Only works for calculations a database can do</a:t>
            </a:r>
            <a:endParaRPr lang="en-US" sz="1400" dirty="0"/>
          </a:p>
        </p:txBody>
      </p:sp>
      <p:sp>
        <p:nvSpPr>
          <p:cNvPr id="12" name="Text 8"/>
          <p:cNvSpPr/>
          <p:nvPr/>
        </p:nvSpPr>
        <p:spPr>
          <a:xfrm>
            <a:off x="812800" y="6238280"/>
            <a:ext cx="36300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Fast interactive charts for big data · CSE 578</a:t>
            </a:r>
            <a:endParaRPr lang="en-US" sz="1200" dirty="0"/>
          </a:p>
        </p:txBody>
      </p:sp>
      <p:sp>
        <p:nvSpPr>
          <p:cNvPr id="13" name="Text 9"/>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3B6FB6"/>
        </a:solidFill>
      </p:bgPr>
    </p:bg>
    <p:spTree>
      <p:nvGrpSpPr>
        <p:cNvPr id="1" name=""/>
        <p:cNvGrpSpPr/>
        <p:nvPr/>
      </p:nvGrpSpPr>
      <p:grpSpPr>
        <a:xfrm>
          <a:off x="0" y="0"/>
          <a:ext cx="0" cy="0"/>
          <a:chOff x="0" y="0"/>
          <a:chExt cx="0" cy="0"/>
        </a:xfrm>
      </p:grpSpPr>
      <p:sp>
        <p:nvSpPr>
          <p:cNvPr id="2" name="Text 0"/>
          <p:cNvSpPr/>
          <p:nvPr/>
        </p:nvSpPr>
        <p:spPr>
          <a:xfrm>
            <a:off x="812800" y="190505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6F4EE"/>
                </a:solidFill>
                <a:latin typeface="IBM Plex Sans" pitchFamily="34" charset="0"/>
                <a:ea typeface="IBM Plex Sans" pitchFamily="34" charset="-122"/>
                <a:cs typeface="IBM Plex Sans" pitchFamily="34" charset="-120"/>
              </a:rPr>
              <a:t>TAKEAWAY</a:t>
            </a:r>
            <a:endParaRPr lang="en-US" sz="1200" dirty="0"/>
          </a:p>
        </p:txBody>
      </p:sp>
      <p:sp>
        <p:nvSpPr>
          <p:cNvPr id="3" name="Text 1"/>
          <p:cNvSpPr/>
          <p:nvPr>
            <p:ph type="title"/>
          </p:nvPr>
        </p:nvSpPr>
        <p:spPr>
          <a:xfrm>
            <a:off x="812800" y="237237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spc="-100" kern="0" dirty="0">
                <a:solidFill>
                  <a:srgbClr val="F6F4EE"/>
                </a:solidFill>
                <a:latin typeface="IBM Plex Sans" pitchFamily="34" charset="0"/>
                <a:ea typeface="IBM Plex Sans" pitchFamily="34" charset="-122"/>
                <a:cs typeface="IBM Plex Sans" pitchFamily="34" charset="-120"/>
              </a:rPr>
              <a:t>Send the question,</a:t>
            </a:r>
            <a:endParaRPr lang="en-US" sz="6000" dirty="0"/>
          </a:p>
          <a:p>
            <a:pPr algn="l" indent="0" marL="0">
              <a:lnSpc>
                <a:spcPts val="6300"/>
              </a:lnSpc>
              <a:buNone/>
            </a:pPr>
            <a:r>
              <a:rPr lang="en-US" sz="6000" b="1" i="0" spc="-100" kern="0" dirty="0">
                <a:solidFill>
                  <a:srgbClr val="F6F4EE"/>
                </a:solidFill>
                <a:latin typeface="IBM Plex Sans" pitchFamily="34" charset="0"/>
                <a:ea typeface="IBM Plex Sans" pitchFamily="34" charset="-122"/>
                <a:cs typeface="IBM Plex Sans" pitchFamily="34" charset="-120"/>
              </a:rPr>
              <a:t>not the data.</a:t>
            </a:r>
            <a:endParaRPr lang="en-US" sz="6000" dirty="0"/>
          </a:p>
        </p:txBody>
      </p:sp>
      <p:sp>
        <p:nvSpPr>
          <p:cNvPr id="4" name="Text 2"/>
          <p:cNvSpPr/>
          <p:nvPr/>
        </p:nvSpPr>
        <p:spPr>
          <a:xfrm>
            <a:off x="812800" y="4226570"/>
            <a:ext cx="915670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6F4EE"/>
                </a:solidFill>
                <a:latin typeface="IBM Plex Sans" pitchFamily="34" charset="0"/>
                <a:ea typeface="IBM Plex Sans" pitchFamily="34" charset="-122"/>
                <a:cs typeface="IBM Plex Sans" pitchFamily="34" charset="-120"/>
              </a:rPr>
              <a:t>Charts ask questions. Selections become filters. Summaries keep every update fast.</a:t>
            </a:r>
            <a:endParaRPr lang="en-US"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6FB6"/>
                </a:solidFill>
                <a:latin typeface="IBM Plex Sans" pitchFamily="34" charset="0"/>
                <a:ea typeface="IBM Plex Sans" pitchFamily="34" charset="-122"/>
                <a:cs typeface="IBM Plex Sans" pitchFamily="34" charset="-120"/>
              </a:rPr>
              <a:t>WRAP-UP · CHEAT SHEET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202E"/>
                </a:solidFill>
                <a:latin typeface="IBM Plex Sans" pitchFamily="34" charset="0"/>
                <a:ea typeface="IBM Plex Sans" pitchFamily="34" charset="-122"/>
                <a:cs typeface="IBM Plex Sans" pitchFamily="34" charset="-120"/>
              </a:rPr>
              <a:t>Every term from today</a:t>
            </a:r>
            <a:endParaRPr lang="en-US" sz="3600" dirty="0"/>
          </a:p>
        </p:txBody>
      </p:sp>
      <p:sp>
        <p:nvSpPr>
          <p:cNvPr id="4" name="Shape 2"/>
          <p:cNvSpPr/>
          <p:nvPr/>
        </p:nvSpPr>
        <p:spPr>
          <a:xfrm>
            <a:off x="815975" y="1938586"/>
            <a:ext cx="2559050" cy="961281"/>
          </a:xfrm>
          <a:prstGeom prst="roundRect">
            <a:avLst>
              <a:gd name="adj" fmla="val 7597"/>
            </a:avLst>
          </a:prstGeom>
          <a:solidFill>
            <a:srgbClr val="FCFBF8"/>
          </a:solidFill>
          <a:ln w="6350">
            <a:solidFill>
              <a:srgbClr val="E2DED3"/>
            </a:solidFill>
            <a:prstDash val="solid"/>
          </a:ln>
        </p:spPr>
      </p:sp>
      <p:sp>
        <p:nvSpPr>
          <p:cNvPr id="5" name="Text 3"/>
          <p:cNvSpPr/>
          <p:nvPr/>
        </p:nvSpPr>
        <p:spPr>
          <a:xfrm>
            <a:off x="946150" y="2068761"/>
            <a:ext cx="236766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Dashboard</a:t>
            </a:r>
            <a:endParaRPr lang="en-US" sz="1400" dirty="0"/>
          </a:p>
        </p:txBody>
      </p:sp>
      <p:sp>
        <p:nvSpPr>
          <p:cNvPr id="6" name="Text 4"/>
          <p:cNvSpPr/>
          <p:nvPr/>
        </p:nvSpPr>
        <p:spPr>
          <a:xfrm>
            <a:off x="946150" y="2343051"/>
            <a:ext cx="23676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Several charts of one dataset on one screen.</a:t>
            </a:r>
            <a:endParaRPr lang="en-US" sz="1200" dirty="0"/>
          </a:p>
        </p:txBody>
      </p:sp>
      <p:sp>
        <p:nvSpPr>
          <p:cNvPr id="7" name="Shape 5"/>
          <p:cNvSpPr/>
          <p:nvPr/>
        </p:nvSpPr>
        <p:spPr>
          <a:xfrm>
            <a:off x="3482975" y="1938586"/>
            <a:ext cx="2559050" cy="961281"/>
          </a:xfrm>
          <a:prstGeom prst="roundRect">
            <a:avLst>
              <a:gd name="adj" fmla="val 7597"/>
            </a:avLst>
          </a:prstGeom>
          <a:solidFill>
            <a:srgbClr val="FCFBF8"/>
          </a:solidFill>
          <a:ln w="6350">
            <a:solidFill>
              <a:srgbClr val="E2DED3"/>
            </a:solidFill>
            <a:prstDash val="solid"/>
          </a:ln>
        </p:spPr>
      </p:sp>
      <p:sp>
        <p:nvSpPr>
          <p:cNvPr id="8" name="Text 6"/>
          <p:cNvSpPr/>
          <p:nvPr/>
        </p:nvSpPr>
        <p:spPr>
          <a:xfrm>
            <a:off x="3613150" y="2068761"/>
            <a:ext cx="236766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Brushing</a:t>
            </a:r>
            <a:endParaRPr lang="en-US" sz="1400" dirty="0"/>
          </a:p>
        </p:txBody>
      </p:sp>
      <p:sp>
        <p:nvSpPr>
          <p:cNvPr id="9" name="Text 7"/>
          <p:cNvSpPr/>
          <p:nvPr/>
        </p:nvSpPr>
        <p:spPr>
          <a:xfrm>
            <a:off x="3613150" y="2343051"/>
            <a:ext cx="23676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Selecting part of a chart by dragging the mouse.</a:t>
            </a:r>
            <a:endParaRPr lang="en-US" sz="1200" dirty="0"/>
          </a:p>
        </p:txBody>
      </p:sp>
      <p:sp>
        <p:nvSpPr>
          <p:cNvPr id="10" name="Shape 8"/>
          <p:cNvSpPr/>
          <p:nvPr/>
        </p:nvSpPr>
        <p:spPr>
          <a:xfrm>
            <a:off x="6149975" y="1938586"/>
            <a:ext cx="2559050" cy="961281"/>
          </a:xfrm>
          <a:prstGeom prst="roundRect">
            <a:avLst>
              <a:gd name="adj" fmla="val 7597"/>
            </a:avLst>
          </a:prstGeom>
          <a:solidFill>
            <a:srgbClr val="FCFBF8"/>
          </a:solidFill>
          <a:ln w="6350">
            <a:solidFill>
              <a:srgbClr val="E2DED3"/>
            </a:solidFill>
            <a:prstDash val="solid"/>
          </a:ln>
        </p:spPr>
      </p:sp>
      <p:sp>
        <p:nvSpPr>
          <p:cNvPr id="11" name="Text 9"/>
          <p:cNvSpPr/>
          <p:nvPr/>
        </p:nvSpPr>
        <p:spPr>
          <a:xfrm>
            <a:off x="6280150" y="2068761"/>
            <a:ext cx="236766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Linking</a:t>
            </a:r>
            <a:endParaRPr lang="en-US" sz="1400" dirty="0"/>
          </a:p>
        </p:txBody>
      </p:sp>
      <p:sp>
        <p:nvSpPr>
          <p:cNvPr id="12" name="Text 10"/>
          <p:cNvSpPr/>
          <p:nvPr/>
        </p:nvSpPr>
        <p:spPr>
          <a:xfrm>
            <a:off x="6280150" y="2343051"/>
            <a:ext cx="23676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Other charts update to show only the selection.</a:t>
            </a:r>
            <a:endParaRPr lang="en-US" sz="1200" dirty="0"/>
          </a:p>
        </p:txBody>
      </p:sp>
      <p:sp>
        <p:nvSpPr>
          <p:cNvPr id="13" name="Shape 11"/>
          <p:cNvSpPr/>
          <p:nvPr/>
        </p:nvSpPr>
        <p:spPr>
          <a:xfrm>
            <a:off x="8816975" y="1938586"/>
            <a:ext cx="2559050" cy="961281"/>
          </a:xfrm>
          <a:prstGeom prst="roundRect">
            <a:avLst>
              <a:gd name="adj" fmla="val 7597"/>
            </a:avLst>
          </a:prstGeom>
          <a:solidFill>
            <a:srgbClr val="FCFBF8"/>
          </a:solidFill>
          <a:ln w="6350">
            <a:solidFill>
              <a:srgbClr val="E2DED3"/>
            </a:solidFill>
            <a:prstDash val="solid"/>
          </a:ln>
        </p:spPr>
      </p:sp>
      <p:sp>
        <p:nvSpPr>
          <p:cNvPr id="14" name="Text 12"/>
          <p:cNvSpPr/>
          <p:nvPr/>
        </p:nvSpPr>
        <p:spPr>
          <a:xfrm>
            <a:off x="8947150" y="2068761"/>
            <a:ext cx="236766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Aggregation</a:t>
            </a:r>
            <a:endParaRPr lang="en-US" sz="1400" dirty="0"/>
          </a:p>
        </p:txBody>
      </p:sp>
      <p:sp>
        <p:nvSpPr>
          <p:cNvPr id="15" name="Text 13"/>
          <p:cNvSpPr/>
          <p:nvPr/>
        </p:nvSpPr>
        <p:spPr>
          <a:xfrm>
            <a:off x="8947150" y="2343051"/>
            <a:ext cx="23676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Summarizing many rows into a few numbers.</a:t>
            </a:r>
            <a:endParaRPr lang="en-US" sz="1200" dirty="0"/>
          </a:p>
        </p:txBody>
      </p:sp>
      <p:sp>
        <p:nvSpPr>
          <p:cNvPr id="16" name="Shape 14"/>
          <p:cNvSpPr/>
          <p:nvPr/>
        </p:nvSpPr>
        <p:spPr>
          <a:xfrm>
            <a:off x="815975" y="3007816"/>
            <a:ext cx="2559050" cy="961281"/>
          </a:xfrm>
          <a:prstGeom prst="roundRect">
            <a:avLst>
              <a:gd name="adj" fmla="val 7597"/>
            </a:avLst>
          </a:prstGeom>
          <a:solidFill>
            <a:srgbClr val="FCFBF8"/>
          </a:solidFill>
          <a:ln w="6350">
            <a:solidFill>
              <a:srgbClr val="E2DED3"/>
            </a:solidFill>
            <a:prstDash val="solid"/>
          </a:ln>
        </p:spPr>
      </p:sp>
      <p:sp>
        <p:nvSpPr>
          <p:cNvPr id="17" name="Text 15"/>
          <p:cNvSpPr/>
          <p:nvPr/>
        </p:nvSpPr>
        <p:spPr>
          <a:xfrm>
            <a:off x="946150" y="3137991"/>
            <a:ext cx="236766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Latency</a:t>
            </a:r>
            <a:endParaRPr lang="en-US" sz="1400" dirty="0"/>
          </a:p>
        </p:txBody>
      </p:sp>
      <p:sp>
        <p:nvSpPr>
          <p:cNvPr id="18" name="Text 16"/>
          <p:cNvSpPr/>
          <p:nvPr/>
        </p:nvSpPr>
        <p:spPr>
          <a:xfrm>
            <a:off x="946150" y="3412282"/>
            <a:ext cx="23676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The delay between your action and the update.</a:t>
            </a:r>
            <a:endParaRPr lang="en-US" sz="1200" dirty="0"/>
          </a:p>
        </p:txBody>
      </p:sp>
      <p:sp>
        <p:nvSpPr>
          <p:cNvPr id="19" name="Shape 17"/>
          <p:cNvSpPr/>
          <p:nvPr/>
        </p:nvSpPr>
        <p:spPr>
          <a:xfrm>
            <a:off x="3482975" y="3007816"/>
            <a:ext cx="2559050" cy="961281"/>
          </a:xfrm>
          <a:prstGeom prst="roundRect">
            <a:avLst>
              <a:gd name="adj" fmla="val 7597"/>
            </a:avLst>
          </a:prstGeom>
          <a:solidFill>
            <a:srgbClr val="FCFBF8"/>
          </a:solidFill>
          <a:ln w="6350">
            <a:solidFill>
              <a:srgbClr val="E2DED3"/>
            </a:solidFill>
            <a:prstDash val="solid"/>
          </a:ln>
        </p:spPr>
      </p:sp>
      <p:sp>
        <p:nvSpPr>
          <p:cNvPr id="20" name="Text 18"/>
          <p:cNvSpPr/>
          <p:nvPr/>
        </p:nvSpPr>
        <p:spPr>
          <a:xfrm>
            <a:off x="3613150" y="3137991"/>
            <a:ext cx="236766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Overplotting</a:t>
            </a:r>
            <a:endParaRPr lang="en-US" sz="1400" dirty="0"/>
          </a:p>
        </p:txBody>
      </p:sp>
      <p:sp>
        <p:nvSpPr>
          <p:cNvPr id="21" name="Text 19"/>
          <p:cNvSpPr/>
          <p:nvPr/>
        </p:nvSpPr>
        <p:spPr>
          <a:xfrm>
            <a:off x="3613150" y="3412282"/>
            <a:ext cx="23676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So many dots overlap that patterns disappear.</a:t>
            </a:r>
            <a:endParaRPr lang="en-US" sz="1200" dirty="0"/>
          </a:p>
        </p:txBody>
      </p:sp>
      <p:sp>
        <p:nvSpPr>
          <p:cNvPr id="22" name="Shape 20"/>
          <p:cNvSpPr/>
          <p:nvPr/>
        </p:nvSpPr>
        <p:spPr>
          <a:xfrm>
            <a:off x="6149975" y="3007816"/>
            <a:ext cx="2559050" cy="961281"/>
          </a:xfrm>
          <a:prstGeom prst="roundRect">
            <a:avLst>
              <a:gd name="adj" fmla="val 7597"/>
            </a:avLst>
          </a:prstGeom>
          <a:solidFill>
            <a:srgbClr val="FCFBF8"/>
          </a:solidFill>
          <a:ln w="6350">
            <a:solidFill>
              <a:srgbClr val="E2DED3"/>
            </a:solidFill>
            <a:prstDash val="solid"/>
          </a:ln>
        </p:spPr>
      </p:sp>
      <p:sp>
        <p:nvSpPr>
          <p:cNvPr id="23" name="Text 21"/>
          <p:cNvSpPr/>
          <p:nvPr/>
        </p:nvSpPr>
        <p:spPr>
          <a:xfrm>
            <a:off x="6280150" y="3137991"/>
            <a:ext cx="236766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Database</a:t>
            </a:r>
            <a:endParaRPr lang="en-US" sz="1400" dirty="0"/>
          </a:p>
        </p:txBody>
      </p:sp>
      <p:sp>
        <p:nvSpPr>
          <p:cNvPr id="24" name="Text 22"/>
          <p:cNvSpPr/>
          <p:nvPr/>
        </p:nvSpPr>
        <p:spPr>
          <a:xfrm>
            <a:off x="6280150" y="3412282"/>
            <a:ext cx="23676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Software that stores tables and answers questions.</a:t>
            </a:r>
            <a:endParaRPr lang="en-US" sz="1200" dirty="0"/>
          </a:p>
        </p:txBody>
      </p:sp>
      <p:sp>
        <p:nvSpPr>
          <p:cNvPr id="25" name="Shape 23"/>
          <p:cNvSpPr/>
          <p:nvPr/>
        </p:nvSpPr>
        <p:spPr>
          <a:xfrm>
            <a:off x="8816975" y="3007816"/>
            <a:ext cx="2559050" cy="961281"/>
          </a:xfrm>
          <a:prstGeom prst="roundRect">
            <a:avLst>
              <a:gd name="adj" fmla="val 7597"/>
            </a:avLst>
          </a:prstGeom>
          <a:solidFill>
            <a:srgbClr val="FCFBF8"/>
          </a:solidFill>
          <a:ln w="6350">
            <a:solidFill>
              <a:srgbClr val="E2DED3"/>
            </a:solidFill>
            <a:prstDash val="solid"/>
          </a:ln>
        </p:spPr>
      </p:sp>
      <p:sp>
        <p:nvSpPr>
          <p:cNvPr id="26" name="Text 24"/>
          <p:cNvSpPr/>
          <p:nvPr/>
        </p:nvSpPr>
        <p:spPr>
          <a:xfrm>
            <a:off x="8947150" y="3137991"/>
            <a:ext cx="236766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SQL, query</a:t>
            </a:r>
            <a:endParaRPr lang="en-US" sz="1400" dirty="0"/>
          </a:p>
        </p:txBody>
      </p:sp>
      <p:sp>
        <p:nvSpPr>
          <p:cNvPr id="27" name="Text 25"/>
          <p:cNvSpPr/>
          <p:nvPr/>
        </p:nvSpPr>
        <p:spPr>
          <a:xfrm>
            <a:off x="8947150" y="3412282"/>
            <a:ext cx="23676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The language for database questions; one question.</a:t>
            </a:r>
            <a:endParaRPr lang="en-US" sz="1200" dirty="0"/>
          </a:p>
        </p:txBody>
      </p:sp>
      <p:sp>
        <p:nvSpPr>
          <p:cNvPr id="28" name="Shape 26"/>
          <p:cNvSpPr/>
          <p:nvPr/>
        </p:nvSpPr>
        <p:spPr>
          <a:xfrm>
            <a:off x="815975" y="4077047"/>
            <a:ext cx="2559050" cy="961281"/>
          </a:xfrm>
          <a:prstGeom prst="roundRect">
            <a:avLst>
              <a:gd name="adj" fmla="val 7597"/>
            </a:avLst>
          </a:prstGeom>
          <a:solidFill>
            <a:srgbClr val="FCFBF8"/>
          </a:solidFill>
          <a:ln w="6350">
            <a:solidFill>
              <a:srgbClr val="E2DED3"/>
            </a:solidFill>
            <a:prstDash val="solid"/>
          </a:ln>
        </p:spPr>
      </p:sp>
      <p:sp>
        <p:nvSpPr>
          <p:cNvPr id="29" name="Text 27"/>
          <p:cNvSpPr/>
          <p:nvPr/>
        </p:nvSpPr>
        <p:spPr>
          <a:xfrm>
            <a:off x="946150" y="4207222"/>
            <a:ext cx="236766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Crossfilter</a:t>
            </a:r>
            <a:endParaRPr lang="en-US" sz="1400" dirty="0"/>
          </a:p>
        </p:txBody>
      </p:sp>
      <p:sp>
        <p:nvSpPr>
          <p:cNvPr id="30" name="Text 28"/>
          <p:cNvSpPr/>
          <p:nvPr/>
        </p:nvSpPr>
        <p:spPr>
          <a:xfrm>
            <a:off x="946150" y="4481513"/>
            <a:ext cx="23676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Each chart is filtered by the others' selections.</a:t>
            </a:r>
            <a:endParaRPr lang="en-US" sz="1200" dirty="0"/>
          </a:p>
        </p:txBody>
      </p:sp>
      <p:sp>
        <p:nvSpPr>
          <p:cNvPr id="31" name="Shape 29"/>
          <p:cNvSpPr/>
          <p:nvPr/>
        </p:nvSpPr>
        <p:spPr>
          <a:xfrm>
            <a:off x="3482975" y="4077047"/>
            <a:ext cx="2559050" cy="961281"/>
          </a:xfrm>
          <a:prstGeom prst="roundRect">
            <a:avLst>
              <a:gd name="adj" fmla="val 7597"/>
            </a:avLst>
          </a:prstGeom>
          <a:solidFill>
            <a:srgbClr val="FCFBF8"/>
          </a:solidFill>
          <a:ln w="6350">
            <a:solidFill>
              <a:srgbClr val="E2DED3"/>
            </a:solidFill>
            <a:prstDash val="solid"/>
          </a:ln>
        </p:spPr>
      </p:sp>
      <p:sp>
        <p:nvSpPr>
          <p:cNvPr id="32" name="Text 30"/>
          <p:cNvSpPr/>
          <p:nvPr/>
        </p:nvSpPr>
        <p:spPr>
          <a:xfrm>
            <a:off x="3613150" y="4207222"/>
            <a:ext cx="236766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Pre-aggregation</a:t>
            </a:r>
            <a:endParaRPr lang="en-US" sz="1400" dirty="0"/>
          </a:p>
        </p:txBody>
      </p:sp>
      <p:sp>
        <p:nvSpPr>
          <p:cNvPr id="33" name="Text 31"/>
          <p:cNvSpPr/>
          <p:nvPr/>
        </p:nvSpPr>
        <p:spPr>
          <a:xfrm>
            <a:off x="3613150" y="4481513"/>
            <a:ext cx="23676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Summary tables built early so updates are fast.</a:t>
            </a:r>
            <a:endParaRPr lang="en-US" sz="1200" dirty="0"/>
          </a:p>
        </p:txBody>
      </p:sp>
      <p:sp>
        <p:nvSpPr>
          <p:cNvPr id="34" name="Shape 32"/>
          <p:cNvSpPr/>
          <p:nvPr/>
        </p:nvSpPr>
        <p:spPr>
          <a:xfrm>
            <a:off x="6149975" y="4077047"/>
            <a:ext cx="2559050" cy="961281"/>
          </a:xfrm>
          <a:prstGeom prst="roundRect">
            <a:avLst>
              <a:gd name="adj" fmla="val 7597"/>
            </a:avLst>
          </a:prstGeom>
          <a:solidFill>
            <a:srgbClr val="FCFBF8"/>
          </a:solidFill>
          <a:ln w="6350">
            <a:solidFill>
              <a:srgbClr val="E2DED3"/>
            </a:solidFill>
            <a:prstDash val="solid"/>
          </a:ln>
        </p:spPr>
      </p:sp>
      <p:sp>
        <p:nvSpPr>
          <p:cNvPr id="35" name="Text 33"/>
          <p:cNvSpPr/>
          <p:nvPr/>
        </p:nvSpPr>
        <p:spPr>
          <a:xfrm>
            <a:off x="6280150" y="4207222"/>
            <a:ext cx="236766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Embedding</a:t>
            </a:r>
            <a:endParaRPr lang="en-US" sz="1400" dirty="0"/>
          </a:p>
        </p:txBody>
      </p:sp>
      <p:sp>
        <p:nvSpPr>
          <p:cNvPr id="36" name="Text 34"/>
          <p:cNvSpPr/>
          <p:nvPr/>
        </p:nvSpPr>
        <p:spPr>
          <a:xfrm>
            <a:off x="6280150" y="4481513"/>
            <a:ext cx="23676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A list of numbers that describes a text.</a:t>
            </a:r>
            <a:endParaRPr lang="en-US" sz="1200" dirty="0"/>
          </a:p>
        </p:txBody>
      </p:sp>
      <p:sp>
        <p:nvSpPr>
          <p:cNvPr id="37" name="Shape 35"/>
          <p:cNvSpPr/>
          <p:nvPr/>
        </p:nvSpPr>
        <p:spPr>
          <a:xfrm>
            <a:off x="8816975" y="4077047"/>
            <a:ext cx="2559050" cy="961281"/>
          </a:xfrm>
          <a:prstGeom prst="roundRect">
            <a:avLst>
              <a:gd name="adj" fmla="val 7597"/>
            </a:avLst>
          </a:prstGeom>
          <a:solidFill>
            <a:srgbClr val="FCFBF8"/>
          </a:solidFill>
          <a:ln w="6350">
            <a:solidFill>
              <a:srgbClr val="E2DED3"/>
            </a:solidFill>
            <a:prstDash val="solid"/>
          </a:ln>
        </p:spPr>
      </p:sp>
      <p:sp>
        <p:nvSpPr>
          <p:cNvPr id="38" name="Text 36"/>
          <p:cNvSpPr/>
          <p:nvPr/>
        </p:nvSpPr>
        <p:spPr>
          <a:xfrm>
            <a:off x="8947150" y="4207222"/>
            <a:ext cx="236766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UMAP</a:t>
            </a:r>
            <a:endParaRPr lang="en-US" sz="1400" dirty="0"/>
          </a:p>
        </p:txBody>
      </p:sp>
      <p:sp>
        <p:nvSpPr>
          <p:cNvPr id="39" name="Text 37"/>
          <p:cNvSpPr/>
          <p:nvPr/>
        </p:nvSpPr>
        <p:spPr>
          <a:xfrm>
            <a:off x="8947150" y="4481513"/>
            <a:ext cx="23676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Squeezes many numbers into an x, y map position.</a:t>
            </a:r>
            <a:endParaRPr lang="en-US" sz="1200" dirty="0"/>
          </a:p>
        </p:txBody>
      </p:sp>
      <p:sp>
        <p:nvSpPr>
          <p:cNvPr id="40" name="Text 38"/>
          <p:cNvSpPr/>
          <p:nvPr/>
        </p:nvSpPr>
        <p:spPr>
          <a:xfrm>
            <a:off x="812800" y="6238280"/>
            <a:ext cx="36300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Fast interactive charts for big data · CSE 578</a:t>
            </a:r>
            <a:endParaRPr lang="en-US" sz="1200" dirty="0"/>
          </a:p>
        </p:txBody>
      </p:sp>
      <p:sp>
        <p:nvSpPr>
          <p:cNvPr id="41" name="Text 39"/>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6FB6"/>
                </a:solidFill>
                <a:latin typeface="IBM Plex Sans" pitchFamily="34" charset="0"/>
                <a:ea typeface="IBM Plex Sans" pitchFamily="34" charset="-122"/>
                <a:cs typeface="IBM Plex Sans" pitchFamily="34" charset="-120"/>
              </a:rPr>
              <a:t>REFERENCES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202E"/>
                </a:solidFill>
                <a:latin typeface="IBM Plex Sans" pitchFamily="34" charset="0"/>
                <a:ea typeface="IBM Plex Sans" pitchFamily="34" charset="-122"/>
                <a:cs typeface="IBM Plex Sans" pitchFamily="34" charset="-120"/>
              </a:rPr>
              <a:t>Read more, run the code</a:t>
            </a:r>
            <a:endParaRPr lang="en-US" sz="3600" dirty="0"/>
          </a:p>
        </p:txBody>
      </p:sp>
      <p:sp>
        <p:nvSpPr>
          <p:cNvPr id="4" name="Text 2"/>
          <p:cNvSpPr/>
          <p:nvPr/>
        </p:nvSpPr>
        <p:spPr>
          <a:xfrm>
            <a:off x="812800" y="1935411"/>
            <a:ext cx="640969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J. Heer, D. Moritz. </a:t>
            </a:r>
            <a:r>
              <a:rPr lang="en-US" sz="1400" i="1" dirty="0">
                <a:solidFill>
                  <a:srgbClr val="3D4654"/>
                </a:solidFill>
                <a:latin typeface="IBM Plex Sans" pitchFamily="34" charset="0"/>
                <a:ea typeface="IBM Plex Sans" pitchFamily="34" charset="-122"/>
                <a:cs typeface="IBM Plex Sans" pitchFamily="34" charset="-120"/>
              </a:rPr>
              <a:t>Mosaic: An Architecture for Scalable &amp; Interoperable Data Views.</a:t>
            </a:r>
            <a:r>
              <a:rPr lang="en-US" sz="1400" dirty="0">
                <a:solidFill>
                  <a:srgbClr val="3D4654"/>
                </a:solidFill>
                <a:latin typeface="IBM Plex Sans" pitchFamily="34" charset="0"/>
                <a:ea typeface="IBM Plex Sans" pitchFamily="34" charset="-122"/>
                <a:cs typeface="IBM Plex Sans" pitchFamily="34" charset="-120"/>
              </a:rPr>
              <a:t> IEEE TVCG 30(1), 2024. </a:t>
            </a:r>
            <a:r>
              <a:rPr lang="en-US" sz="1400" u="sng" dirty="0">
                <a:solidFill>
                  <a:srgbClr val="3D4654"/>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idl.uw.edu/mosaic</a:t>
            </a:r>
            <a:endParaRPr lang="en-US" sz="1400" dirty="0"/>
          </a:p>
        </p:txBody>
      </p:sp>
      <p:sp>
        <p:nvSpPr>
          <p:cNvPr id="5" name="Text 3"/>
          <p:cNvSpPr/>
          <p:nvPr/>
        </p:nvSpPr>
        <p:spPr>
          <a:xfrm>
            <a:off x="812800" y="2585591"/>
            <a:ext cx="6409690"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D. Ren, F. Hohman, H. Lin, D. Moritz. </a:t>
            </a:r>
            <a:r>
              <a:rPr lang="en-US" sz="1400" i="1" dirty="0">
                <a:solidFill>
                  <a:srgbClr val="3D4654"/>
                </a:solidFill>
                <a:latin typeface="IBM Plex Sans" pitchFamily="34" charset="0"/>
                <a:ea typeface="IBM Plex Sans" pitchFamily="34" charset="-122"/>
                <a:cs typeface="IBM Plex Sans" pitchFamily="34" charset="-120"/>
              </a:rPr>
              <a:t>Embedding Atlas: Low-Friction, Interactive Embedding Visualization.</a:t>
            </a:r>
            <a:r>
              <a:rPr lang="en-US" sz="1400" dirty="0">
                <a:solidFill>
                  <a:srgbClr val="3D4654"/>
                </a:solidFill>
                <a:latin typeface="IBM Plex Sans" pitchFamily="34" charset="0"/>
                <a:ea typeface="IBM Plex Sans" pitchFamily="34" charset="-122"/>
                <a:cs typeface="IBM Plex Sans" pitchFamily="34" charset="-120"/>
              </a:rPr>
              <a:t> arXiv:2505.06386, 2025. </a:t>
            </a:r>
            <a:r>
              <a:rPr lang="en-US" sz="1400" u="sng" dirty="0">
                <a:solidFill>
                  <a:srgbClr val="3D4654"/>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github.com/apple/embedding-atlas</a:t>
            </a:r>
            <a:endParaRPr lang="en-US" sz="1400" dirty="0"/>
          </a:p>
        </p:txBody>
      </p:sp>
      <p:sp>
        <p:nvSpPr>
          <p:cNvPr id="6" name="Text 4"/>
          <p:cNvSpPr/>
          <p:nvPr/>
        </p:nvSpPr>
        <p:spPr>
          <a:xfrm>
            <a:off x="812800" y="3484662"/>
            <a:ext cx="640969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Z. Liu, J. Heer. </a:t>
            </a:r>
            <a:r>
              <a:rPr lang="en-US" sz="1400" i="1" dirty="0">
                <a:solidFill>
                  <a:srgbClr val="3D4654"/>
                </a:solidFill>
                <a:latin typeface="IBM Plex Sans" pitchFamily="34" charset="0"/>
                <a:ea typeface="IBM Plex Sans" pitchFamily="34" charset="-122"/>
                <a:cs typeface="IBM Plex Sans" pitchFamily="34" charset="-120"/>
              </a:rPr>
              <a:t>The Effects of Interactive Latency on Exploratory Visual Analysis.</a:t>
            </a:r>
            <a:r>
              <a:rPr lang="en-US" sz="1400" dirty="0">
                <a:solidFill>
                  <a:srgbClr val="3D4654"/>
                </a:solidFill>
                <a:latin typeface="IBM Plex Sans" pitchFamily="34" charset="0"/>
                <a:ea typeface="IBM Plex Sans" pitchFamily="34" charset="-122"/>
                <a:cs typeface="IBM Plex Sans" pitchFamily="34" charset="-120"/>
              </a:rPr>
              <a:t> IEEE TVCG (InfoVis), 2014. </a:t>
            </a:r>
            <a:r>
              <a:rPr lang="en-US" sz="1400" u="sng" dirty="0">
                <a:solidFill>
                  <a:srgbClr val="3D4654"/>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idl.uw.edu/papers/latency</a:t>
            </a:r>
            <a:endParaRPr lang="en-US" sz="1400" dirty="0"/>
          </a:p>
        </p:txBody>
      </p:sp>
      <p:sp>
        <p:nvSpPr>
          <p:cNvPr id="7" name="Text 5"/>
          <p:cNvSpPr/>
          <p:nvPr/>
        </p:nvSpPr>
        <p:spPr>
          <a:xfrm>
            <a:off x="812800" y="4134842"/>
            <a:ext cx="640969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vgplot Python API and the Mosaic Jupyter widget. </a:t>
            </a:r>
            <a:r>
              <a:rPr lang="en-US" sz="1400" u="sng" dirty="0">
                <a:solidFill>
                  <a:srgbClr val="3D4654"/>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pypi.org/project/vgplot</a:t>
            </a:r>
            <a:r>
              <a:rPr lang="en-US" sz="1400" dirty="0">
                <a:solidFill>
                  <a:srgbClr val="3D4654"/>
                </a:solidFill>
                <a:latin typeface="IBM Plex Sans" pitchFamily="34" charset="0"/>
                <a:ea typeface="IBM Plex Sans" pitchFamily="34" charset="-122"/>
                <a:cs typeface="IBM Plex Sans" pitchFamily="34" charset="-120"/>
              </a:rPr>
              <a:t> · </a:t>
            </a:r>
            <a:r>
              <a:rPr lang="en-US" sz="1400" u="sng" dirty="0">
                <a:solidFill>
                  <a:srgbClr val="3D4654"/>
                </a:solidFill>
                <a:latin typeface="IBM Plex Sans" pitchFamily="34" charset="0"/>
                <a:ea typeface="IBM Plex Sans" pitchFamily="34" charset="-122"/>
                <a:cs typeface="IBM Plex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idl.uw.edu/mosaic/jupyter</a:t>
            </a:r>
            <a:endParaRPr lang="en-US" sz="1400" dirty="0"/>
          </a:p>
        </p:txBody>
      </p:sp>
      <p:sp>
        <p:nvSpPr>
          <p:cNvPr id="8" name="Text 6"/>
          <p:cNvSpPr/>
          <p:nvPr/>
        </p:nvSpPr>
        <p:spPr>
          <a:xfrm>
            <a:off x="812800" y="4785023"/>
            <a:ext cx="640969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Olist Brazilian e-commerce dataset. </a:t>
            </a:r>
            <a:r>
              <a:rPr lang="en-US" sz="1400" u="sng" dirty="0">
                <a:solidFill>
                  <a:srgbClr val="3D4654"/>
                </a:solidFill>
                <a:latin typeface="IBM Plex Sans" pitchFamily="34" charset="0"/>
                <a:ea typeface="IBM Plex Sans" pitchFamily="34" charset="-122"/>
                <a:cs typeface="IBM Plex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kaggle.com/datasets/olistbr/brazilian-ecommerce</a:t>
            </a:r>
            <a:endParaRPr lang="en-US" sz="1400" dirty="0"/>
          </a:p>
        </p:txBody>
      </p:sp>
      <p:sp>
        <p:nvSpPr>
          <p:cNvPr id="9" name="Shape 7"/>
          <p:cNvSpPr/>
          <p:nvPr/>
        </p:nvSpPr>
        <p:spPr>
          <a:xfrm>
            <a:off x="7343775" y="1938586"/>
            <a:ext cx="4032250" cy="3434953"/>
          </a:xfrm>
          <a:prstGeom prst="roundRect">
            <a:avLst>
              <a:gd name="adj" fmla="val 2126"/>
            </a:avLst>
          </a:prstGeom>
          <a:solidFill>
            <a:srgbClr val="FCFBF8"/>
          </a:solidFill>
          <a:ln w="6350">
            <a:solidFill>
              <a:srgbClr val="E2DED3"/>
            </a:solidFill>
            <a:prstDash val="solid"/>
          </a:ln>
        </p:spPr>
      </p:sp>
      <p:sp>
        <p:nvSpPr>
          <p:cNvPr id="10" name="Text 8"/>
          <p:cNvSpPr/>
          <p:nvPr/>
        </p:nvSpPr>
        <p:spPr>
          <a:xfrm>
            <a:off x="7550150" y="2144961"/>
            <a:ext cx="372808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202E"/>
                </a:solidFill>
                <a:latin typeface="IBM Plex Sans" pitchFamily="34" charset="0"/>
                <a:ea typeface="IBM Plex Sans" pitchFamily="34" charset="-122"/>
                <a:cs typeface="IBM Plex Sans" pitchFamily="34" charset="-120"/>
              </a:rPr>
              <a:t>In the code package</a:t>
            </a:r>
            <a:endParaRPr lang="en-US" sz="1600" dirty="0"/>
          </a:p>
        </p:txBody>
      </p:sp>
      <p:sp>
        <p:nvSpPr>
          <p:cNvPr id="11" name="Text 9"/>
          <p:cNvSpPr/>
          <p:nvPr/>
        </p:nvSpPr>
        <p:spPr>
          <a:xfrm>
            <a:off x="7550150" y="2500561"/>
            <a:ext cx="37280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6FB6"/>
                </a:solidFill>
                <a:latin typeface="JetBrains Mono" pitchFamily="49" charset="0"/>
                <a:ea typeface="JetBrains Mono" pitchFamily="49" charset="-122"/>
                <a:cs typeface="JetBrains Mono" pitchFamily="49" charset="-120"/>
              </a:rPr>
              <a:t>generate_synthetic_olist.py</a:t>
            </a:r>
            <a:endParaRPr lang="en-US" sz="1200" dirty="0"/>
          </a:p>
        </p:txBody>
      </p:sp>
      <p:sp>
        <p:nvSpPr>
          <p:cNvPr id="12" name="Text 10"/>
          <p:cNvSpPr/>
          <p:nvPr/>
        </p:nvSpPr>
        <p:spPr>
          <a:xfrm>
            <a:off x="7550150" y="2739281"/>
            <a:ext cx="37280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Olist-format data at any size</a:t>
            </a:r>
            <a:endParaRPr lang="en-US" sz="1200" dirty="0"/>
          </a:p>
        </p:txBody>
      </p:sp>
      <p:sp>
        <p:nvSpPr>
          <p:cNvPr id="13" name="Text 11"/>
          <p:cNvSpPr/>
          <p:nvPr/>
        </p:nvSpPr>
        <p:spPr>
          <a:xfrm>
            <a:off x="7550150" y="3054201"/>
            <a:ext cx="37280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6FB6"/>
                </a:solidFill>
                <a:latin typeface="JetBrains Mono" pitchFamily="49" charset="0"/>
                <a:ea typeface="JetBrains Mono" pitchFamily="49" charset="-122"/>
                <a:cs typeface="JetBrains Mono" pitchFamily="49" charset="-120"/>
              </a:rPr>
              <a:t>prepare_data.py</a:t>
            </a:r>
            <a:endParaRPr lang="en-US" sz="1200" dirty="0"/>
          </a:p>
        </p:txBody>
      </p:sp>
      <p:sp>
        <p:nvSpPr>
          <p:cNvPr id="14" name="Text 12"/>
          <p:cNvSpPr/>
          <p:nvPr/>
        </p:nvSpPr>
        <p:spPr>
          <a:xfrm>
            <a:off x="7550150" y="3292921"/>
            <a:ext cx="37280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Joins the tables with DuckDB</a:t>
            </a:r>
            <a:endParaRPr lang="en-US" sz="1200" dirty="0"/>
          </a:p>
        </p:txBody>
      </p:sp>
      <p:sp>
        <p:nvSpPr>
          <p:cNvPr id="15" name="Text 13"/>
          <p:cNvSpPr/>
          <p:nvPr/>
        </p:nvSpPr>
        <p:spPr>
          <a:xfrm>
            <a:off x="7550150" y="3607842"/>
            <a:ext cx="37280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6FB6"/>
                </a:solidFill>
                <a:latin typeface="JetBrains Mono" pitchFamily="49" charset="0"/>
                <a:ea typeface="JetBrains Mono" pitchFamily="49" charset="-122"/>
                <a:cs typeface="JetBrains Mono" pitchFamily="49" charset="-120"/>
              </a:rPr>
              <a:t>dashboard.py</a:t>
            </a:r>
            <a:endParaRPr lang="en-US" sz="1200" dirty="0"/>
          </a:p>
        </p:txBody>
      </p:sp>
      <p:sp>
        <p:nvSpPr>
          <p:cNvPr id="16" name="Text 14"/>
          <p:cNvSpPr/>
          <p:nvPr/>
        </p:nvSpPr>
        <p:spPr>
          <a:xfrm>
            <a:off x="7550150" y="3846562"/>
            <a:ext cx="37280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The five-chart dashboard (demo 1)</a:t>
            </a:r>
            <a:endParaRPr lang="en-US" sz="1200" dirty="0"/>
          </a:p>
        </p:txBody>
      </p:sp>
      <p:sp>
        <p:nvSpPr>
          <p:cNvPr id="17" name="Text 15"/>
          <p:cNvSpPr/>
          <p:nvPr/>
        </p:nvSpPr>
        <p:spPr>
          <a:xfrm>
            <a:off x="7550150" y="4161482"/>
            <a:ext cx="37280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6FB6"/>
                </a:solidFill>
                <a:latin typeface="JetBrains Mono" pitchFamily="49" charset="0"/>
                <a:ea typeface="JetBrains Mono" pitchFamily="49" charset="-122"/>
                <a:cs typeface="JetBrains Mono" pitchFamily="49" charset="-120"/>
              </a:rPr>
              <a:t>web/index.html</a:t>
            </a:r>
            <a:endParaRPr lang="en-US" sz="1200" dirty="0"/>
          </a:p>
        </p:txBody>
      </p:sp>
      <p:sp>
        <p:nvSpPr>
          <p:cNvPr id="18" name="Text 16"/>
          <p:cNvSpPr/>
          <p:nvPr/>
        </p:nvSpPr>
        <p:spPr>
          <a:xfrm>
            <a:off x="7550150" y="4400203"/>
            <a:ext cx="37280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Runs it in a browser, with a SQL log</a:t>
            </a:r>
            <a:endParaRPr lang="en-US" sz="1200" dirty="0"/>
          </a:p>
        </p:txBody>
      </p:sp>
      <p:sp>
        <p:nvSpPr>
          <p:cNvPr id="19" name="Text 17"/>
          <p:cNvSpPr/>
          <p:nvPr/>
        </p:nvSpPr>
        <p:spPr>
          <a:xfrm>
            <a:off x="7550150" y="4715123"/>
            <a:ext cx="37280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6FB6"/>
                </a:solidFill>
                <a:latin typeface="JetBrains Mono" pitchFamily="49" charset="0"/>
                <a:ea typeface="JetBrains Mono" pitchFamily="49" charset="-122"/>
                <a:cs typeface="JetBrains Mono" pitchFamily="49" charset="-120"/>
              </a:rPr>
              <a:t>reviews_atlas.py</a:t>
            </a:r>
            <a:endParaRPr lang="en-US" sz="1200" dirty="0"/>
          </a:p>
        </p:txBody>
      </p:sp>
      <p:sp>
        <p:nvSpPr>
          <p:cNvPr id="20" name="Text 18"/>
          <p:cNvSpPr/>
          <p:nvPr/>
        </p:nvSpPr>
        <p:spPr>
          <a:xfrm>
            <a:off x="7550150" y="4953843"/>
            <a:ext cx="37280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4"/>
                </a:solidFill>
                <a:latin typeface="IBM Plex Sans" pitchFamily="34" charset="0"/>
                <a:ea typeface="IBM Plex Sans" pitchFamily="34" charset="-122"/>
                <a:cs typeface="IBM Plex Sans" pitchFamily="34" charset="-120"/>
              </a:rPr>
              <a:t>The review map (demo 2)</a:t>
            </a:r>
            <a:endParaRPr lang="en-US" sz="1200" dirty="0"/>
          </a:p>
        </p:txBody>
      </p:sp>
      <p:sp>
        <p:nvSpPr>
          <p:cNvPr id="21" name="Text 19"/>
          <p:cNvSpPr/>
          <p:nvPr/>
        </p:nvSpPr>
        <p:spPr>
          <a:xfrm>
            <a:off x="812800" y="6238280"/>
            <a:ext cx="36300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Fast interactive charts for big data · CSE 578</a:t>
            </a:r>
            <a:endParaRPr lang="en-US" sz="1200" dirty="0"/>
          </a:p>
        </p:txBody>
      </p:sp>
      <p:sp>
        <p:nvSpPr>
          <p:cNvPr id="22" name="Text 20"/>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6FB6"/>
                </a:solidFill>
                <a:latin typeface="IBM Plex Sans" pitchFamily="34" charset="0"/>
                <a:ea typeface="IBM Plex Sans" pitchFamily="34" charset="-122"/>
                <a:cs typeface="IBM Plex Sans" pitchFamily="34" charset="-120"/>
              </a:rPr>
              <a:t>APPENDIX · FOR QUESTIONS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202E"/>
                </a:solidFill>
                <a:latin typeface="IBM Plex Sans" pitchFamily="34" charset="0"/>
                <a:ea typeface="IBM Plex Sans" pitchFamily="34" charset="-122"/>
                <a:cs typeface="IBM Plex Sans" pitchFamily="34" charset="-120"/>
              </a:rPr>
              <a:t>The dashboard is ~70 lines of Python</a:t>
            </a:r>
            <a:endParaRPr lang="en-US" sz="3600" dirty="0"/>
          </a:p>
        </p:txBody>
      </p:sp>
      <p:sp>
        <p:nvSpPr>
          <p:cNvPr id="4" name="Shape 2"/>
          <p:cNvSpPr/>
          <p:nvPr/>
        </p:nvSpPr>
        <p:spPr>
          <a:xfrm>
            <a:off x="812800" y="1935411"/>
            <a:ext cx="6096000" cy="3124101"/>
          </a:xfrm>
          <a:prstGeom prst="roundRect">
            <a:avLst>
              <a:gd name="adj" fmla="val 3252"/>
            </a:avLst>
          </a:prstGeom>
          <a:solidFill>
            <a:srgbClr val="14202E"/>
          </a:solidFill>
          <a:ln/>
        </p:spPr>
      </p:sp>
      <p:sp>
        <p:nvSpPr>
          <p:cNvPr id="5" name="Text 3"/>
          <p:cNvSpPr/>
          <p:nvPr/>
        </p:nvSpPr>
        <p:spPr>
          <a:xfrm>
            <a:off x="1066800" y="2189411"/>
            <a:ext cx="57556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2E3"/>
                </a:solidFill>
                <a:latin typeface="IBM Plex Sans" pitchFamily="34" charset="0"/>
                <a:ea typeface="IBM Plex Sans" pitchFamily="34" charset="-122"/>
                <a:cs typeface="IBM Plex Sans" pitchFamily="34" charset="-120"/>
              </a:rPr>
              <a:t>DASHBOARD.PY · EXCERPT, SIMPLIFIED</a:t>
            </a:r>
            <a:endParaRPr lang="en-US" sz="1200" dirty="0"/>
          </a:p>
        </p:txBody>
      </p:sp>
      <p:sp>
        <p:nvSpPr>
          <p:cNvPr id="6" name="Text 4"/>
          <p:cNvSpPr/>
          <p:nvPr/>
        </p:nvSpPr>
        <p:spPr>
          <a:xfrm>
            <a:off x="1066800" y="2529731"/>
            <a:ext cx="5755640" cy="22542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orders = vg.parquet(</a:t>
            </a:r>
            <a:r>
              <a:rPr lang="en-US" sz="1300" dirty="0">
                <a:solidFill>
                  <a:srgbClr val="E8C08A"/>
                </a:solidFill>
                <a:latin typeface="JetBrains Mono" pitchFamily="49" charset="0"/>
                <a:ea typeface="JetBrains Mono" pitchFamily="49" charset="-122"/>
                <a:cs typeface="JetBrains Mono" pitchFamily="49" charset="-120"/>
              </a:rPr>
              <a:t>"orders.parquet"</a:t>
            </a:r>
            <a:r>
              <a:rPr lang="en-US" sz="1300" dirty="0">
                <a:solidFill>
                  <a:srgbClr val="E6EDF5"/>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brush = vg.selection.crossfilter()</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vg.plot(</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vg.raster(orders, x=</a:t>
            </a:r>
            <a:r>
              <a:rPr lang="en-US" sz="1300" dirty="0">
                <a:solidFill>
                  <a:srgbClr val="E8C08A"/>
                </a:solidFill>
                <a:latin typeface="JetBrains Mono" pitchFamily="49" charset="0"/>
                <a:ea typeface="JetBrains Mono" pitchFamily="49" charset="-122"/>
                <a:cs typeface="JetBrains Mono" pitchFamily="49" charset="-120"/>
              </a:rPr>
              <a:t>"price"</a:t>
            </a:r>
            <a:r>
              <a:rPr lang="en-US" sz="1300" dirty="0">
                <a:solidFill>
                  <a:srgbClr val="E6EDF5"/>
                </a:solidFill>
                <a:latin typeface="JetBrains Mono" pitchFamily="49" charset="0"/>
                <a:ea typeface="JetBrains Mono" pitchFamily="49" charset="-122"/>
                <a:cs typeface="JetBrains Mono" pitchFamily="49" charset="-120"/>
              </a:rPr>
              <a:t>, y=</a:t>
            </a:r>
            <a:r>
              <a:rPr lang="en-US" sz="1300" dirty="0">
                <a:solidFill>
                  <a:srgbClr val="E8C08A"/>
                </a:solidFill>
                <a:latin typeface="JetBrains Mono" pitchFamily="49" charset="0"/>
                <a:ea typeface="JetBrains Mono" pitchFamily="49" charset="-122"/>
                <a:cs typeface="JetBrains Mono" pitchFamily="49" charset="-120"/>
              </a:rPr>
              <a:t>"freight_value"</a:t>
            </a:r>
            <a:r>
              <a:rPr lang="en-US" sz="1300" dirty="0">
                <a:solidFill>
                  <a:srgbClr val="E6EDF5"/>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fill=</a:t>
            </a:r>
            <a:r>
              <a:rPr lang="en-US" sz="1300" dirty="0">
                <a:solidFill>
                  <a:srgbClr val="E8C08A"/>
                </a:solidFill>
                <a:latin typeface="JetBrains Mono" pitchFamily="49" charset="0"/>
                <a:ea typeface="JetBrains Mono" pitchFamily="49" charset="-122"/>
                <a:cs typeface="JetBrains Mono" pitchFamily="49" charset="-120"/>
              </a:rPr>
              <a:t>"density"</a:t>
            </a:r>
            <a:r>
              <a:rPr lang="en-US" sz="1300" dirty="0">
                <a:solidFill>
                  <a:srgbClr val="E6EDF5"/>
                </a:solidFill>
                <a:latin typeface="JetBrains Mono" pitchFamily="49" charset="0"/>
                <a:ea typeface="JetBrains Mono" pitchFamily="49" charset="-122"/>
                <a:cs typeface="JetBrains Mono" pitchFamily="49" charset="-120"/>
              </a:rPr>
              <a:t>, filter_by=brush),</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vg.interval_xy(bind=brush),</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vg.x_domain([0, 600]), vg.y_domain([0, 80]),</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a:t>
            </a:r>
            <a:endParaRPr lang="en-US" sz="1300" dirty="0"/>
          </a:p>
        </p:txBody>
      </p:sp>
      <p:sp>
        <p:nvSpPr>
          <p:cNvPr id="7" name="Shape 5"/>
          <p:cNvSpPr/>
          <p:nvPr/>
        </p:nvSpPr>
        <p:spPr>
          <a:xfrm>
            <a:off x="7115175" y="1938586"/>
            <a:ext cx="4260850" cy="1718270"/>
          </a:xfrm>
          <a:prstGeom prst="roundRect">
            <a:avLst>
              <a:gd name="adj" fmla="val 4250"/>
            </a:avLst>
          </a:prstGeom>
          <a:solidFill>
            <a:srgbClr val="FCFBF8"/>
          </a:solidFill>
          <a:ln w="6350">
            <a:solidFill>
              <a:srgbClr val="E2DED3"/>
            </a:solidFill>
            <a:prstDash val="solid"/>
          </a:ln>
        </p:spPr>
      </p:sp>
      <p:sp>
        <p:nvSpPr>
          <p:cNvPr id="8" name="Text 6"/>
          <p:cNvSpPr/>
          <p:nvPr/>
        </p:nvSpPr>
        <p:spPr>
          <a:xfrm>
            <a:off x="7321550" y="2144961"/>
            <a:ext cx="3963543"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202E"/>
                </a:solidFill>
                <a:latin typeface="IBM Plex Sans" pitchFamily="34" charset="0"/>
                <a:ea typeface="IBM Plex Sans" pitchFamily="34" charset="-122"/>
                <a:cs typeface="IBM Plex Sans" pitchFamily="34" charset="-120"/>
              </a:rPr>
              <a:t>Run it</a:t>
            </a:r>
            <a:endParaRPr lang="en-US" sz="1600" dirty="0"/>
          </a:p>
        </p:txBody>
      </p:sp>
      <p:sp>
        <p:nvSpPr>
          <p:cNvPr id="9" name="Text 7"/>
          <p:cNvSpPr/>
          <p:nvPr/>
        </p:nvSpPr>
        <p:spPr>
          <a:xfrm>
            <a:off x="7321550" y="2475161"/>
            <a:ext cx="3963543" cy="100072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14202E"/>
                </a:solidFill>
                <a:latin typeface="JetBrains Mono" pitchFamily="49" charset="0"/>
                <a:ea typeface="JetBrains Mono" pitchFamily="49" charset="-122"/>
                <a:cs typeface="JetBrains Mono" pitchFamily="49" charset="-120"/>
              </a:rPr>
              <a:t>python generate_synthetic_olist.py</a:t>
            </a:r>
            <a:endParaRPr lang="en-US" sz="1200" dirty="0"/>
          </a:p>
          <a:p>
            <a:pPr algn="l" indent="0" marL="0">
              <a:lnSpc>
                <a:spcPts val="1920"/>
              </a:lnSpc>
              <a:buNone/>
            </a:pPr>
            <a:r>
              <a:rPr lang="en-US" sz="1200" dirty="0">
                <a:solidFill>
                  <a:srgbClr val="14202E"/>
                </a:solidFill>
                <a:latin typeface="JetBrains Mono" pitchFamily="49" charset="0"/>
                <a:ea typeface="JetBrains Mono" pitchFamily="49" charset="-122"/>
                <a:cs typeface="JetBrains Mono" pitchFamily="49" charset="-120"/>
              </a:rPr>
              <a:t>python prepare_data.py</a:t>
            </a:r>
            <a:endParaRPr lang="en-US" sz="1200" dirty="0"/>
          </a:p>
          <a:p>
            <a:pPr algn="l" indent="0" marL="0">
              <a:lnSpc>
                <a:spcPts val="1920"/>
              </a:lnSpc>
              <a:buNone/>
            </a:pPr>
            <a:r>
              <a:rPr lang="en-US" sz="1200" dirty="0">
                <a:solidFill>
                  <a:srgbClr val="14202E"/>
                </a:solidFill>
                <a:latin typeface="JetBrains Mono" pitchFamily="49" charset="0"/>
                <a:ea typeface="JetBrains Mono" pitchFamily="49" charset="-122"/>
                <a:cs typeface="JetBrains Mono" pitchFamily="49" charset="-120"/>
              </a:rPr>
              <a:t>python dashboard.py</a:t>
            </a:r>
            <a:endParaRPr lang="en-US" sz="1200" dirty="0"/>
          </a:p>
          <a:p>
            <a:pPr algn="l" indent="0" marL="0">
              <a:lnSpc>
                <a:spcPts val="1920"/>
              </a:lnSpc>
              <a:buNone/>
            </a:pPr>
            <a:r>
              <a:rPr lang="en-US" sz="1200" dirty="0">
                <a:solidFill>
                  <a:srgbClr val="14202E"/>
                </a:solidFill>
                <a:latin typeface="JetBrains Mono" pitchFamily="49" charset="0"/>
                <a:ea typeface="JetBrains Mono" pitchFamily="49" charset="-122"/>
                <a:cs typeface="JetBrains Mono" pitchFamily="49" charset="-120"/>
              </a:rPr>
              <a:t>cd web &amp;&amp; python -m http.server</a:t>
            </a:r>
            <a:endParaRPr lang="en-US" sz="1200" dirty="0"/>
          </a:p>
        </p:txBody>
      </p:sp>
      <p:sp>
        <p:nvSpPr>
          <p:cNvPr id="10" name="Shape 8"/>
          <p:cNvSpPr/>
          <p:nvPr/>
        </p:nvSpPr>
        <p:spPr>
          <a:xfrm>
            <a:off x="7115175" y="3815606"/>
            <a:ext cx="4260850" cy="1240730"/>
          </a:xfrm>
          <a:prstGeom prst="roundRect">
            <a:avLst>
              <a:gd name="adj" fmla="val 5886"/>
            </a:avLst>
          </a:prstGeom>
          <a:solidFill>
            <a:srgbClr val="FCFBF8"/>
          </a:solidFill>
          <a:ln w="6350">
            <a:solidFill>
              <a:srgbClr val="E2DED3"/>
            </a:solidFill>
            <a:prstDash val="solid"/>
          </a:ln>
        </p:spPr>
      </p:sp>
      <p:sp>
        <p:nvSpPr>
          <p:cNvPr id="11" name="Text 9"/>
          <p:cNvSpPr/>
          <p:nvPr/>
        </p:nvSpPr>
        <p:spPr>
          <a:xfrm>
            <a:off x="7321550" y="4021981"/>
            <a:ext cx="3963543"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202E"/>
                </a:solidFill>
                <a:latin typeface="IBM Plex Sans" pitchFamily="34" charset="0"/>
                <a:ea typeface="IBM Plex Sans" pitchFamily="34" charset="-122"/>
                <a:cs typeface="IBM Plex Sans" pitchFamily="34" charset="-120"/>
              </a:rPr>
              <a:t>Or in Jupyter</a:t>
            </a:r>
            <a:endParaRPr lang="en-US" sz="1600" dirty="0"/>
          </a:p>
        </p:txBody>
      </p:sp>
      <p:sp>
        <p:nvSpPr>
          <p:cNvPr id="12" name="Text 10"/>
          <p:cNvSpPr/>
          <p:nvPr/>
        </p:nvSpPr>
        <p:spPr>
          <a:xfrm>
            <a:off x="7321550" y="4352181"/>
            <a:ext cx="396354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4"/>
                </a:solidFill>
                <a:latin typeface="IBM Plex Sans" pitchFamily="34" charset="0"/>
                <a:ea typeface="IBM Plex Sans" pitchFamily="34" charset="-122"/>
                <a:cs typeface="IBM Plex Sans" pitchFamily="34" charset="-120"/>
              </a:rPr>
              <a:t>The same view renders through mosaic-widget, with DuckDB in the Python kernel.</a:t>
            </a:r>
            <a:endParaRPr lang="en-US" sz="1400" dirty="0"/>
          </a:p>
        </p:txBody>
      </p:sp>
      <p:sp>
        <p:nvSpPr>
          <p:cNvPr id="13" name="Text 11"/>
          <p:cNvSpPr/>
          <p:nvPr/>
        </p:nvSpPr>
        <p:spPr>
          <a:xfrm>
            <a:off x="812800" y="6238280"/>
            <a:ext cx="36300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Fast interactive charts for big data · CSE 578</a:t>
            </a:r>
            <a:endParaRPr lang="en-US" sz="1200" dirty="0"/>
          </a:p>
        </p:txBody>
      </p:sp>
      <p:sp>
        <p:nvSpPr>
          <p:cNvPr id="14" name="Text 12"/>
          <p:cNvSpPr/>
          <p:nvPr/>
        </p:nvSpPr>
        <p:spPr>
          <a:xfrm>
            <a:off x="11139239" y="6238280"/>
            <a:ext cx="23996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A1</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9144000" y="812800"/>
            <a:ext cx="2235200" cy="5029200"/>
          </a:xfrm>
          <a:prstGeom prst="roundRect">
            <a:avLst>
              <a:gd name="adj" fmla="val 3409"/>
            </a:avLst>
          </a:prstGeom>
          <a:solidFill>
            <a:srgbClr val="FCFBF8"/>
          </a:solidFill>
          <a:ln/>
        </p:spPr>
      </p:sp>
      <p:pic>
        <p:nvPicPr>
          <p:cNvPr id="3" name="Image 0" descr="Live SQL log from the demo page: summary-table builds tagged pre-agg, followed by fast reads tagged cube, each with its time and size">    </p:cNvPr>
          <p:cNvPicPr>
            <a:picLocks noChangeAspect="1"/>
          </p:cNvPicPr>
          <p:nvPr/>
        </p:nvPicPr>
        <p:blipFill>
          <a:blip r:embed="rId1"/>
          <a:stretch>
            <a:fillRect/>
          </a:stretch>
        </p:blipFill>
        <p:spPr>
          <a:xfrm>
            <a:off x="9150350" y="1150777"/>
            <a:ext cx="2222500" cy="4353245"/>
          </a:xfrm>
          <a:prstGeom prst="rect">
            <a:avLst/>
          </a:prstGeom>
        </p:spPr>
      </p:pic>
      <p:sp>
        <p:nvSpPr>
          <p:cNvPr id="4" name="Shape 1"/>
          <p:cNvSpPr/>
          <p:nvPr/>
        </p:nvSpPr>
        <p:spPr>
          <a:xfrm>
            <a:off x="9147175" y="815975"/>
            <a:ext cx="2228850" cy="5022850"/>
          </a:xfrm>
          <a:prstGeom prst="roundRect">
            <a:avLst>
              <a:gd name="adj" fmla="val 3276"/>
            </a:avLst>
          </a:prstGeom>
          <a:noFill/>
          <a:ln w="6350">
            <a:solidFill>
              <a:srgbClr val="E2DED3"/>
            </a:solidFill>
            <a:prstDash val="solid"/>
          </a:ln>
        </p:spPr>
      </p:sp>
      <p:sp>
        <p:nvSpPr>
          <p:cNvPr id="5" name="Text 2"/>
          <p:cNvSpPr/>
          <p:nvPr/>
        </p:nvSpPr>
        <p:spPr>
          <a:xfrm>
            <a:off x="812800" y="812800"/>
            <a:ext cx="816254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6FB6"/>
                </a:solidFill>
                <a:latin typeface="IBM Plex Sans" pitchFamily="34" charset="0"/>
                <a:ea typeface="IBM Plex Sans" pitchFamily="34" charset="-122"/>
                <a:cs typeface="IBM Plex Sans" pitchFamily="34" charset="-120"/>
              </a:rPr>
              <a:t>APPENDIX · FOR QUESTIONS</a:t>
            </a:r>
            <a:endParaRPr lang="en-US" sz="1200" dirty="0"/>
          </a:p>
        </p:txBody>
      </p:sp>
      <p:sp>
        <p:nvSpPr>
          <p:cNvPr id="6" name="Text 3"/>
          <p:cNvSpPr/>
          <p:nvPr>
            <p:ph type="title"/>
          </p:nvPr>
        </p:nvSpPr>
        <p:spPr>
          <a:xfrm>
            <a:off x="812800" y="1127720"/>
            <a:ext cx="8162544"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202E"/>
                </a:solidFill>
                <a:latin typeface="IBM Plex Sans" pitchFamily="34" charset="0"/>
                <a:ea typeface="IBM Plex Sans" pitchFamily="34" charset="-122"/>
                <a:cs typeface="IBM Plex Sans" pitchFamily="34" charset="-120"/>
              </a:rPr>
              <a:t>The real SQL behind demo 1</a:t>
            </a:r>
            <a:endParaRPr lang="en-US" sz="3600" dirty="0"/>
          </a:p>
        </p:txBody>
      </p:sp>
      <p:sp>
        <p:nvSpPr>
          <p:cNvPr id="7" name="Text 4"/>
          <p:cNvSpPr/>
          <p:nvPr/>
        </p:nvSpPr>
        <p:spPr>
          <a:xfrm>
            <a:off x="812800" y="1935411"/>
            <a:ext cx="816254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E"/>
                </a:solidFill>
                <a:latin typeface="IBM Plex Sans" pitchFamily="34" charset="0"/>
                <a:ea typeface="IBM Plex Sans" pitchFamily="34" charset="-122"/>
                <a:cs typeface="IBM Plex Sans" pitchFamily="34" charset="-120"/>
              </a:rPr>
              <a:t>Filters my three selections produced</a:t>
            </a:r>
            <a:endParaRPr lang="en-US" sz="1400" dirty="0"/>
          </a:p>
        </p:txBody>
      </p:sp>
      <p:sp>
        <p:nvSpPr>
          <p:cNvPr id="8" name="Text 5"/>
          <p:cNvSpPr/>
          <p:nvPr/>
        </p:nvSpPr>
        <p:spPr>
          <a:xfrm>
            <a:off x="812800" y="2293541"/>
            <a:ext cx="8162544"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3B6FB6"/>
                </a:solidFill>
                <a:latin typeface="JetBrains Mono" pitchFamily="49" charset="0"/>
                <a:ea typeface="JetBrains Mono" pitchFamily="49" charset="-122"/>
                <a:cs typeface="JetBrains Mono" pitchFamily="49" charset="-120"/>
              </a:rPr>
              <a:t>purchase_week BETWEEN epoch_ms(…) AND epoch_ms(…)</a:t>
            </a:r>
            <a:endParaRPr lang="en-US" sz="1200" dirty="0"/>
          </a:p>
          <a:p>
            <a:pPr algn="l" indent="0" marL="0">
              <a:lnSpc>
                <a:spcPts val="1800"/>
              </a:lnSpc>
              <a:buNone/>
            </a:pPr>
            <a:r>
              <a:rPr lang="en-US" sz="1200" dirty="0">
                <a:solidFill>
                  <a:srgbClr val="3B6FB6"/>
                </a:solidFill>
                <a:latin typeface="JetBrains Mono" pitchFamily="49" charset="0"/>
                <a:ea typeface="JetBrains Mono" pitchFamily="49" charset="-122"/>
                <a:cs typeface="JetBrains Mono" pitchFamily="49" charset="-120"/>
              </a:rPr>
              <a:t>review_score IN (1)</a:t>
            </a:r>
            <a:endParaRPr lang="en-US" sz="1200" dirty="0"/>
          </a:p>
          <a:p>
            <a:pPr algn="l" indent="0" marL="0">
              <a:lnSpc>
                <a:spcPts val="1800"/>
              </a:lnSpc>
              <a:buNone/>
            </a:pPr>
            <a:r>
              <a:rPr lang="en-US" sz="1200" dirty="0">
                <a:solidFill>
                  <a:srgbClr val="3B6FB6"/>
                </a:solidFill>
                <a:latin typeface="JetBrains Mono" pitchFamily="49" charset="0"/>
                <a:ea typeface="JetBrains Mono" pitchFamily="49" charset="-122"/>
                <a:cs typeface="JetBrains Mono" pitchFamily="49" charset="-120"/>
              </a:rPr>
              <a:t>customer_state IN ('RJ')</a:t>
            </a:r>
            <a:endParaRPr lang="en-US" sz="1200" dirty="0"/>
          </a:p>
        </p:txBody>
      </p:sp>
      <p:sp>
        <p:nvSpPr>
          <p:cNvPr id="9" name="Text 6"/>
          <p:cNvSpPr/>
          <p:nvPr/>
        </p:nvSpPr>
        <p:spPr>
          <a:xfrm>
            <a:off x="812800" y="3106341"/>
            <a:ext cx="816254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E"/>
                </a:solidFill>
                <a:latin typeface="IBM Plex Sans" pitchFamily="34" charset="0"/>
                <a:ea typeface="IBM Plex Sans" pitchFamily="34" charset="-122"/>
                <a:cs typeface="IBM Plex Sans" pitchFamily="34" charset="-120"/>
              </a:rPr>
              <a:t>Tags in the log (right)</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5500" y="3477171"/>
          <a:ext cx="7912100" cy="1437283"/>
        </p:xfrm>
        <a:graphic>
          <a:graphicData uri="http://schemas.openxmlformats.org/drawingml/2006/table">
            <a:tbl>
              <a:tblPr/>
              <a:tblGrid>
                <a:gridCol w="1740662"/>
                <a:gridCol w="6171438"/>
              </a:tblGrid>
              <a:tr h="359321">
                <a:tc>
                  <a:txBody>
                    <a:bodyPr/>
                    <a:lstStyle/>
                    <a:p>
                      <a:pPr indent="0" marL="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Tag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Meaning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r>
              <a:tr h="359321">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arrow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A normal question over all rows (step 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59321">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pre-agg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Building a summary table on the first drag (step 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59321">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cube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820"/>
                        </a:lnSpc>
                        <a:buNone/>
                      </a:pPr>
                      <a:r>
                        <a:rPr lang="en-US" sz="1300" dirty="0">
                          <a:solidFill>
                            <a:srgbClr val="14202E"/>
                          </a:solidFill>
                          <a:latin typeface="IBM Plex Sans" pitchFamily="34" charset="0"/>
                          <a:ea typeface="IBM Plex Sans" pitchFamily="34" charset="-122"/>
                          <a:cs typeface="IBM Plex Sans" pitchFamily="34" charset="-120"/>
                        </a:rPr>
                        <a:t>A fast read from a summary table (step 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bl>
          </a:graphicData>
        </a:graphic>
      </p:graphicFrame>
      <p:sp>
        <p:nvSpPr>
          <p:cNvPr id="11" name="Text 7"/>
          <p:cNvSpPr/>
          <p:nvPr/>
        </p:nvSpPr>
        <p:spPr>
          <a:xfrm>
            <a:off x="812800" y="6238280"/>
            <a:ext cx="36300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Fast interactive charts for big data · CSE 578</a:t>
            </a:r>
            <a:endParaRPr lang="en-US" sz="1200" dirty="0"/>
          </a:p>
        </p:txBody>
      </p:sp>
      <p:sp>
        <p:nvSpPr>
          <p:cNvPr id="12" name="Text 8"/>
          <p:cNvSpPr/>
          <p:nvPr/>
        </p:nvSpPr>
        <p:spPr>
          <a:xfrm>
            <a:off x="8497639" y="6238280"/>
            <a:ext cx="23996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3"/>
                </a:solidFill>
                <a:latin typeface="IBM Plex Sans" pitchFamily="34" charset="0"/>
                <a:ea typeface="IBM Plex Sans" pitchFamily="34" charset="-122"/>
                <a:cs typeface="IBM Plex Sans" pitchFamily="34" charset="-120"/>
              </a:rPr>
              <a:t>A2</a:t>
            </a:r>
            <a:endParaRPr lang="en-US" sz="1200" dirty="0"/>
          </a:p>
        </p:txBody>
      </p:sp>
    </p:spTree>
  </p:cSld>
  <p:clrMapOvr>
    <a:masterClrMapping/>
  </p:clrMapOvr>
</p:sld>
</file>

<file path=ppt/theme/theme1.xml><?xml version="1.0" encoding="utf-8"?>
<a:theme xmlns:a="http://schemas.openxmlformats.org/drawingml/2006/main" name="Query-Driven Visualization">
  <a:themeElements>
    <a:clrScheme name="Query-Driven Visualization">
      <a:dk1>
        <a:srgbClr val="14202E"/>
      </a:dk1>
      <a:lt1>
        <a:srgbClr val="F6F4EE"/>
      </a:lt1>
      <a:dk2>
        <a:srgbClr val="4D555E"/>
      </a:dk2>
      <a:lt2>
        <a:srgbClr val="DFDFDB"/>
      </a:lt2>
      <a:accent1>
        <a:srgbClr val="3B6FB6"/>
      </a:accent1>
      <a:accent2>
        <a:srgbClr val="8FB2E3"/>
      </a:accent2>
      <a:accent3>
        <a:srgbClr val="C4423B"/>
      </a:accent3>
      <a:accent4>
        <a:srgbClr val="3D4654"/>
      </a:accent4>
      <a:accent5>
        <a:srgbClr val="5E6673"/>
      </a:accent5>
      <a:accent6>
        <a:srgbClr val="C9D3E0"/>
      </a:accent6>
      <a:hlink>
        <a:srgbClr val="0563C1"/>
      </a:hlink>
      <a:folHlink>
        <a:srgbClr val="954F72"/>
      </a:folHlink>
    </a:clrScheme>
    <a:fontScheme name="Query-Driven Visualizat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Query-Driven Visualization</dc:title>
  <dc:subject/>
  <dc:creator/>
  <cp:lastModifiedBy/>
  <cp:revision>1</cp:revision>
  <dcterms:created xsi:type="dcterms:W3CDTF">2026-10-11T17:00:12Z</dcterms:created>
  <dcterms:modified xsi:type="dcterms:W3CDTF">2026-10-11T17:00:12Z</dcterms:modified>
</cp:coreProperties>
</file>